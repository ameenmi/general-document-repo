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Bid context: The task order states that the program supports DORA Critical Impact Functions and CFTC Rule 23.603 Swap Dealer Business Continuity Plan requirements, enabled by a unified BCM platform, governed operational dependency data, testing, evidence and reporting.
[Sources]
- Internal bid source: TCS_Proposal_Fixed_Fee_Resilience_Program_2027.pptx and Fixed_Fee_Resilience_Program_2027.docx (Microsoft 365 search, accessed 8 October 2026).
- DORA: European Insurance and Occupational Pensions Authority, “Digital Operational Resilience Act (DORA)”, https://www.eiopa.europa.eu/digital-operational-resilience-act-dora_en
- DORA articles: European Banking Authority, “Digital operational resilience Regulation (DORA)”, https://eba.europa.eu/regulation-and-policy/single-rulebook/interactive-single-rulebook/17716
- CFTC: Electronic Code of Federal Regulations, 17 CFR § 23.603, “Business continuity and disaster recovery”, https://www.ecfr.gov/current/title-17/chapter-I/part-23/subpart-J/section-23.603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bid term set: Fixed_Fee_Resilience_Program_2027.docx (Microsoft 365 search, accessed 8 October 2026).
- ISO 22301:2019 overview: https://www.iso.org/standard/75106.html
- NIST RTO glossary: https://csrc.nist.gov/glossary/term/RTO
- NIST SP 800-34 Rev. 1: https://nvlpubs.nist.gov/nistpubs/Legacy/SP/nistspecialpublication800-34r1.pdf
- FCA Operational Resilience: https://www.fca.org.uk/firms/operational-resilience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bid reference: Fixed_Fee_Resilience_Program_2027.docx (Microsoft 365 search, accessed 8 October 2026).
- EIOPA DORA overview: https://www.eiopa.europa.eu/digital-operational-resilience-act-dora_en
- EBA DORA regulation structure: https://eba.europa.eu/regulation-and-policy/single-rulebook/interactive-single-rulebook/17716
- eCFR 17 CFR 23.603: https://www.ecfr.gov/current/title-17/chapter-I/part-23/subpart-J/section-23.603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2C91"/>
          </a:solidFill>
          <a:ln w="12700">
            <a:solidFill>
              <a:srgbClr val="6F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65288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TCS - Morgan Stanley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28816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2027 Firm Resilience Program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2C91"/>
          </a:solidFill>
          <a:ln w="12700">
            <a:solidFill>
              <a:srgbClr val="6F2C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653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TCS - Morgan Stanley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565392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2027 Firm Resilience Program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235250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Regulatory Compliance Support | DORA &amp; CFTC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73"/>
                </a:solidFill>
              </a:rPr>
              <a:t>A governed resilience platform converts regulatory obligations into traceable plans, tests, evidence and management reporting.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3429000" cy="4407408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536192"/>
            <a:ext cx="658368" cy="658368"/>
          </a:xfrm>
          <a:prstGeom prst="roundRect">
            <a:avLst>
              <a:gd name="adj" fmla="val 8333"/>
            </a:avLst>
          </a:prstGeom>
          <a:solidFill>
            <a:srgbClr val="6F2C91"/>
          </a:solidFill>
          <a:ln w="12700">
            <a:solidFill>
              <a:srgbClr val="6F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2104" y="172821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EU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17904" y="15179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8324A"/>
                </a:solidFill>
              </a:rPr>
              <a:t>DORA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517904" y="184708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</a:rPr>
              <a:t>Digital Operational Resilience Act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2404872"/>
            <a:ext cx="2926080" cy="1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68096" y="2615184"/>
            <a:ext cx="109728" cy="109728"/>
          </a:xfrm>
          <a:prstGeom prst="ellipse">
            <a:avLst/>
          </a:prstGeom>
          <a:solidFill>
            <a:srgbClr val="6F2C91"/>
          </a:solidFill>
          <a:ln w="12700">
            <a:solidFill>
              <a:srgbClr val="6F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2587752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F2937"/>
                </a:solidFill>
              </a:rPr>
              <a:t>ICT risk management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960120" y="2807208"/>
            <a:ext cx="2606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</a:rPr>
              <a:t>Governance, identification, protection, detection, response and recovery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68096" y="3364992"/>
            <a:ext cx="109728" cy="109728"/>
          </a:xfrm>
          <a:prstGeom prst="ellipse">
            <a:avLst/>
          </a:prstGeom>
          <a:solidFill>
            <a:srgbClr val="6F2C91"/>
          </a:solidFill>
          <a:ln w="12700">
            <a:solidFill>
              <a:srgbClr val="6F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3337560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F2937"/>
                </a:solidFill>
              </a:rPr>
              <a:t>Incident management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960120" y="3557016"/>
            <a:ext cx="2606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</a:rPr>
              <a:t>Classification, escalation and reporting of major ICT incidents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8096" y="4114800"/>
            <a:ext cx="109728" cy="109728"/>
          </a:xfrm>
          <a:prstGeom prst="ellipse">
            <a:avLst/>
          </a:prstGeom>
          <a:solidFill>
            <a:srgbClr val="6F2C91"/>
          </a:solidFill>
          <a:ln w="12700">
            <a:solidFill>
              <a:srgbClr val="6F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" y="4087368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F2937"/>
                </a:solidFill>
              </a:rPr>
              <a:t>Resilience testing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960120" y="4306824"/>
            <a:ext cx="2606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</a:rPr>
              <a:t>Scenario, vulnerability and advanced threat-led testing evidence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8096" y="4864608"/>
            <a:ext cx="109728" cy="109728"/>
          </a:xfrm>
          <a:prstGeom prst="ellipse">
            <a:avLst/>
          </a:prstGeom>
          <a:solidFill>
            <a:srgbClr val="6F2C91"/>
          </a:solidFill>
          <a:ln w="12700">
            <a:solidFill>
              <a:srgbClr val="6F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0120" y="4837176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F2937"/>
                </a:solidFill>
              </a:rPr>
              <a:t>Third-party ICT risk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960120" y="5056632"/>
            <a:ext cx="2606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</a:rPr>
              <a:t>Provider oversight, contractual controls and dependency visibility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51960" y="1298448"/>
            <a:ext cx="3685032" cy="4407408"/>
          </a:xfrm>
          <a:prstGeom prst="roundRect">
            <a:avLst>
              <a:gd name="adj" fmla="val 1985"/>
            </a:avLst>
          </a:prstGeom>
          <a:solidFill>
            <a:srgbClr val="172A3A"/>
          </a:solidFill>
          <a:ln w="12700">
            <a:solidFill>
              <a:srgbClr val="172A3A"/>
            </a:solidFill>
            <a:prstDash val="solid"/>
          </a:ln>
          <a:effectLst>
            <a:outerShdw blurRad="2286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17720" y="1591056"/>
            <a:ext cx="29535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TARGET-STATE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RESILIENCE PLATFORM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709160" y="2322576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9DCE0"/>
                </a:solidFill>
              </a:rPr>
              <a:t>Single governed system of record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45152" y="2743200"/>
            <a:ext cx="274320" cy="274320"/>
          </a:xfrm>
          <a:prstGeom prst="ellipse">
            <a:avLst/>
          </a:prstGeom>
          <a:solidFill>
            <a:srgbClr val="007C83"/>
          </a:solidFill>
          <a:ln w="12700">
            <a:solidFill>
              <a:srgbClr val="007C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45152" y="279349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56632" y="273405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FFFFFF"/>
                </a:solidFill>
              </a:rPr>
              <a:t>Governed data &amp; dependency mapping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4645152" y="3264408"/>
            <a:ext cx="274320" cy="274320"/>
          </a:xfrm>
          <a:prstGeom prst="ellipse">
            <a:avLst/>
          </a:prstGeom>
          <a:solidFill>
            <a:srgbClr val="007C83"/>
          </a:solidFill>
          <a:ln w="12700">
            <a:solidFill>
              <a:srgbClr val="007C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45152" y="331470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56632" y="32552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FFFFFF"/>
                </a:solidFill>
              </a:rPr>
              <a:t>BIA / BC plan workflows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4645152" y="3785616"/>
            <a:ext cx="274320" cy="274320"/>
          </a:xfrm>
          <a:prstGeom prst="ellipse">
            <a:avLst/>
          </a:prstGeom>
          <a:solidFill>
            <a:srgbClr val="007C83"/>
          </a:solidFill>
          <a:ln w="12700">
            <a:solidFill>
              <a:srgbClr val="007C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45152" y="3835908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56632" y="37764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FFFFFF"/>
                </a:solidFill>
              </a:rPr>
              <a:t>Test, exercise &amp; scenario repository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4645152" y="4306824"/>
            <a:ext cx="274320" cy="274320"/>
          </a:xfrm>
          <a:prstGeom prst="ellipse">
            <a:avLst/>
          </a:prstGeom>
          <a:solidFill>
            <a:srgbClr val="007C83"/>
          </a:solidFill>
          <a:ln w="12700">
            <a:solidFill>
              <a:srgbClr val="007C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45152" y="4357116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56632" y="4297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FFFFFF"/>
                </a:solidFill>
              </a:rPr>
              <a:t>Evidence, issues &amp; remediation tracking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4645152" y="4828032"/>
            <a:ext cx="274320" cy="274320"/>
          </a:xfrm>
          <a:prstGeom prst="ellipse">
            <a:avLst/>
          </a:prstGeom>
          <a:solidFill>
            <a:srgbClr val="007C83"/>
          </a:solidFill>
          <a:ln w="12700">
            <a:solidFill>
              <a:srgbClr val="007C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645152" y="4878324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56632" y="48188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FFFFFF"/>
                </a:solidFill>
              </a:rPr>
              <a:t>Dashboards, reporting &amp; audit trail</a:t>
            </a:r>
            <a:endParaRPr lang="en-US" sz="1030" dirty="0"/>
          </a:p>
        </p:txBody>
      </p:sp>
      <p:sp>
        <p:nvSpPr>
          <p:cNvPr id="40" name="Shape 38"/>
          <p:cNvSpPr/>
          <p:nvPr/>
        </p:nvSpPr>
        <p:spPr>
          <a:xfrm>
            <a:off x="4736592" y="5294376"/>
            <a:ext cx="2715768" cy="228600"/>
          </a:xfrm>
          <a:prstGeom prst="roundRect">
            <a:avLst>
              <a:gd name="adj" fmla="val 16000"/>
            </a:avLst>
          </a:prstGeom>
          <a:solidFill>
            <a:srgbClr val="DBF2F0"/>
          </a:solidFill>
          <a:ln w="12700">
            <a:solidFill>
              <a:srgbClr val="DBF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00600" y="5335524"/>
            <a:ext cx="2587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25B60"/>
                </a:solidFill>
              </a:rPr>
              <a:t>Traceable from obligation to evidence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8257032" y="1298448"/>
            <a:ext cx="3429000" cy="4407408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467344" y="1536192"/>
            <a:ext cx="658368" cy="658368"/>
          </a:xfrm>
          <a:prstGeom prst="roundRect">
            <a:avLst>
              <a:gd name="adj" fmla="val 8333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586216" y="172821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US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272016" y="15179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8324A"/>
                </a:solidFill>
              </a:rPr>
              <a:t>CFTC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9272016" y="184708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</a:rPr>
              <a:t>17 CFR §23.603 | Swap Dealer BCP/DR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503920" y="2404872"/>
            <a:ext cx="2926080" cy="1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8522208" y="2615184"/>
            <a:ext cx="109728" cy="10972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714232" y="2587752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F2937"/>
                </a:solidFill>
              </a:rPr>
              <a:t>Written BCP/DR plan</a:t>
            </a:r>
            <a:endParaRPr lang="en-US" sz="1130" dirty="0"/>
          </a:p>
        </p:txBody>
      </p:sp>
      <p:sp>
        <p:nvSpPr>
          <p:cNvPr id="50" name="Text 48"/>
          <p:cNvSpPr/>
          <p:nvPr/>
        </p:nvSpPr>
        <p:spPr>
          <a:xfrm>
            <a:off x="8714232" y="2807208"/>
            <a:ext cx="2606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</a:rPr>
              <a:t>Document procedures for emergencies and disruption of normal operations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522208" y="3364992"/>
            <a:ext cx="109728" cy="10972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714232" y="3337560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F2937"/>
                </a:solidFill>
              </a:rPr>
              <a:t>Critical resources</a:t>
            </a:r>
            <a:endParaRPr lang="en-US" sz="1130" dirty="0"/>
          </a:p>
        </p:txBody>
      </p:sp>
      <p:sp>
        <p:nvSpPr>
          <p:cNvPr id="53" name="Text 51"/>
          <p:cNvSpPr/>
          <p:nvPr/>
        </p:nvSpPr>
        <p:spPr>
          <a:xfrm>
            <a:off x="8714232" y="3557016"/>
            <a:ext cx="2606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</a:rPr>
              <a:t>Identify essential data, facilities, infrastructure, people and competencies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522208" y="4114800"/>
            <a:ext cx="109728" cy="10972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714232" y="4087368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F2937"/>
                </a:solidFill>
              </a:rPr>
              <a:t>Recovery objective</a:t>
            </a:r>
            <a:endParaRPr lang="en-US" sz="1130" dirty="0"/>
          </a:p>
        </p:txBody>
      </p:sp>
      <p:sp>
        <p:nvSpPr>
          <p:cNvPr id="56" name="Text 54"/>
          <p:cNvSpPr/>
          <p:nvPr/>
        </p:nvSpPr>
        <p:spPr>
          <a:xfrm>
            <a:off x="8714232" y="4306824"/>
            <a:ext cx="2606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</a:rPr>
              <a:t>Enable continuation or resumption generally by the next business day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522208" y="4864608"/>
            <a:ext cx="109728" cy="10972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714232" y="4837176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F2937"/>
                </a:solidFill>
              </a:rPr>
              <a:t>Communications &amp; testing</a:t>
            </a:r>
            <a:endParaRPr lang="en-US" sz="1130" dirty="0"/>
          </a:p>
        </p:txBody>
      </p:sp>
      <p:sp>
        <p:nvSpPr>
          <p:cNvPr id="59" name="Text 57"/>
          <p:cNvSpPr/>
          <p:nvPr/>
        </p:nvSpPr>
        <p:spPr>
          <a:xfrm>
            <a:off x="8714232" y="5056632"/>
            <a:ext cx="2606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3"/>
                </a:solidFill>
              </a:rPr>
              <a:t>Maintain contacts, backup capabilities, annual testing and plan updates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913632" y="3072384"/>
            <a:ext cx="374904" cy="502920"/>
          </a:xfrm>
          <a:prstGeom prst="chevron">
            <a:avLst/>
          </a:prstGeom>
          <a:solidFill>
            <a:srgbClr val="C9B3D6"/>
          </a:solidFill>
          <a:ln w="12700">
            <a:solidFill>
              <a:srgbClr val="C9B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 rot="10800000">
            <a:off x="7909560" y="3072384"/>
            <a:ext cx="374904" cy="502920"/>
          </a:xfrm>
          <a:prstGeom prst="chevron">
            <a:avLst/>
          </a:prstGeom>
          <a:solidFill>
            <a:srgbClr val="AAC7E5"/>
          </a:solidFill>
          <a:ln w="12700">
            <a:solidFill>
              <a:srgbClr val="AAC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502920" y="5925312"/>
            <a:ext cx="11183112" cy="411480"/>
          </a:xfrm>
          <a:prstGeom prst="roundRect">
            <a:avLst>
              <a:gd name="adj" fmla="val 8889"/>
            </a:avLst>
          </a:prstGeom>
          <a:solidFill>
            <a:srgbClr val="E9F4EC"/>
          </a:solidFill>
          <a:ln w="12700">
            <a:solidFill>
              <a:srgbClr val="C7E2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13232" y="6025896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</a:rPr>
              <a:t>Compliance outcome: consistent control execution • evidence-on-demand • transparent governance • faster regulatory and audit response</a:t>
            </a:r>
            <a:endParaRPr lang="en-US" sz="1100" dirty="0"/>
          </a:p>
        </p:txBody>
      </p:sp>
      <p:sp>
        <p:nvSpPr>
          <p:cNvPr id="6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24A"/>
                </a:solidFill>
              </a:rPr>
              <a:t>Regulatory &amp; Industry Glossary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</a:rPr>
              <a:t>Public-source definitions relevant to the bid; Morgan Stanley-specific interpretation should be confirmed internally.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593592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67512" y="1353312"/>
            <a:ext cx="685800" cy="347472"/>
          </a:xfrm>
          <a:prstGeom prst="roundRect">
            <a:avLst>
              <a:gd name="adj" fmla="val 10526"/>
            </a:avLst>
          </a:prstGeom>
          <a:solidFill>
            <a:srgbClr val="6F2C91"/>
          </a:solidFill>
          <a:ln w="12700">
            <a:solidFill>
              <a:srgbClr val="6F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04088" y="1435608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BCM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53896" y="1353312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324A"/>
                </a:solidFill>
              </a:rPr>
              <a:t>Business Continuity Management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4088" y="1847088"/>
            <a:ext cx="3191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</a:rPr>
              <a:t>Management framework used to prepare for, respond to and recover from disruptive incidents while maintaining priority products and services.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1188720"/>
            <a:ext cx="3593592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62272" y="1353312"/>
            <a:ext cx="685800" cy="347472"/>
          </a:xfrm>
          <a:prstGeom prst="roundRect">
            <a:avLst>
              <a:gd name="adj" fmla="val 10526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98848" y="1435608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48656" y="1353312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324A"/>
                </a:solidFill>
              </a:rPr>
              <a:t>Business Impact Analysis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98848" y="1847088"/>
            <a:ext cx="3191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</a:rPr>
              <a:t>Analysis that identifies disruption impacts, priority activities, required resources and time-based recovery needs.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92440" y="1188720"/>
            <a:ext cx="3593592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57032" y="1353312"/>
            <a:ext cx="685800" cy="347472"/>
          </a:xfrm>
          <a:prstGeom prst="roundRect">
            <a:avLst>
              <a:gd name="adj" fmla="val 10526"/>
            </a:avLst>
          </a:prstGeom>
          <a:solidFill>
            <a:srgbClr val="007C83"/>
          </a:solidFill>
          <a:ln w="12700">
            <a:solidFill>
              <a:srgbClr val="007C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93608" y="1435608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BCP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043416" y="1353312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324A"/>
                </a:solidFill>
              </a:rPr>
              <a:t>Business Continuity Plan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93608" y="1847088"/>
            <a:ext cx="3191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</a:rPr>
              <a:t>Documented arrangements and procedures for continuing or restoring prioritized operations following disruption.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2743200"/>
            <a:ext cx="3593592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67512" y="2907792"/>
            <a:ext cx="685800" cy="347472"/>
          </a:xfrm>
          <a:prstGeom prst="roundRect">
            <a:avLst>
              <a:gd name="adj" fmla="val 10526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4088" y="2990088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453896" y="2907792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324A"/>
                </a:solidFill>
              </a:rPr>
              <a:t>Disaster Recovery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4088" y="3401568"/>
            <a:ext cx="3191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</a:rPr>
              <a:t>Technology-focused recovery of applications, infrastructure, documentation and data after a disruption.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2743200"/>
            <a:ext cx="3593592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62272" y="2907792"/>
            <a:ext cx="685800" cy="347472"/>
          </a:xfrm>
          <a:prstGeom prst="roundRect">
            <a:avLst>
              <a:gd name="adj" fmla="val 10526"/>
            </a:avLst>
          </a:prstGeom>
          <a:solidFill>
            <a:srgbClr val="6F2C91"/>
          </a:solidFill>
          <a:ln w="12700">
            <a:solidFill>
              <a:srgbClr val="6F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98848" y="2990088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RTO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248656" y="2907792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324A"/>
                </a:solidFill>
              </a:rPr>
              <a:t>Recovery Time Objective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98848" y="3401568"/>
            <a:ext cx="3191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</a:rPr>
              <a:t>Overall time that system components can remain in recovery before negatively affecting mission or business processes.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92440" y="2743200"/>
            <a:ext cx="3593592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257032" y="2907792"/>
            <a:ext cx="685800" cy="347472"/>
          </a:xfrm>
          <a:prstGeom prst="roundRect">
            <a:avLst>
              <a:gd name="adj" fmla="val 10526"/>
            </a:avLst>
          </a:prstGeom>
          <a:solidFill>
            <a:srgbClr val="007C83"/>
          </a:solidFill>
          <a:ln w="12700">
            <a:solidFill>
              <a:srgbClr val="007C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293608" y="2990088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RPO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043416" y="2907792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324A"/>
                </a:solidFill>
              </a:rPr>
              <a:t>Recovery Point Objective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93608" y="3401568"/>
            <a:ext cx="3191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</a:rPr>
              <a:t>Point in time to which data must be recovered after disruption, expressing the tolerable extent of data loss.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4297680"/>
            <a:ext cx="3593592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67512" y="4462272"/>
            <a:ext cx="685800" cy="347472"/>
          </a:xfrm>
          <a:prstGeom prst="roundRect">
            <a:avLst>
              <a:gd name="adj" fmla="val 10526"/>
            </a:avLst>
          </a:prstGeom>
          <a:solidFill>
            <a:srgbClr val="007C83"/>
          </a:solidFill>
          <a:ln w="12700">
            <a:solidFill>
              <a:srgbClr val="007C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04088" y="4544568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OR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453896" y="4462272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324A"/>
                </a:solidFill>
              </a:rPr>
              <a:t>Operational Resilience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04088" y="4956048"/>
            <a:ext cx="3191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</a:rPr>
              <a:t>Ability to prevent, adapt and respond to, recover and learn from operational disruption.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297680" y="4297680"/>
            <a:ext cx="3593592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462272" y="4462272"/>
            <a:ext cx="685800" cy="347472"/>
          </a:xfrm>
          <a:prstGeom prst="roundRect">
            <a:avLst>
              <a:gd name="adj" fmla="val 10526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498848" y="4544568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248656" y="4462272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324A"/>
                </a:solidFill>
              </a:rPr>
              <a:t>Critical / Important Services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498848" y="4956048"/>
            <a:ext cx="3191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</a:rPr>
              <a:t>Services prioritized because disruption could cause significant harm; naming and thresholds vary by regulatory framework and firm taxonomy.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092440" y="4297680"/>
            <a:ext cx="3593592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257032" y="4462272"/>
            <a:ext cx="685800" cy="347472"/>
          </a:xfrm>
          <a:prstGeom prst="roundRect">
            <a:avLst>
              <a:gd name="adj" fmla="val 10526"/>
            </a:avLst>
          </a:prstGeom>
          <a:solidFill>
            <a:srgbClr val="6F2C91"/>
          </a:solidFill>
          <a:ln w="12700">
            <a:solidFill>
              <a:srgbClr val="6F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293608" y="4544568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DM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043416" y="4462272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324A"/>
                </a:solidFill>
              </a:rPr>
              <a:t>Dependency Mapping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293608" y="4956048"/>
            <a:ext cx="3191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</a:rPr>
              <a:t>Identification of people, processes, technology, facilities, information and third parties supporting priority services.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8324A"/>
                </a:solidFill>
              </a:rPr>
              <a:t>Regulatory </a:t>
            </a:r>
            <a:r>
              <a:rPr lang="en-US" sz="2500" b="1" dirty="0">
                <a:solidFill>
                  <a:srgbClr val="18324A"/>
                </a:solidFill>
              </a:rPr>
              <a:t>Terms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</a:rPr>
              <a:t>Regulatory definitions and obligations directly referenced in the Firm Resilience Program bid.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534924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8952" y="1399032"/>
            <a:ext cx="685800" cy="347472"/>
          </a:xfrm>
          <a:prstGeom prst="roundRect">
            <a:avLst>
              <a:gd name="adj" fmla="val 10526"/>
            </a:avLst>
          </a:prstGeom>
          <a:solidFill>
            <a:srgbClr val="6F2C91"/>
          </a:solidFill>
          <a:ln w="12700">
            <a:solidFill>
              <a:srgbClr val="6F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5528" y="1481328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DORA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45336" y="1399032"/>
            <a:ext cx="4233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324A"/>
                </a:solidFill>
              </a:rPr>
              <a:t>Digital Operational Resilience Act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" y="1892808"/>
            <a:ext cx="494690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</a:rPr>
              <a:t>EU regulation for financial-sector digital operational resilience. It covers ICT risk management, ICT incident management and reporting, resilience testing, ICT third-party risk, information sharing and oversight of critical ICT providers.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45352" y="1234440"/>
            <a:ext cx="534924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9944" y="1399032"/>
            <a:ext cx="685800" cy="347472"/>
          </a:xfrm>
          <a:prstGeom prst="roundRect">
            <a:avLst>
              <a:gd name="adj" fmla="val 10526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46520" y="1481328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CFTC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96328" y="1399032"/>
            <a:ext cx="4233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324A"/>
                </a:solidFill>
              </a:rPr>
              <a:t>CFTC Regulation 23.603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892808"/>
            <a:ext cx="494690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</a:rPr>
              <a:t>Requires swap dealers and major swap participants to maintain a written business continuity and disaster recovery plan for emergencies or disruption, supporting continuation or resumption generally by the next business day and recovery of required records and data.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3520440"/>
            <a:ext cx="342900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58952" y="3685032"/>
            <a:ext cx="685800" cy="347472"/>
          </a:xfrm>
          <a:prstGeom prst="roundRect">
            <a:avLst>
              <a:gd name="adj" fmla="val 10526"/>
            </a:avLst>
          </a:prstGeom>
          <a:solidFill>
            <a:srgbClr val="007C83"/>
          </a:solidFill>
          <a:ln w="12700">
            <a:solidFill>
              <a:srgbClr val="007C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5528" y="3767328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ICT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45336" y="3685032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324A"/>
                </a:solidFill>
              </a:rPr>
              <a:t>ICT Risk Management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5528" y="4178808"/>
            <a:ext cx="3026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</a:rPr>
              <a:t>Governance and controls to identify, protect, detect, respond to and recover from ICT-related risks and disruptions.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70832" y="3520440"/>
            <a:ext cx="342900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35424" y="3685032"/>
            <a:ext cx="685800" cy="347472"/>
          </a:xfrm>
          <a:prstGeom prst="roundRect">
            <a:avLst>
              <a:gd name="adj" fmla="val 10526"/>
            </a:avLst>
          </a:prstGeom>
          <a:solidFill>
            <a:srgbClr val="6F2C91"/>
          </a:solidFill>
          <a:ln w="12700">
            <a:solidFill>
              <a:srgbClr val="6F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0" y="3767328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TLPT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21808" y="3685032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324A"/>
                </a:solidFill>
              </a:rPr>
              <a:t>Threat-Led Penetration Testing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0" y="4178808"/>
            <a:ext cx="3026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</a:rPr>
              <a:t>Advanced resilience testing under DORA using threat intelligence to assess critical ICT systems and processes.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56448" y="3520440"/>
            <a:ext cx="342900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321040" y="3685032"/>
            <a:ext cx="685800" cy="347472"/>
          </a:xfrm>
          <a:prstGeom prst="roundRect">
            <a:avLst>
              <a:gd name="adj" fmla="val 10526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357616" y="3767328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BC/DR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07424" y="3685032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324A"/>
                </a:solidFill>
              </a:rPr>
              <a:t>Business Continuity &amp; DR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57616" y="4178808"/>
            <a:ext cx="3026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</a:rPr>
              <a:t>CFTC plan covering essential resources, accountable personnel, communications, backup capabilities, geographic separation, testing and plan maintenance.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4360" y="5559552"/>
            <a:ext cx="11000232" cy="530352"/>
          </a:xfrm>
          <a:prstGeom prst="roundRect">
            <a:avLst>
              <a:gd name="adj" fmla="val 6897"/>
            </a:avLst>
          </a:prstGeom>
          <a:solidFill>
            <a:srgbClr val="EAF4EF"/>
          </a:solidFill>
          <a:ln w="12700">
            <a:solidFill>
              <a:srgbClr val="C9E4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41248" y="5733288"/>
            <a:ext cx="10497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</a:rPr>
              <a:t>Bid usage: connect each term to platform data, workflow, testing, evidence, reporting and audit-traceability capabilities.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372B0F1E7D704482B56679FD21655C" ma:contentTypeVersion="3" ma:contentTypeDescription="Create a new document." ma:contentTypeScope="" ma:versionID="2899ac980074225bebb8028dc714338c">
  <xsd:schema xmlns:xsd="http://www.w3.org/2001/XMLSchema" xmlns:xs="http://www.w3.org/2001/XMLSchema" xmlns:p="http://schemas.microsoft.com/office/2006/metadata/properties" xmlns:ns2="746d0b02-7fcd-413f-aced-46b30a1f6d22" targetNamespace="http://schemas.microsoft.com/office/2006/metadata/properties" ma:root="true" ma:fieldsID="1e333ce3095b59c83e2b833160abe8c5" ns2:_="">
    <xsd:import namespace="746d0b02-7fcd-413f-aced-46b30a1f6d2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6d0b02-7fcd-413f-aced-46b30a1f6d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B5EDE0A-19CA-4FDA-9B44-FC41608A915F}"/>
</file>

<file path=customXml/itemProps2.xml><?xml version="1.0" encoding="utf-8"?>
<ds:datastoreItem xmlns:ds="http://schemas.openxmlformats.org/officeDocument/2006/customXml" ds:itemID="{9CB81020-EC37-4158-B36E-6BEC23123076}"/>
</file>

<file path=customXml/itemProps3.xml><?xml version="1.0" encoding="utf-8"?>
<ds:datastoreItem xmlns:ds="http://schemas.openxmlformats.org/officeDocument/2006/customXml" ds:itemID="{733CF803-2474-46EB-A6DA-3ACCA799723A}"/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1031</Words>
  <Application>Microsoft Office PowerPoint</Application>
  <PresentationFormat>Widescreen</PresentationFormat>
  <Paragraphs>93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TCS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Regulatory Compliance Support - DORA and CFTC</dc:title>
  <dc:subject>2027 Firm Resilience Program - Regulatory Compliance Support</dc:subject>
  <dc:creator>PREETI SHRIVASTAVA</dc:creator>
  <cp:lastModifiedBy>PREETI SHRIVASTAVA</cp:lastModifiedBy>
  <cp:revision>2</cp:revision>
  <dcterms:created xsi:type="dcterms:W3CDTF">2026-10-08T16:22:43Z</dcterms:created>
  <dcterms:modified xsi:type="dcterms:W3CDTF">2026-10-08T17:12:24Z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0x0101009E372B0F1E7D704482B56679FD21655C</vt:lpwstr>
  </property>
</Properties>
</file>
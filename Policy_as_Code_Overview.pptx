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9" r:id="rId4"/>
    <p:sldId id="264" r:id="rId5"/>
    <p:sldId id="260" r:id="rId6"/>
    <p:sldId id="261" r:id="rId7"/>
    <p:sldId id="262" r:id="rId8"/>
    <p:sldId id="263" r:id="rId9"/>
    <p:sldId id="265" r:id="rId10"/>
    <p:sldId id="266" r:id="rId11"/>
    <p:sldId id="258"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B0A80-54D6-44EB-8CE5-98E2A8916676}" v="3" dt="2026-10-20T16:17:40.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notesViewPr>
    <p:cSldViewPr snapToGrid="0" snapToObjects="1">
      <p:cViewPr>
        <p:scale>
          <a:sx n="100" d="100"/>
          <a:sy n="100" d="100"/>
        </p:scale>
        <p:origin x="2323" y="-6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EENUDEEN M" userId="6621fe10-d836-449f-8f21-3d2283f1cd1c" providerId="ADAL" clId="{E904487C-EDEC-49FB-AD5C-F05E9BCB12A6}"/>
    <pc:docChg chg="undo custSel addSld delSld modSld sldOrd">
      <pc:chgData name="AMEENUDEEN M" userId="6621fe10-d836-449f-8f21-3d2283f1cd1c" providerId="ADAL" clId="{E904487C-EDEC-49FB-AD5C-F05E9BCB12A6}" dt="2026-10-20T16:17:40.847" v="48"/>
      <pc:docMkLst>
        <pc:docMk/>
      </pc:docMkLst>
      <pc:sldChg chg="add del setBg">
        <pc:chgData name="AMEENUDEEN M" userId="6621fe10-d836-449f-8f21-3d2283f1cd1c" providerId="ADAL" clId="{E904487C-EDEC-49FB-AD5C-F05E9BCB12A6}" dt="2026-10-20T16:17:40.847" v="48"/>
        <pc:sldMkLst>
          <pc:docMk/>
          <pc:sldMk cId="0" sldId="258"/>
        </pc:sldMkLst>
      </pc:sldChg>
      <pc:sldChg chg="modSp mod ord modNotes">
        <pc:chgData name="AMEENUDEEN M" userId="6621fe10-d836-449f-8f21-3d2283f1cd1c" providerId="ADAL" clId="{E904487C-EDEC-49FB-AD5C-F05E9BCB12A6}" dt="2026-10-20T15:54:03.628" v="47" actId="20577"/>
        <pc:sldMkLst>
          <pc:docMk/>
          <pc:sldMk cId="0" sldId="259"/>
        </pc:sldMkLst>
        <pc:spChg chg="mod">
          <ac:chgData name="AMEENUDEEN M" userId="6621fe10-d836-449f-8f21-3d2283f1cd1c" providerId="ADAL" clId="{E904487C-EDEC-49FB-AD5C-F05E9BCB12A6}" dt="2026-10-20T15:54:03.628" v="47" actId="20577"/>
          <ac:spMkLst>
            <pc:docMk/>
            <pc:sldMk cId="0" sldId="259"/>
            <ac:spMk id="5" creationId="{00000000-0000-0000-0000-000000000000}"/>
          </ac:spMkLst>
        </pc:spChg>
      </pc:sldChg>
      <pc:sldChg chg="add setBg">
        <pc:chgData name="AMEENUDEEN M" userId="6621fe10-d836-449f-8f21-3d2283f1cd1c" providerId="ADAL" clId="{E904487C-EDEC-49FB-AD5C-F05E9BCB12A6}" dt="2026-10-20T15:49:53.198" v="39"/>
        <pc:sldMkLst>
          <pc:docMk/>
          <pc:sldMk cId="0" sldId="260"/>
        </pc:sldMkLst>
      </pc:sldChg>
      <pc:sldChg chg="add setBg">
        <pc:chgData name="AMEENUDEEN M" userId="6621fe10-d836-449f-8f21-3d2283f1cd1c" providerId="ADAL" clId="{E904487C-EDEC-49FB-AD5C-F05E9BCB12A6}" dt="2026-10-20T15:49:53.198" v="39"/>
        <pc:sldMkLst>
          <pc:docMk/>
          <pc:sldMk cId="0" sldId="261"/>
        </pc:sldMkLst>
      </pc:sldChg>
      <pc:sldChg chg="add setBg">
        <pc:chgData name="AMEENUDEEN M" userId="6621fe10-d836-449f-8f21-3d2283f1cd1c" providerId="ADAL" clId="{E904487C-EDEC-49FB-AD5C-F05E9BCB12A6}" dt="2026-10-20T15:49:53.198" v="39"/>
        <pc:sldMkLst>
          <pc:docMk/>
          <pc:sldMk cId="0" sldId="262"/>
        </pc:sldMkLst>
      </pc:sldChg>
      <pc:sldChg chg="add setBg">
        <pc:chgData name="AMEENUDEEN M" userId="6621fe10-d836-449f-8f21-3d2283f1cd1c" providerId="ADAL" clId="{E904487C-EDEC-49FB-AD5C-F05E9BCB12A6}" dt="2026-10-20T15:49:53.198" v="39"/>
        <pc:sldMkLst>
          <pc:docMk/>
          <pc:sldMk cId="0" sldId="263"/>
        </pc:sldMkLst>
      </pc:sldChg>
      <pc:sldChg chg="add setBg">
        <pc:chgData name="AMEENUDEEN M" userId="6621fe10-d836-449f-8f21-3d2283f1cd1c" providerId="ADAL" clId="{E904487C-EDEC-49FB-AD5C-F05E9BCB12A6}" dt="2026-10-20T15:52:51.187" v="40"/>
        <pc:sldMkLst>
          <pc:docMk/>
          <pc:sldMk cId="0" sldId="264"/>
        </pc:sldMkLst>
      </pc:sldChg>
      <pc:sldChg chg="add setBg">
        <pc:chgData name="AMEENUDEEN M" userId="6621fe10-d836-449f-8f21-3d2283f1cd1c" providerId="ADAL" clId="{E904487C-EDEC-49FB-AD5C-F05E9BCB12A6}" dt="2026-10-20T16:17:40.847" v="48"/>
        <pc:sldMkLst>
          <pc:docMk/>
          <pc:sldMk cId="0" sldId="265"/>
        </pc:sldMkLst>
      </pc:sldChg>
      <pc:sldChg chg="add setBg">
        <pc:chgData name="AMEENUDEEN M" userId="6621fe10-d836-449f-8f21-3d2283f1cd1c" providerId="ADAL" clId="{E904487C-EDEC-49FB-AD5C-F05E9BCB12A6}" dt="2026-10-20T16:17:40.847" v="48"/>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32C9E90-5A12-4E15-88E0-BEFAFE52A84E}" type="datetimeFigureOut">
              <a:t>10/20/2026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328104F-34DB-406F-A936-323C61EA76E4}" type="slidenum">
              <a:t>‹#›</a:t>
            </a:fld>
            <a:endParaRPr lang="en-US"/>
          </a:p>
        </p:txBody>
      </p:sp>
    </p:spTree>
    <p:extLst>
      <p:ext uri="{BB962C8B-B14F-4D97-AF65-F5344CB8AC3E}">
        <p14:creationId xmlns:p14="http://schemas.microsoft.com/office/powerpoint/2010/main" val="1765564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Policy as Code turns policy prose into a machine-readable, version-controlled and executable definition.
- The key idea: one authoritative definition drives the UI, the enforcement engines, the tests, the evidence and the audit record. Change it once, everything regenerates, so there is no second copy to drift.
- Walk the table: artefact moves from PDF to Git; interpretation from team-by-team to one compiled definition; testing from after-the-fact sampling to CI on every change; evidence from manual assembly to continuous by-product; drift from months to minutes.
- Why BFSI cares: regulators can be shown the rule, the proving test and the evaluation log; one standard applied consistently; faster regulatory change; continuous control monitoring.
- Close on the principle: GenAI accelerates authoring, but decisions come from a deterministic engine. That separation is what makes it defensible to a regulator.
[Sources]
- PolicyAsCode_Prototype_Requirements.docx (sections 1, 1.1, 1.3, 1.4)
- Open Policy Agent documentation - openpolicyagent.org/docs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industry pattern separates who decides from who enforces. NIST SP 800-207 describes this as the Policy Decision Point, Policy Enforcement Point and Policy Information Points.
- PAP is where policy is authored and governed: Git repository, pull requests and CI gates. It publishes a policy bundle to the PDP.
- The PEP (identity provider, API gateway, pipeline) pauses the request, sends a JSON query to the PDP, and acts on the allow/deny decision and reasons.
- PIP supplies context, for example password history hashes, account type or a breached-credential corpus.
- OPA is the reference engine: a CNCF graduated, general-purpose engine; policies are written in Rego, a declarative language over JSON. Cedar, Kyverno and Sentinel serve adjacent niches.
- For our sample use case we trace rules to NIST 800-63B, ISO 27001 A.5.17, PCI DSS v4.0 and CIS v8.
- The lifecycle runs Author, Interpret, Codify, Test, Approve, Deploy, Monitor - and monitoring feeds back into authoring.
[Sources]
- NIST SP 800-207 Zero Trust Architecture - csrc.nist.gov/pubs/sp/800/207/final
- NIST SP 800-207A - csrc.nist.gov/pubs/sp/800/207/a/final
- Open Policy Agent documentation - openpolicyagent.org/docs
- PolicyAsCode_Prototype_Requirements.docx (sections 1.2, FR-1.5, FR-6.2)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5867400"/>
            <a:ext cx="5486400" cy="5425440"/>
          </a:xfrm>
        </p:spPr>
        <p:txBody>
          <a:bodyPr/>
          <a:lstStyle/>
          <a:p>
            <a:pPr marL="171450" indent="-171450" algn="just">
              <a:buFont typeface="Arial" panose="020B0604020202020204" pitchFamily="34" charset="0"/>
              <a:buChar char="•"/>
            </a:pPr>
            <a:r>
              <a:rPr lang="en-US" dirty="0"/>
              <a:t>Read top to bottom. Authors, reviewers, approvers, auditors and control owners work through one React workbench with seven modules.
The AI authoring layer uses Azure OpenAI GPT-5.3-chat orchestrated with LangGraph. Five agents extract rules, draft code, map controls, explain impact and analyse drift. They propose; they never make runtime decisions.
Policy administration (the PAP) is a FastAPI service: the versioned policy object, a Git repository with pull requests, CI gates for schema, conformance tests, coverage and weaker-than-baseline checks, the exceptions register and gated promotion from DEV to PROD.
The decision layer is OPA running compiled Rego bundles, returning allow or deny with reasons. Policy information points supply password history hashes, account type and a breached-credential corpus.
Enforcement points consume the same decision: Entra ID, LDAP or the core banking directory, API gateway, CI/CD pipeline and business apps. For the prototype this integration is read-and-diff only.
Evidence and assurance: the traceability matrix, drift detection, a hash-chained append-only audit store and the evidence pack, persisted in PostgreSQL (SQLite for a local demo).
Cross-cutting: segregation of duty, SSO, Key Vault, no credential material to the LLM, region pinning, 50 ms p95 decisions, and enforcement keeps working if the LLM is unavailable.
Drift and audit insights loop back into authoring.</a:t>
            </a:r>
          </a:p>
          <a:p>
            <a:pPr algn="just"/>
            <a:endParaRPr lang="en-US" dirty="0"/>
          </a:p>
          <a:p>
            <a:pPr marL="171450" indent="-171450" algn="just">
              <a:buFont typeface="Arial" panose="020B0604020202020204" pitchFamily="34" charset="0"/>
              <a:buChar char="•"/>
            </a:pPr>
            <a:r>
              <a:rPr lang="en-US" dirty="0"/>
              <a:t>
[Sources]
PolicyAsCode_Prototype_Requirements.docx (sections 2.2, 2.3, 2.4, 2.5, 2.6, 2.11)
NIST SP 800-207 Zero Trust Architecture - csrc.nist.gov/pubs/sp/800/207/final
Open Policy Agent documentation - openpolicyagent.org/docs</a:t>
            </a:r>
          </a:p>
          <a:p>
            <a:pPr algn="just"/>
            <a:r>
              <a:rPr lang="en-US" dirty="0"/>
              <a:t>[/Sources]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identity and access. We use the enterprise Password Security Policy as the reference domain because it is universal, measurable and heavily regulated.
- Step 1: the policy owner supplies the prose standard (shown text is illustrative). It is enforced at Entra ID and the LDAP / core banking directory, using password history, account type and a breached-credential corpus as context.
- Step 2: the Rule Extraction Agent turns it into atomic rules, each with a verbatim source quote, confidence and the obligation it serves. Ambiguous clauses are flagged for the owner, never resolved by the model. A reviewer accepts each rule.
- Step 3: the approved policy object compiles into executable artefacts: Rego for OPA, the canonical policy.json, an identity IaC script and a pytest conformance suite.
- Step 4: at runtime OPA - not the LLM - evaluates the candidate. 'Welcome@2026' is denied: 12 characters against a 14 minimum, and it contains a blocklisted word.
- Traceability: PCI DSS v4.0 8.3.4 maps to its enforcing rule and proving test; gaps are reported, never hidden.
- Demo moments: change one value and every artefact changes together; drift on a directory is detected; AI actions are fully audited.
- Note: rule IDs, the blocklist rule and the decision payload are sample values for the prototype.
[Sources]
- PolicyAsCode_Prototype_Requirements.docx (sections 1.2, 2.1, 2.5, FR-3.3, FR-4.1, FR-5.3, FR-6.1, 2.9)
- Open Policy Agent Rego policy language - openpolicyagent.org/docs/policy-language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cloud infrastructure. Most cloud incidents trace back to misconfiguration, so the guardrail runs before anything is provisioned.
- Policy prose: customer-data storage must not be public and must stay in approved regions (wording and regions are illustrative).
- Codified rules are evaluated by Conftest, a CLI that runs OPA/Rego policies against the JSON output of terraform plan, in the pull-request pipeline.
- The sample plan creates a storage account in a non-approved region with public network access enabled, so the merge is blocked with two rule IDs.
- Traceability: rules map to the bank's internal data-residency and cloud security standard; map to the applicable regulator's outsourcing/cloud guidance during the engagement.
- Talking point: shift-left, preventive control with a machine-readable audit trail.
[Sources]
- Conftest documentation - conftest.dev
- Terraform testing with OPA and Conftest - dev.to/florianlenz
- PolicyAsCode_Prototype_Requirements.docx (artefact generation, CI gates, exceptions register)
- Rule IDs, regions and resource names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payments. Segregation of duties is a classic fraud control: no single person should initiate and approve the same sensitive action.
- Policy prose: payments at or above the limit need two approvers and the maker can never be a checker (limit is illustrative).
- The payment hub calls OPA at the release step; OPA uses entitlements and limits as context.
- The sample payment of 25 lakh has one approver who is also the initiator, so it is denied with two reasons.
- Traceability: ISO/IEC 27001:2022 Annex A 5.3 requires conflicting duties to be segregated to reduce fraud and error.
- Talking point: one authority matrix enforced the same way across channels, instead of each system hard-coding its own limits.
[Sources]
- ISO 27001:2022 Annex A 5.3 Segregation of Duties - isms.online, hightable.io
- Open Policy Agent documentation - openpolicyagent.org/docs
- Limits, user IDs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data privacy. This shows that a policy decision can be richer than allow/deny: here the answer is allow, with an obligation to mask PII.
- Policy prose: personal data is unmasked only for investigators on an open fraud case and within the data's home region (illustrative).
- The query gateway calls OPA with user role, purpose and case status; the case register and dataset classification act as context.
- A marketing analyst running a campaign query is allowed, but PAN, mobile and email are masked.
- Traceability: purpose limitation under GDPR Article 5(1)(b) and purpose-bound processing under India's DPDP Act 2023. Coverage is shown as Partial on purpose, to demonstrate honest gap reporting - the consent check is not yet coded.
- Please validate the regulatory mapping with the privacy/legal team before client use.
[Sources]
- Open Policy Agent documentation (structured, non-binary decisions) - openpolicyagent.org/docs
- PolicyAsCode_Prototype_Requirements.docx (FR-6.3 gaps reported, never optimistically)
- Roles, columns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agentic AI. As agents gain tools, the policy decides what they are allowed to do - not the model's own reasoning.
- Policy prose: agents use only tools approved for their role, and any action that changes a customer or case outcome needs named human approval (illustrative).
- A tool gateway intercepts every call and queries OPA; the agent registry and tool risk catalogue are context.
- The KYC assistant tries to close an alert without approval; it is not allowed that tool and has no approval, so the call is denied.
- Traceability: EU AI Act Article 14 requires high-risk AI to be effectively overseen by people who can override or stop it. The tool-call log also supports record-keeping.
- This links to our AI Governance Framework, where Oversight &amp; Accountability turns policy into code.
[Sources]
- EU AI Act Article 14: Human oversight - artificialintelligenceact.eu/article/14
- AI_Governance_Framework.pptx (policy-as-code enforcement in the governance control plane)
- Agent names, tools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regulatory compliance. We take Cash Transaction Reporting under India's PMLA as the example because it is rule-based, measurable and heavily inspected.
- Policy prose: cash transactions of ten lakh rupees or more, including integrally connected transactions that add up to ten lakh in a calendar month, must be reported to FIU-IND; the CTR is due by the 15th of the following month.
- The reporting gate calls OPA before the batch is submitted. Monthly cash aggregates per account and the CTR batch register are the context.
- In the sample, an account received four deposits each under the threshold that together total 12.4 lakh, but it is missing from the batch, and the filing date is after the 15th. The batch is blocked with two rule IDs.
- Traceability: Rule 3 of the PML (Maintenance of Records) Rules, 2005 sets the reporting obligation.
- This links directly to the CTR Compliance Engine work: the same rules can drive the engine, its tests and its evidence.
- Validate the deadline and aggregation wording with compliance before client use.
[Sources]
- FIU-IND, PML (Maintenance of Records) Rules 2005 - fiuindia.gov.in
- CTR filing rules under PMLA - iibf.store; FIU-IND reporting guide - finlaw.in
- Account numbers, amounts, dates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operational resilience. The idea is to stop changes that add risk to a critical service which has not proven it can recover within its tolerance.
- Policy prose: changes to an important business service go ahead only when it has passed a severe but plausible scenario test in the last 12 months and recovered within its impact tolerance. The 12-month window is an illustrative internal rule.
- The change gate and the deployment pipeline both call OPA. The CMDB service map, the impact tolerance register and the resilience test register are the context.
- In the sample, a change to the UPI payments service is blocked: tested recovery was 185 minutes against a 120-minute tolerance, and the last test was 436 days ago.
- Traceability: PRA SS1/21 requires firms to set impact tolerances for important business services and to test regularly, in severe but plausible scenarios, that they can stay within them.
- For Indian clients, map the same rules to the applicable RBI operational resilience guidance during the engagement.
[Sources]
- Bank of England PRA SS1/21 Operational resilience - bankofengland.co.uk
- PRA Rulebook, SS1/21 Chapter 6 Scenario testing - prarulebook.co.uk
- Service names, tolerances, change IDs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Domain: OE control assurance. Policy as Code here governs the quality of the testing itself, not the business transaction.
- Policy prose: key controls must be tested for operating effectiveness by someone independent of the control owner, using the minimum sample for how often the control runs, and every exception must be raised as an issue.
- The GRC sign-off step calls OPA. The risk-control matrix, control owner register and issue register are the context.
- In the sample, a daily reconciliation was tested with 15 items against a minimum of 25, by its own owner, and one exception has no issue raised. Sign-off is blocked with three reasons.
- Traceability: PCAOB AS 2201 requires testing whether a control operates as designed and is performed by someone with the authority and competence to do it. It does not prescribe a sample table; sample sizes come from the firm's methodology. That is why coverage is shown as Partial until the external auditor agrees the table.
- The daily minimum of 25 reflects common industry practice (about 20-40 for daily controls) and is illustrative.
[Sources]
- SOX control testing sample sizes and AS 2201 principles - governancedocs.com, soxlayer.com
- Design vs operating effectiveness under AS 2201 - finrep.ai
- Control IDs, sample sizes and rule IDs are illustrative sample values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Text 1"/>
          <p:cNvSpPr/>
          <p:nvPr/>
        </p:nvSpPr>
        <p:spPr>
          <a:xfrm>
            <a:off x="411480" y="228600"/>
            <a:ext cx="11338560" cy="54864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Policy as Code: from policy documents to executable, auditable controls</a:t>
            </a:r>
            <a:endParaRPr lang="en-US" sz="2600" dirty="0"/>
          </a:p>
        </p:txBody>
      </p:sp>
      <p:sp>
        <p:nvSpPr>
          <p:cNvPr id="4" name="Text 2"/>
          <p:cNvSpPr/>
          <p:nvPr/>
        </p:nvSpPr>
        <p:spPr>
          <a:xfrm>
            <a:off x="411480" y="749808"/>
            <a:ext cx="11338560" cy="32004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One authoritative, version-controlled definition drives enforcement, tests, evidence and audit</a:t>
            </a:r>
            <a:endParaRPr lang="en-US" sz="1300" dirty="0"/>
          </a:p>
        </p:txBody>
      </p:sp>
      <p:sp>
        <p:nvSpPr>
          <p:cNvPr id="5" name="Text 3"/>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1</a:t>
            </a:r>
            <a:endParaRPr lang="en-US" sz="900" dirty="0"/>
          </a:p>
        </p:txBody>
      </p:sp>
      <p:sp>
        <p:nvSpPr>
          <p:cNvPr id="6" name="Shape 4"/>
          <p:cNvSpPr/>
          <p:nvPr/>
        </p:nvSpPr>
        <p:spPr>
          <a:xfrm>
            <a:off x="411480" y="1280160"/>
            <a:ext cx="4846320" cy="1691640"/>
          </a:xfrm>
          <a:prstGeom prst="rect">
            <a:avLst/>
          </a:prstGeom>
          <a:solidFill>
            <a:srgbClr val="0F2043"/>
          </a:solidFill>
          <a:ln w="12700">
            <a:solidFill>
              <a:srgbClr val="0F2043"/>
            </a:solidFill>
            <a:prstDash val="solid"/>
          </a:ln>
        </p:spPr>
        <p:txBody>
          <a:bodyPr/>
          <a:lstStyle/>
          <a:p>
            <a:endParaRPr lang="en-IN"/>
          </a:p>
        </p:txBody>
      </p:sp>
      <p:sp>
        <p:nvSpPr>
          <p:cNvPr id="7" name="Text 5"/>
          <p:cNvSpPr/>
          <p:nvPr/>
        </p:nvSpPr>
        <p:spPr>
          <a:xfrm>
            <a:off x="594360" y="1371600"/>
            <a:ext cx="4526280" cy="1508760"/>
          </a:xfrm>
          <a:prstGeom prst="rect">
            <a:avLst/>
          </a:prstGeom>
          <a:noFill/>
          <a:ln/>
        </p:spPr>
        <p:txBody>
          <a:bodyPr wrap="square" lIns="0" tIns="0" rIns="0" bIns="0" rtlCol="0" anchor="t"/>
          <a:lstStyle/>
          <a:p>
            <a:pPr marL="0" indent="0">
              <a:spcAft>
                <a:spcPts val="400"/>
              </a:spcAft>
              <a:buNone/>
            </a:pPr>
            <a:r>
              <a:rPr lang="en-US" sz="1500" b="1" dirty="0">
                <a:solidFill>
                  <a:srgbClr val="7FD6D3"/>
                </a:solidFill>
                <a:latin typeface="Calibri" pitchFamily="34" charset="0"/>
                <a:ea typeface="Calibri" pitchFamily="34" charset="-122"/>
                <a:cs typeface="Calibri" pitchFamily="34" charset="-120"/>
              </a:rPr>
              <a:t>What it is</a:t>
            </a:r>
            <a:endParaRPr lang="en-US" sz="1500" dirty="0"/>
          </a:p>
          <a:p>
            <a:pPr marL="0" indent="0">
              <a:spcAft>
                <a:spcPts val="400"/>
              </a:spcAft>
              <a:buNone/>
            </a:pPr>
            <a:r>
              <a:rPr lang="en-US" sz="1250" dirty="0">
                <a:solidFill>
                  <a:srgbClr val="FFFFFF"/>
                </a:solidFill>
                <a:latin typeface="Calibri" pitchFamily="34" charset="0"/>
                <a:ea typeface="Calibri" pitchFamily="34" charset="-122"/>
                <a:cs typeface="Calibri" pitchFamily="34" charset="-120"/>
              </a:rPr>
              <a:t>Policy as Code (PaC) expresses organisational policy (security standards, regulatory obligations, risk appetite, operational rules) as machine-readable, version-controlled, executable definitions instead of prose in a PDF. Systems evaluate the policy automatically at the moment a decision is made.</a:t>
            </a:r>
            <a:endParaRPr lang="en-US" sz="1500" dirty="0"/>
          </a:p>
        </p:txBody>
      </p:sp>
      <p:sp>
        <p:nvSpPr>
          <p:cNvPr id="8" name="Text 6"/>
          <p:cNvSpPr/>
          <p:nvPr/>
        </p:nvSpPr>
        <p:spPr>
          <a:xfrm>
            <a:off x="411480" y="3154680"/>
            <a:ext cx="4846320" cy="320040"/>
          </a:xfrm>
          <a:prstGeom prst="rect">
            <a:avLst/>
          </a:prstGeom>
          <a:noFill/>
          <a:ln/>
        </p:spPr>
        <p:txBody>
          <a:bodyPr wrap="square" lIns="0" tIns="0" rIns="0" bIns="0" rtlCol="0" anchor="ctr"/>
          <a:lstStyle/>
          <a:p>
            <a:pPr marL="0" indent="0">
              <a:buNone/>
            </a:pPr>
            <a:r>
              <a:rPr lang="en-US" sz="1500" b="1" dirty="0">
                <a:solidFill>
                  <a:srgbClr val="0F2043"/>
                </a:solidFill>
                <a:latin typeface="Calibri" pitchFamily="34" charset="0"/>
                <a:ea typeface="Calibri" pitchFamily="34" charset="-122"/>
                <a:cs typeface="Calibri" pitchFamily="34" charset="-120"/>
              </a:rPr>
              <a:t>Why it matters in BFSI</a:t>
            </a:r>
            <a:endParaRPr lang="en-US" sz="1500" dirty="0"/>
          </a:p>
        </p:txBody>
      </p:sp>
      <p:sp>
        <p:nvSpPr>
          <p:cNvPr id="9" name="Shape 7"/>
          <p:cNvSpPr/>
          <p:nvPr/>
        </p:nvSpPr>
        <p:spPr>
          <a:xfrm>
            <a:off x="411480" y="3584448"/>
            <a:ext cx="438912" cy="438912"/>
          </a:xfrm>
          <a:prstGeom prst="ellipse">
            <a:avLst/>
          </a:prstGeom>
          <a:solidFill>
            <a:srgbClr val="D9F1F0"/>
          </a:solidFill>
          <a:ln w="12700">
            <a:solidFill>
              <a:srgbClr val="D9F1F0"/>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521208" y="3694176"/>
            <a:ext cx="219456" cy="219456"/>
          </a:xfrm>
          <a:prstGeom prst="rect">
            <a:avLst/>
          </a:prstGeom>
        </p:spPr>
      </p:pic>
      <p:sp>
        <p:nvSpPr>
          <p:cNvPr id="11" name="Text 8"/>
          <p:cNvSpPr/>
          <p:nvPr/>
        </p:nvSpPr>
        <p:spPr>
          <a:xfrm>
            <a:off x="987552" y="3547872"/>
            <a:ext cx="4297680" cy="530352"/>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Regulatory defensibility</a:t>
            </a:r>
            <a:endParaRPr lang="en-US" sz="1250" dirty="0"/>
          </a:p>
          <a:p>
            <a:pPr marL="0" indent="0">
              <a:buNone/>
            </a:pPr>
            <a:r>
              <a:rPr lang="en-US" sz="1100" dirty="0">
                <a:solidFill>
                  <a:srgbClr val="5B6577"/>
                </a:solidFill>
                <a:latin typeface="Calibri" pitchFamily="34" charset="0"/>
                <a:ea typeface="Calibri" pitchFamily="34" charset="-122"/>
                <a:cs typeface="Calibri" pitchFamily="34" charset="-120"/>
              </a:rPr>
              <a:t>Show the rule, the test that proves it and every evaluation log</a:t>
            </a:r>
            <a:endParaRPr lang="en-US" sz="1250" dirty="0"/>
          </a:p>
        </p:txBody>
      </p:sp>
      <p:sp>
        <p:nvSpPr>
          <p:cNvPr id="12" name="Shape 9"/>
          <p:cNvSpPr/>
          <p:nvPr/>
        </p:nvSpPr>
        <p:spPr>
          <a:xfrm>
            <a:off x="411480" y="4187952"/>
            <a:ext cx="438912" cy="438912"/>
          </a:xfrm>
          <a:prstGeom prst="ellipse">
            <a:avLst/>
          </a:prstGeom>
          <a:solidFill>
            <a:srgbClr val="D9F1F0"/>
          </a:solidFill>
          <a:ln w="12700">
            <a:solidFill>
              <a:srgbClr val="D9F1F0"/>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521208" y="4297680"/>
            <a:ext cx="219456" cy="219456"/>
          </a:xfrm>
          <a:prstGeom prst="rect">
            <a:avLst/>
          </a:prstGeom>
        </p:spPr>
      </p:pic>
      <p:sp>
        <p:nvSpPr>
          <p:cNvPr id="14" name="Text 10"/>
          <p:cNvSpPr/>
          <p:nvPr/>
        </p:nvSpPr>
        <p:spPr>
          <a:xfrm>
            <a:off x="987552" y="4151376"/>
            <a:ext cx="4297680" cy="530352"/>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Consistency across the estate</a:t>
            </a:r>
            <a:endParaRPr lang="en-US" sz="1250" dirty="0"/>
          </a:p>
          <a:p>
            <a:pPr marL="0" indent="0">
              <a:buNone/>
            </a:pPr>
            <a:r>
              <a:rPr lang="en-US" sz="1100" dirty="0">
                <a:solidFill>
                  <a:srgbClr val="5B6577"/>
                </a:solidFill>
                <a:latin typeface="Calibri" pitchFamily="34" charset="0"/>
                <a:ea typeface="Calibri" pitchFamily="34" charset="-122"/>
                <a:cs typeface="Calibri" pitchFamily="34" charset="-120"/>
              </a:rPr>
              <a:t>Same standard applied to IdP, directories, channels, legacy hosts</a:t>
            </a:r>
            <a:endParaRPr lang="en-US" sz="1250" dirty="0"/>
          </a:p>
        </p:txBody>
      </p:sp>
      <p:sp>
        <p:nvSpPr>
          <p:cNvPr id="15" name="Shape 11"/>
          <p:cNvSpPr/>
          <p:nvPr/>
        </p:nvSpPr>
        <p:spPr>
          <a:xfrm>
            <a:off x="411480" y="4791456"/>
            <a:ext cx="438912" cy="438912"/>
          </a:xfrm>
          <a:prstGeom prst="ellipse">
            <a:avLst/>
          </a:prstGeom>
          <a:solidFill>
            <a:srgbClr val="D9F1F0"/>
          </a:solidFill>
          <a:ln w="12700">
            <a:solidFill>
              <a:srgbClr val="D9F1F0"/>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521208" y="4901184"/>
            <a:ext cx="219456" cy="219456"/>
          </a:xfrm>
          <a:prstGeom prst="rect">
            <a:avLst/>
          </a:prstGeom>
        </p:spPr>
      </p:pic>
      <p:sp>
        <p:nvSpPr>
          <p:cNvPr id="17" name="Text 12"/>
          <p:cNvSpPr/>
          <p:nvPr/>
        </p:nvSpPr>
        <p:spPr>
          <a:xfrm>
            <a:off x="987552" y="4754880"/>
            <a:ext cx="4297680" cy="530352"/>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Speed of regulatory change</a:t>
            </a:r>
            <a:endParaRPr lang="en-US" sz="1250" dirty="0"/>
          </a:p>
          <a:p>
            <a:pPr marL="0" indent="0">
              <a:buNone/>
            </a:pPr>
            <a:r>
              <a:rPr lang="en-US" sz="1100" dirty="0">
                <a:solidFill>
                  <a:srgbClr val="5B6577"/>
                </a:solidFill>
                <a:latin typeface="Calibri" pitchFamily="34" charset="0"/>
                <a:ea typeface="Calibri" pitchFamily="34" charset="-122"/>
                <a:cs typeface="Calibri" pitchFamily="34" charset="-120"/>
              </a:rPr>
              <a:t>An amended obligation becomes a reviewed code change</a:t>
            </a:r>
            <a:endParaRPr lang="en-US" sz="1250" dirty="0"/>
          </a:p>
        </p:txBody>
      </p:sp>
      <p:sp>
        <p:nvSpPr>
          <p:cNvPr id="18" name="Shape 13"/>
          <p:cNvSpPr/>
          <p:nvPr/>
        </p:nvSpPr>
        <p:spPr>
          <a:xfrm>
            <a:off x="411480" y="5394960"/>
            <a:ext cx="438912" cy="438912"/>
          </a:xfrm>
          <a:prstGeom prst="ellipse">
            <a:avLst/>
          </a:prstGeom>
          <a:solidFill>
            <a:srgbClr val="D9F1F0"/>
          </a:solidFill>
          <a:ln w="12700">
            <a:solidFill>
              <a:srgbClr val="D9F1F0"/>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521208" y="5504688"/>
            <a:ext cx="219456" cy="219456"/>
          </a:xfrm>
          <a:prstGeom prst="rect">
            <a:avLst/>
          </a:prstGeom>
        </p:spPr>
      </p:pic>
      <p:sp>
        <p:nvSpPr>
          <p:cNvPr id="20" name="Text 14"/>
          <p:cNvSpPr/>
          <p:nvPr/>
        </p:nvSpPr>
        <p:spPr>
          <a:xfrm>
            <a:off x="987552" y="5358384"/>
            <a:ext cx="4297680" cy="530352"/>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Continuous control monitoring</a:t>
            </a:r>
            <a:endParaRPr lang="en-US" sz="1250" dirty="0"/>
          </a:p>
          <a:p>
            <a:pPr marL="0" indent="0">
              <a:buNone/>
            </a:pPr>
            <a:r>
              <a:rPr lang="en-US" sz="1100" dirty="0">
                <a:solidFill>
                  <a:srgbClr val="5B6577"/>
                </a:solidFill>
                <a:latin typeface="Calibri" pitchFamily="34" charset="0"/>
                <a:ea typeface="Calibri" pitchFamily="34" charset="-122"/>
                <a:cs typeface="Calibri" pitchFamily="34" charset="-120"/>
              </a:rPr>
              <a:t>Effectiveness evidenced by execution data, not sampling</a:t>
            </a:r>
            <a:endParaRPr lang="en-US" sz="1250" dirty="0"/>
          </a:p>
        </p:txBody>
      </p:sp>
      <p:sp>
        <p:nvSpPr>
          <p:cNvPr id="21" name="Text 15"/>
          <p:cNvSpPr/>
          <p:nvPr/>
        </p:nvSpPr>
        <p:spPr>
          <a:xfrm>
            <a:off x="5577840" y="1280160"/>
            <a:ext cx="6217920" cy="320040"/>
          </a:xfrm>
          <a:prstGeom prst="rect">
            <a:avLst/>
          </a:prstGeom>
          <a:noFill/>
          <a:ln/>
        </p:spPr>
        <p:txBody>
          <a:bodyPr wrap="square" lIns="0" tIns="0" rIns="0" bIns="0" rtlCol="0" anchor="ctr"/>
          <a:lstStyle/>
          <a:p>
            <a:pPr marL="0" indent="0">
              <a:buNone/>
            </a:pPr>
            <a:r>
              <a:rPr lang="en-US" sz="1500" b="1" dirty="0">
                <a:solidFill>
                  <a:srgbClr val="0F2043"/>
                </a:solidFill>
                <a:latin typeface="Calibri" pitchFamily="34" charset="0"/>
                <a:ea typeface="Calibri" pitchFamily="34" charset="-122"/>
                <a:cs typeface="Calibri" pitchFamily="34" charset="-120"/>
              </a:rPr>
              <a:t>The shift in operating model</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577840" y="1664208"/>
          <a:ext cx="6217920" cy="3438144"/>
        </p:xfrm>
        <a:graphic>
          <a:graphicData uri="http://schemas.openxmlformats.org/drawingml/2006/table">
            <a:tbl>
              <a:tblPr/>
              <a:tblGrid>
                <a:gridCol w="1325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42976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04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Traditional policy</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6B728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Policy as Code</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E8C8A"/>
                    </a:solidFill>
                  </a:tcPr>
                </a:tc>
                <a:extLst>
                  <a:ext uri="{0D108BD9-81ED-4DB2-BD59-A6C34878D82A}">
                    <a16:rowId xmlns:a16="http://schemas.microsoft.com/office/drawing/2014/main" val="10000"/>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Artefact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Word/PDF in a policy portal</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Structured definition (JSON/YAML/Rego) in Git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9F1F0"/>
                    </a:solidFill>
                  </a:tcPr>
                </a:tc>
                <a:extLst>
                  <a:ext uri="{0D108BD9-81ED-4DB2-BD59-A6C34878D82A}">
                    <a16:rowId xmlns:a16="http://schemas.microsoft.com/office/drawing/2014/main" val="10001"/>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Interpretation</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Each team implements its own way</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One definition, compiled to each enforcement point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8F7"/>
                    </a:solidFill>
                  </a:tcPr>
                </a:tc>
                <a:extLst>
                  <a:ext uri="{0D108BD9-81ED-4DB2-BD59-A6C34878D82A}">
                    <a16:rowId xmlns:a16="http://schemas.microsoft.com/office/drawing/2014/main" val="10002"/>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Enforcement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Manual configuration, periodic review</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Automated evaluation at runtime and deploy time</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9F1F0"/>
                    </a:solidFill>
                  </a:tcPr>
                </a:tc>
                <a:extLst>
                  <a:ext uri="{0D108BD9-81ED-4DB2-BD59-A6C34878D82A}">
                    <a16:rowId xmlns:a16="http://schemas.microsoft.com/office/drawing/2014/main" val="10003"/>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Testing</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Sample-based audit, after the fact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Conformance tests run in CI on every change</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8F7"/>
                    </a:solidFill>
                  </a:tcPr>
                </a:tc>
                <a:extLst>
                  <a:ext uri="{0D108BD9-81ED-4DB2-BD59-A6C34878D82A}">
                    <a16:rowId xmlns:a16="http://schemas.microsoft.com/office/drawing/2014/main" val="10004"/>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Change control</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Email approvals, CAB</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Pull request, peer review, signed merge, pipeline gate</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9F1F0"/>
                    </a:solidFill>
                  </a:tcPr>
                </a:tc>
                <a:extLst>
                  <a:ext uri="{0D108BD9-81ED-4DB2-BD59-A6C34878D82A}">
                    <a16:rowId xmlns:a16="http://schemas.microsoft.com/office/drawing/2014/main" val="10005"/>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Assembled manually before audit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Generated continuously as a by-product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EF8F7"/>
                    </a:solidFill>
                  </a:tcPr>
                </a:tc>
                <a:extLst>
                  <a:ext uri="{0D108BD9-81ED-4DB2-BD59-A6C34878D82A}">
                    <a16:rowId xmlns:a16="http://schemas.microsoft.com/office/drawing/2014/main" val="10006"/>
                  </a:ext>
                </a:extLst>
              </a:tr>
              <a:tr h="429768">
                <a:tc>
                  <a:txBody>
                    <a:bodyPr/>
                    <a:lstStyle/>
                    <a:p>
                      <a:pPr marL="0" indent="0">
                        <a:buNone/>
                      </a:pPr>
                      <a:r>
                        <a:rPr lang="en-US" sz="1100" b="1" dirty="0">
                          <a:solidFill>
                            <a:srgbClr val="0F2043"/>
                          </a:solidFill>
                          <a:latin typeface="Calibri" pitchFamily="34" charset="0"/>
                          <a:ea typeface="Calibri" pitchFamily="34" charset="-122"/>
                          <a:cs typeface="Calibri" pitchFamily="34" charset="-120"/>
                        </a:rPr>
                        <a:t>Drift</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5B6577"/>
                          </a:solidFill>
                          <a:latin typeface="Calibri" pitchFamily="34" charset="0"/>
                          <a:ea typeface="Calibri" pitchFamily="34" charset="-122"/>
                          <a:cs typeface="Calibri" pitchFamily="34" charset="-120"/>
                        </a:rPr>
                        <a:t>Found during audit, months later</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Detected within minutes by conformance checks</a:t>
                      </a:r>
                      <a:endParaRPr lang="en-US" sz="11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9F1F0"/>
                    </a:solidFill>
                  </a:tcPr>
                </a:tc>
                <a:extLst>
                  <a:ext uri="{0D108BD9-81ED-4DB2-BD59-A6C34878D82A}">
                    <a16:rowId xmlns:a16="http://schemas.microsoft.com/office/drawing/2014/main" val="10007"/>
                  </a:ext>
                </a:extLst>
              </a:tr>
            </a:tbl>
          </a:graphicData>
        </a:graphic>
      </p:graphicFrame>
      <p:sp>
        <p:nvSpPr>
          <p:cNvPr id="23" name="Shape 16"/>
          <p:cNvSpPr/>
          <p:nvPr/>
        </p:nvSpPr>
        <p:spPr>
          <a:xfrm>
            <a:off x="5577840" y="5349240"/>
            <a:ext cx="6217920" cy="868680"/>
          </a:xfrm>
          <a:prstGeom prst="rect">
            <a:avLst/>
          </a:prstGeom>
          <a:solidFill>
            <a:srgbClr val="FDF0DC"/>
          </a:solidFill>
          <a:ln w="12700">
            <a:solidFill>
              <a:srgbClr val="FDF0DC"/>
            </a:solidFill>
            <a:prstDash val="solid"/>
          </a:ln>
        </p:spPr>
        <p:txBody>
          <a:bodyPr/>
          <a:lstStyle/>
          <a:p>
            <a:endParaRPr lang="en-IN"/>
          </a:p>
        </p:txBody>
      </p:sp>
      <p:sp>
        <p:nvSpPr>
          <p:cNvPr id="24" name="Shape 17"/>
          <p:cNvSpPr/>
          <p:nvPr/>
        </p:nvSpPr>
        <p:spPr>
          <a:xfrm>
            <a:off x="5577840" y="5349240"/>
            <a:ext cx="73152" cy="868680"/>
          </a:xfrm>
          <a:prstGeom prst="rect">
            <a:avLst/>
          </a:prstGeom>
          <a:solidFill>
            <a:srgbClr val="D97706"/>
          </a:solidFill>
          <a:ln w="12700">
            <a:solidFill>
              <a:srgbClr val="D97706"/>
            </a:solidFill>
            <a:prstDash val="solid"/>
          </a:ln>
        </p:spPr>
        <p:txBody>
          <a:bodyPr/>
          <a:lstStyle/>
          <a:p>
            <a:endParaRPr lang="en-IN"/>
          </a:p>
        </p:txBody>
      </p:sp>
      <p:sp>
        <p:nvSpPr>
          <p:cNvPr id="25" name="Text 18"/>
          <p:cNvSpPr/>
          <p:nvPr/>
        </p:nvSpPr>
        <p:spPr>
          <a:xfrm>
            <a:off x="5806440" y="5394960"/>
            <a:ext cx="5897880" cy="777240"/>
          </a:xfrm>
          <a:prstGeom prst="rect">
            <a:avLst/>
          </a:prstGeom>
          <a:noFill/>
          <a:ln/>
        </p:spPr>
        <p:txBody>
          <a:bodyPr wrap="square" lIns="0" tIns="0" rIns="0" bIns="0" rtlCol="0" anchor="ctr"/>
          <a:lstStyle/>
          <a:p>
            <a:pPr marL="0" indent="0">
              <a:buNone/>
            </a:pPr>
            <a:r>
              <a:rPr lang="en-US" sz="1300" b="1" dirty="0">
                <a:solidFill>
                  <a:srgbClr val="8A4B00"/>
                </a:solidFill>
                <a:latin typeface="Calibri" pitchFamily="34" charset="0"/>
                <a:ea typeface="Calibri" pitchFamily="34" charset="-122"/>
                <a:cs typeface="Calibri" pitchFamily="34" charset="-120"/>
              </a:rPr>
              <a:t>Design principle: the LLM authors, the engine decides.</a:t>
            </a:r>
            <a:endParaRPr lang="en-US" sz="1300" dirty="0"/>
          </a:p>
          <a:p>
            <a:pPr marL="0" indent="0">
              <a:buNone/>
            </a:pPr>
            <a:r>
              <a:rPr lang="en-US" sz="1150" dirty="0">
                <a:solidFill>
                  <a:srgbClr val="1E293B"/>
                </a:solidFill>
                <a:latin typeface="Calibri" pitchFamily="34" charset="0"/>
                <a:ea typeface="Calibri" pitchFamily="34" charset="-122"/>
                <a:cs typeface="Calibri" pitchFamily="34" charset="-120"/>
              </a:rPr>
              <a:t>GenAI drafts rules and code for human review; runtime decisions stay deterministic and auditable.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Text 1"/>
          <p:cNvSpPr/>
          <p:nvPr/>
        </p:nvSpPr>
        <p:spPr>
          <a:xfrm>
            <a:off x="411480" y="228600"/>
            <a:ext cx="11338560" cy="54864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Industry-standard reference model for Policy as Code</a:t>
            </a:r>
            <a:endParaRPr lang="en-US" sz="2600" dirty="0"/>
          </a:p>
        </p:txBody>
      </p:sp>
      <p:sp>
        <p:nvSpPr>
          <p:cNvPr id="4" name="Text 2"/>
          <p:cNvSpPr/>
          <p:nvPr/>
        </p:nvSpPr>
        <p:spPr>
          <a:xfrm>
            <a:off x="411480" y="749808"/>
            <a:ext cx="11338560" cy="32004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Decision is separated from enforcement (NIST SP 800-207); policy is written in a declarative language and run by an open engine (OPA / Rego)</a:t>
            </a:r>
            <a:endParaRPr lang="en-US" sz="1300" dirty="0"/>
          </a:p>
        </p:txBody>
      </p:sp>
      <p:sp>
        <p:nvSpPr>
          <p:cNvPr id="5" name="Text 3"/>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2</a:t>
            </a:r>
            <a:endParaRPr lang="en-US" sz="900" dirty="0"/>
          </a:p>
        </p:txBody>
      </p:sp>
      <p:sp>
        <p:nvSpPr>
          <p:cNvPr id="6" name="Shape 4"/>
          <p:cNvSpPr/>
          <p:nvPr/>
        </p:nvSpPr>
        <p:spPr>
          <a:xfrm>
            <a:off x="411480" y="1280160"/>
            <a:ext cx="5852160" cy="3794760"/>
          </a:xfrm>
          <a:prstGeom prst="rect">
            <a:avLst/>
          </a:prstGeom>
          <a:solidFill>
            <a:srgbClr val="F6F8FB"/>
          </a:solidFill>
          <a:ln w="9525">
            <a:solidFill>
              <a:srgbClr val="CBD5E1"/>
            </a:solidFill>
            <a:prstDash val="solid"/>
          </a:ln>
        </p:spPr>
        <p:txBody>
          <a:bodyPr/>
          <a:lstStyle/>
          <a:p>
            <a:endParaRPr lang="en-IN"/>
          </a:p>
        </p:txBody>
      </p:sp>
      <p:sp>
        <p:nvSpPr>
          <p:cNvPr id="7" name="Text 5"/>
          <p:cNvSpPr/>
          <p:nvPr/>
        </p:nvSpPr>
        <p:spPr>
          <a:xfrm>
            <a:off x="594360" y="1371600"/>
            <a:ext cx="5486400" cy="292608"/>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Logical components (PAP / PDP / PEP / PIP)</a:t>
            </a:r>
            <a:endParaRPr lang="en-US" sz="1350" dirty="0"/>
          </a:p>
        </p:txBody>
      </p:sp>
      <p:sp>
        <p:nvSpPr>
          <p:cNvPr id="8" name="Shape 6"/>
          <p:cNvSpPr/>
          <p:nvPr/>
        </p:nvSpPr>
        <p:spPr>
          <a:xfrm>
            <a:off x="685800" y="1874520"/>
            <a:ext cx="1691640" cy="868680"/>
          </a:xfrm>
          <a:prstGeom prst="rect">
            <a:avLst/>
          </a:prstGeom>
          <a:solidFill>
            <a:srgbClr val="4F46E5"/>
          </a:solidFill>
          <a:ln w="12700">
            <a:solidFill>
              <a:srgbClr val="4F46E5"/>
            </a:solidFill>
            <a:prstDash val="solid"/>
          </a:ln>
          <a:effectLst>
            <a:outerShdw blurRad="50800" dist="19050" dir="8100000" algn="bl" rotWithShape="0">
              <a:srgbClr val="000000">
                <a:alpha val="12000"/>
              </a:srgbClr>
            </a:outerShdw>
          </a:effectLst>
        </p:spPr>
        <p:txBody>
          <a:bodyPr/>
          <a:lstStyle/>
          <a:p>
            <a:endParaRPr lang="en-IN"/>
          </a:p>
        </p:txBody>
      </p:sp>
      <p:sp>
        <p:nvSpPr>
          <p:cNvPr id="9" name="Text 7"/>
          <p:cNvSpPr/>
          <p:nvPr/>
        </p:nvSpPr>
        <p:spPr>
          <a:xfrm>
            <a:off x="731520" y="1874520"/>
            <a:ext cx="160020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PAP</a:t>
            </a:r>
            <a:endParaRPr lang="en-US" sz="1200" dirty="0"/>
          </a:p>
          <a:p>
            <a:pPr marL="0" indent="0" algn="ctr">
              <a:buNone/>
            </a:pPr>
            <a:r>
              <a:rPr lang="en-US" sz="950" dirty="0">
                <a:solidFill>
                  <a:srgbClr val="E0E7FF"/>
                </a:solidFill>
                <a:latin typeface="Calibri" pitchFamily="34" charset="0"/>
                <a:ea typeface="Calibri" pitchFamily="34" charset="-122"/>
                <a:cs typeface="Calibri" pitchFamily="34" charset="-120"/>
              </a:rPr>
              <a:t>Policy Administration</a:t>
            </a:r>
            <a:endParaRPr lang="en-US" sz="1200" dirty="0"/>
          </a:p>
          <a:p>
            <a:pPr marL="0" indent="0" algn="ctr">
              <a:buNone/>
            </a:pPr>
            <a:r>
              <a:rPr lang="en-US" sz="950" dirty="0">
                <a:solidFill>
                  <a:srgbClr val="E0E7FF"/>
                </a:solidFill>
                <a:latin typeface="Calibri" pitchFamily="34" charset="0"/>
                <a:ea typeface="Calibri" pitchFamily="34" charset="-122"/>
                <a:cs typeface="Calibri" pitchFamily="34" charset="-120"/>
              </a:rPr>
              <a:t>Git repo, PR, CI gates</a:t>
            </a:r>
            <a:endParaRPr lang="en-US" sz="1200" dirty="0"/>
          </a:p>
        </p:txBody>
      </p:sp>
      <p:sp>
        <p:nvSpPr>
          <p:cNvPr id="10" name="Shape 8"/>
          <p:cNvSpPr/>
          <p:nvPr/>
        </p:nvSpPr>
        <p:spPr>
          <a:xfrm>
            <a:off x="2514600" y="1874520"/>
            <a:ext cx="1691640" cy="868680"/>
          </a:xfrm>
          <a:prstGeom prst="rect">
            <a:avLst/>
          </a:prstGeom>
          <a:solidFill>
            <a:srgbClr val="0F2043"/>
          </a:solidFill>
          <a:ln w="12700">
            <a:solidFill>
              <a:srgbClr val="0F2043"/>
            </a:solidFill>
            <a:prstDash val="solid"/>
          </a:ln>
          <a:effectLst>
            <a:outerShdw blurRad="50800" dist="19050" dir="8100000" algn="bl" rotWithShape="0">
              <a:srgbClr val="000000">
                <a:alpha val="12000"/>
              </a:srgbClr>
            </a:outerShdw>
          </a:effectLst>
        </p:spPr>
        <p:txBody>
          <a:bodyPr/>
          <a:lstStyle/>
          <a:p>
            <a:endParaRPr lang="en-IN"/>
          </a:p>
        </p:txBody>
      </p:sp>
      <p:sp>
        <p:nvSpPr>
          <p:cNvPr id="11" name="Text 9"/>
          <p:cNvSpPr/>
          <p:nvPr/>
        </p:nvSpPr>
        <p:spPr>
          <a:xfrm>
            <a:off x="2560320" y="1874520"/>
            <a:ext cx="160020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PDP</a:t>
            </a:r>
            <a:endParaRPr lang="en-US" sz="1200" dirty="0"/>
          </a:p>
          <a:p>
            <a:pPr marL="0" indent="0" algn="ctr">
              <a:buNone/>
            </a:pPr>
            <a:r>
              <a:rPr lang="en-US" sz="950" dirty="0">
                <a:solidFill>
                  <a:srgbClr val="CADCFC"/>
                </a:solidFill>
                <a:latin typeface="Calibri" pitchFamily="34" charset="0"/>
                <a:ea typeface="Calibri" pitchFamily="34" charset="-122"/>
                <a:cs typeface="Calibri" pitchFamily="34" charset="-120"/>
              </a:rPr>
              <a:t>Policy Decision Point</a:t>
            </a:r>
            <a:endParaRPr lang="en-US" sz="1200" dirty="0"/>
          </a:p>
          <a:p>
            <a:pPr marL="0" indent="0" algn="ctr">
              <a:buNone/>
            </a:pPr>
            <a:r>
              <a:rPr lang="en-US" sz="950" dirty="0">
                <a:solidFill>
                  <a:srgbClr val="CADCFC"/>
                </a:solidFill>
                <a:latin typeface="Calibri" pitchFamily="34" charset="0"/>
                <a:ea typeface="Calibri" pitchFamily="34" charset="-122"/>
                <a:cs typeface="Calibri" pitchFamily="34" charset="-120"/>
              </a:rPr>
              <a:t>OPA evaluating Rego</a:t>
            </a:r>
            <a:endParaRPr lang="en-US" sz="1200" dirty="0"/>
          </a:p>
        </p:txBody>
      </p:sp>
      <p:sp>
        <p:nvSpPr>
          <p:cNvPr id="12" name="Shape 10"/>
          <p:cNvSpPr/>
          <p:nvPr/>
        </p:nvSpPr>
        <p:spPr>
          <a:xfrm>
            <a:off x="4343400" y="1874520"/>
            <a:ext cx="1691640" cy="868680"/>
          </a:xfrm>
          <a:prstGeom prst="rect">
            <a:avLst/>
          </a:prstGeom>
          <a:solidFill>
            <a:srgbClr val="7C3AED"/>
          </a:solidFill>
          <a:ln w="12700">
            <a:solidFill>
              <a:srgbClr val="7C3AED"/>
            </a:solidFill>
            <a:prstDash val="solid"/>
          </a:ln>
          <a:effectLst>
            <a:outerShdw blurRad="50800" dist="19050" dir="8100000" algn="bl" rotWithShape="0">
              <a:srgbClr val="000000">
                <a:alpha val="12000"/>
              </a:srgbClr>
            </a:outerShdw>
          </a:effectLst>
        </p:spPr>
        <p:txBody>
          <a:bodyPr/>
          <a:lstStyle/>
          <a:p>
            <a:endParaRPr lang="en-IN"/>
          </a:p>
        </p:txBody>
      </p:sp>
      <p:sp>
        <p:nvSpPr>
          <p:cNvPr id="13" name="Text 11"/>
          <p:cNvSpPr/>
          <p:nvPr/>
        </p:nvSpPr>
        <p:spPr>
          <a:xfrm>
            <a:off x="4389120" y="1874520"/>
            <a:ext cx="1600200" cy="8686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PIP</a:t>
            </a:r>
            <a:endParaRPr lang="en-US" sz="1200" dirty="0"/>
          </a:p>
          <a:p>
            <a:pPr marL="0" indent="0" algn="ctr">
              <a:buNone/>
            </a:pPr>
            <a:r>
              <a:rPr lang="en-US" sz="950" dirty="0">
                <a:solidFill>
                  <a:srgbClr val="EDE9FE"/>
                </a:solidFill>
                <a:latin typeface="Calibri" pitchFamily="34" charset="0"/>
                <a:ea typeface="Calibri" pitchFamily="34" charset="-122"/>
                <a:cs typeface="Calibri" pitchFamily="34" charset="-120"/>
              </a:rPr>
              <a:t>Policy Information</a:t>
            </a:r>
            <a:endParaRPr lang="en-US" sz="1200" dirty="0"/>
          </a:p>
          <a:p>
            <a:pPr marL="0" indent="0" algn="ctr">
              <a:buNone/>
            </a:pPr>
            <a:r>
              <a:rPr lang="en-US" sz="950" dirty="0">
                <a:solidFill>
                  <a:srgbClr val="EDE9FE"/>
                </a:solidFill>
                <a:latin typeface="Calibri" pitchFamily="34" charset="0"/>
                <a:ea typeface="Calibri" pitchFamily="34" charset="-122"/>
                <a:cs typeface="Calibri" pitchFamily="34" charset="-120"/>
              </a:rPr>
              <a:t>Context &amp; reference data</a:t>
            </a:r>
            <a:endParaRPr lang="en-US" sz="1200" dirty="0"/>
          </a:p>
        </p:txBody>
      </p:sp>
      <p:sp>
        <p:nvSpPr>
          <p:cNvPr id="14" name="Shape 12"/>
          <p:cNvSpPr/>
          <p:nvPr/>
        </p:nvSpPr>
        <p:spPr>
          <a:xfrm>
            <a:off x="2377440" y="2304288"/>
            <a:ext cx="137160" cy="0"/>
          </a:xfrm>
          <a:prstGeom prst="line">
            <a:avLst/>
          </a:prstGeom>
          <a:noFill/>
          <a:ln w="19050">
            <a:solidFill>
              <a:srgbClr val="64748B"/>
            </a:solidFill>
            <a:prstDash val="solid"/>
            <a:tailEnd type="triangle"/>
          </a:ln>
        </p:spPr>
        <p:txBody>
          <a:bodyPr/>
          <a:lstStyle/>
          <a:p>
            <a:endParaRPr lang="en-IN"/>
          </a:p>
        </p:txBody>
      </p:sp>
      <p:sp>
        <p:nvSpPr>
          <p:cNvPr id="15" name="Shape 13"/>
          <p:cNvSpPr/>
          <p:nvPr/>
        </p:nvSpPr>
        <p:spPr>
          <a:xfrm>
            <a:off x="4343400" y="2304288"/>
            <a:ext cx="0" cy="0"/>
          </a:xfrm>
          <a:prstGeom prst="line">
            <a:avLst/>
          </a:prstGeom>
          <a:noFill/>
          <a:ln w="19050">
            <a:solidFill>
              <a:srgbClr val="64748B"/>
            </a:solidFill>
            <a:prstDash val="solid"/>
            <a:tailEnd type="triangle"/>
          </a:ln>
        </p:spPr>
        <p:txBody>
          <a:bodyPr/>
          <a:lstStyle/>
          <a:p>
            <a:endParaRPr lang="en-IN"/>
          </a:p>
        </p:txBody>
      </p:sp>
      <p:sp>
        <p:nvSpPr>
          <p:cNvPr id="16" name="Text 14"/>
          <p:cNvSpPr/>
          <p:nvPr/>
        </p:nvSpPr>
        <p:spPr>
          <a:xfrm>
            <a:off x="1691640" y="2761488"/>
            <a:ext cx="1188720" cy="201168"/>
          </a:xfrm>
          <a:prstGeom prst="rect">
            <a:avLst/>
          </a:prstGeom>
          <a:noFill/>
          <a:ln/>
        </p:spPr>
        <p:txBody>
          <a:bodyPr wrap="square" lIns="0" tIns="0" rIns="0" bIns="0" rtlCol="0" anchor="ctr"/>
          <a:lstStyle/>
          <a:p>
            <a:pPr marL="0" indent="0" algn="ctr">
              <a:buNone/>
            </a:pPr>
            <a:r>
              <a:rPr lang="en-US" sz="850" dirty="0">
                <a:solidFill>
                  <a:srgbClr val="5B6577"/>
                </a:solidFill>
                <a:latin typeface="Calibri" pitchFamily="34" charset="0"/>
                <a:ea typeface="Calibri" pitchFamily="34" charset="-122"/>
                <a:cs typeface="Calibri" pitchFamily="34" charset="-120"/>
              </a:rPr>
              <a:t>publish bundle</a:t>
            </a:r>
            <a:endParaRPr lang="en-US" sz="850" dirty="0"/>
          </a:p>
        </p:txBody>
      </p:sp>
      <p:sp>
        <p:nvSpPr>
          <p:cNvPr id="17" name="Text 15"/>
          <p:cNvSpPr/>
          <p:nvPr/>
        </p:nvSpPr>
        <p:spPr>
          <a:xfrm>
            <a:off x="3840480" y="2761488"/>
            <a:ext cx="914400" cy="201168"/>
          </a:xfrm>
          <a:prstGeom prst="rect">
            <a:avLst/>
          </a:prstGeom>
          <a:noFill/>
          <a:ln/>
        </p:spPr>
        <p:txBody>
          <a:bodyPr wrap="square" lIns="0" tIns="0" rIns="0" bIns="0" rtlCol="0" anchor="ctr"/>
          <a:lstStyle/>
          <a:p>
            <a:pPr marL="0" indent="0" algn="ctr">
              <a:buNone/>
            </a:pPr>
            <a:r>
              <a:rPr lang="en-US" sz="850" dirty="0">
                <a:solidFill>
                  <a:srgbClr val="5B6577"/>
                </a:solidFill>
                <a:latin typeface="Calibri" pitchFamily="34" charset="0"/>
                <a:ea typeface="Calibri" pitchFamily="34" charset="-122"/>
                <a:cs typeface="Calibri" pitchFamily="34" charset="-120"/>
              </a:rPr>
              <a:t>context</a:t>
            </a:r>
            <a:endParaRPr lang="en-US" sz="850" dirty="0"/>
          </a:p>
        </p:txBody>
      </p:sp>
      <p:sp>
        <p:nvSpPr>
          <p:cNvPr id="18" name="Shape 16"/>
          <p:cNvSpPr/>
          <p:nvPr/>
        </p:nvSpPr>
        <p:spPr>
          <a:xfrm>
            <a:off x="685800" y="3794760"/>
            <a:ext cx="1691640" cy="822960"/>
          </a:xfrm>
          <a:prstGeom prst="rect">
            <a:avLst/>
          </a:prstGeom>
          <a:solidFill>
            <a:srgbClr val="E2E8F0"/>
          </a:solidFill>
          <a:ln w="12700">
            <a:solidFill>
              <a:srgbClr val="E2E8F0"/>
            </a:solidFill>
            <a:prstDash val="solid"/>
          </a:ln>
          <a:effectLst>
            <a:outerShdw blurRad="50800" dist="19050" dir="8100000" algn="bl" rotWithShape="0">
              <a:srgbClr val="000000">
                <a:alpha val="12000"/>
              </a:srgbClr>
            </a:outerShdw>
          </a:effectLst>
        </p:spPr>
        <p:txBody>
          <a:bodyPr/>
          <a:lstStyle/>
          <a:p>
            <a:endParaRPr lang="en-IN"/>
          </a:p>
        </p:txBody>
      </p:sp>
      <p:sp>
        <p:nvSpPr>
          <p:cNvPr id="19" name="Text 17"/>
          <p:cNvSpPr/>
          <p:nvPr/>
        </p:nvSpPr>
        <p:spPr>
          <a:xfrm>
            <a:off x="731520" y="3794760"/>
            <a:ext cx="1600200" cy="822960"/>
          </a:xfrm>
          <a:prstGeom prst="rect">
            <a:avLst/>
          </a:prstGeom>
          <a:noFill/>
          <a:ln/>
        </p:spPr>
        <p:txBody>
          <a:bodyPr wrap="square" lIns="0" tIns="0" rIns="0" bIns="0" rtlCol="0" anchor="ctr"/>
          <a:lstStyle/>
          <a:p>
            <a:pPr marL="0" indent="0" algn="ctr">
              <a:buNone/>
            </a:pPr>
            <a:r>
              <a:rPr lang="en-US" sz="1200" b="1" dirty="0">
                <a:solidFill>
                  <a:srgbClr val="0F2043"/>
                </a:solidFill>
                <a:latin typeface="Calibri" pitchFamily="34" charset="0"/>
                <a:ea typeface="Calibri" pitchFamily="34" charset="-122"/>
                <a:cs typeface="Calibri" pitchFamily="34" charset="-120"/>
              </a:rPr>
              <a:t>Subject</a:t>
            </a:r>
            <a:endParaRPr lang="en-US" sz="1200" dirty="0"/>
          </a:p>
          <a:p>
            <a:pPr marL="0" indent="0" algn="ctr">
              <a:buNone/>
            </a:pPr>
            <a:r>
              <a:rPr lang="en-US" sz="950" dirty="0">
                <a:solidFill>
                  <a:srgbClr val="5B6577"/>
                </a:solidFill>
                <a:latin typeface="Calibri" pitchFamily="34" charset="0"/>
                <a:ea typeface="Calibri" pitchFamily="34" charset="-122"/>
                <a:cs typeface="Calibri" pitchFamily="34" charset="-120"/>
              </a:rPr>
              <a:t>User, service, pipeline,</a:t>
            </a:r>
            <a:endParaRPr lang="en-US" sz="1200" dirty="0"/>
          </a:p>
          <a:p>
            <a:pPr marL="0" indent="0" algn="ctr">
              <a:buNone/>
            </a:pPr>
            <a:r>
              <a:rPr lang="en-US" sz="950" dirty="0">
                <a:solidFill>
                  <a:srgbClr val="5B6577"/>
                </a:solidFill>
                <a:latin typeface="Calibri" pitchFamily="34" charset="0"/>
                <a:ea typeface="Calibri" pitchFamily="34" charset="-122"/>
                <a:cs typeface="Calibri" pitchFamily="34" charset="-120"/>
              </a:rPr>
              <a:t>AI agent</a:t>
            </a:r>
            <a:endParaRPr lang="en-US" sz="1200" dirty="0"/>
          </a:p>
        </p:txBody>
      </p:sp>
      <p:sp>
        <p:nvSpPr>
          <p:cNvPr id="20" name="Shape 18"/>
          <p:cNvSpPr/>
          <p:nvPr/>
        </p:nvSpPr>
        <p:spPr>
          <a:xfrm>
            <a:off x="2514600" y="3794760"/>
            <a:ext cx="1691640" cy="822960"/>
          </a:xfrm>
          <a:prstGeom prst="rect">
            <a:avLst/>
          </a:prstGeom>
          <a:solidFill>
            <a:srgbClr val="0E8C8A"/>
          </a:solidFill>
          <a:ln w="12700">
            <a:solidFill>
              <a:srgbClr val="0E8C8A"/>
            </a:solidFill>
            <a:prstDash val="solid"/>
          </a:ln>
          <a:effectLst>
            <a:outerShdw blurRad="50800" dist="19050" dir="8100000" algn="bl" rotWithShape="0">
              <a:srgbClr val="000000">
                <a:alpha val="12000"/>
              </a:srgbClr>
            </a:outerShdw>
          </a:effectLst>
        </p:spPr>
        <p:txBody>
          <a:bodyPr/>
          <a:lstStyle/>
          <a:p>
            <a:endParaRPr lang="en-IN"/>
          </a:p>
        </p:txBody>
      </p:sp>
      <p:sp>
        <p:nvSpPr>
          <p:cNvPr id="21" name="Text 19"/>
          <p:cNvSpPr/>
          <p:nvPr/>
        </p:nvSpPr>
        <p:spPr>
          <a:xfrm>
            <a:off x="2560320" y="3794760"/>
            <a:ext cx="16002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PEP</a:t>
            </a:r>
            <a:endParaRPr lang="en-US" sz="1200" dirty="0"/>
          </a:p>
          <a:p>
            <a:pPr marL="0" indent="0" algn="ctr">
              <a:buNone/>
            </a:pPr>
            <a:r>
              <a:rPr lang="en-US" sz="950" dirty="0">
                <a:solidFill>
                  <a:srgbClr val="D9F1F0"/>
                </a:solidFill>
                <a:latin typeface="Calibri" pitchFamily="34" charset="0"/>
                <a:ea typeface="Calibri" pitchFamily="34" charset="-122"/>
                <a:cs typeface="Calibri" pitchFamily="34" charset="-120"/>
              </a:rPr>
              <a:t>Policy Enforcement Point</a:t>
            </a:r>
            <a:endParaRPr lang="en-US" sz="1200" dirty="0"/>
          </a:p>
          <a:p>
            <a:pPr marL="0" indent="0" algn="ctr">
              <a:buNone/>
            </a:pPr>
            <a:r>
              <a:rPr lang="en-US" sz="950" dirty="0">
                <a:solidFill>
                  <a:srgbClr val="D9F1F0"/>
                </a:solidFill>
                <a:latin typeface="Calibri" pitchFamily="34" charset="0"/>
                <a:ea typeface="Calibri" pitchFamily="34" charset="-122"/>
                <a:cs typeface="Calibri" pitchFamily="34" charset="-120"/>
              </a:rPr>
              <a:t>IdP, gateway, CI/CD</a:t>
            </a:r>
            <a:endParaRPr lang="en-US" sz="1200" dirty="0"/>
          </a:p>
        </p:txBody>
      </p:sp>
      <p:sp>
        <p:nvSpPr>
          <p:cNvPr id="22" name="Shape 20"/>
          <p:cNvSpPr/>
          <p:nvPr/>
        </p:nvSpPr>
        <p:spPr>
          <a:xfrm>
            <a:off x="4343400" y="3794760"/>
            <a:ext cx="1691640" cy="822960"/>
          </a:xfrm>
          <a:prstGeom prst="rect">
            <a:avLst/>
          </a:prstGeom>
          <a:solidFill>
            <a:srgbClr val="E2E8F0"/>
          </a:solidFill>
          <a:ln w="12700">
            <a:solidFill>
              <a:srgbClr val="E2E8F0"/>
            </a:solidFill>
            <a:prstDash val="solid"/>
          </a:ln>
          <a:effectLst>
            <a:outerShdw blurRad="50800" dist="19050" dir="8100000" algn="bl" rotWithShape="0">
              <a:srgbClr val="000000">
                <a:alpha val="12000"/>
              </a:srgbClr>
            </a:outerShdw>
          </a:effectLst>
        </p:spPr>
        <p:txBody>
          <a:bodyPr/>
          <a:lstStyle/>
          <a:p>
            <a:endParaRPr lang="en-IN"/>
          </a:p>
        </p:txBody>
      </p:sp>
      <p:sp>
        <p:nvSpPr>
          <p:cNvPr id="23" name="Text 21"/>
          <p:cNvSpPr/>
          <p:nvPr/>
        </p:nvSpPr>
        <p:spPr>
          <a:xfrm>
            <a:off x="4389120" y="3794760"/>
            <a:ext cx="1600200" cy="822960"/>
          </a:xfrm>
          <a:prstGeom prst="rect">
            <a:avLst/>
          </a:prstGeom>
          <a:noFill/>
          <a:ln/>
        </p:spPr>
        <p:txBody>
          <a:bodyPr wrap="square" lIns="0" tIns="0" rIns="0" bIns="0" rtlCol="0" anchor="ctr"/>
          <a:lstStyle/>
          <a:p>
            <a:pPr marL="0" indent="0" algn="ctr">
              <a:buNone/>
            </a:pPr>
            <a:r>
              <a:rPr lang="en-US" sz="1200" b="1" dirty="0">
                <a:solidFill>
                  <a:srgbClr val="0F2043"/>
                </a:solidFill>
                <a:latin typeface="Calibri" pitchFamily="34" charset="0"/>
                <a:ea typeface="Calibri" pitchFamily="34" charset="-122"/>
                <a:cs typeface="Calibri" pitchFamily="34" charset="-120"/>
              </a:rPr>
              <a:t>Resource</a:t>
            </a:r>
            <a:endParaRPr lang="en-US" sz="1200" dirty="0"/>
          </a:p>
          <a:p>
            <a:pPr marL="0" indent="0" algn="ctr">
              <a:buNone/>
            </a:pPr>
            <a:r>
              <a:rPr lang="en-US" sz="950" dirty="0">
                <a:solidFill>
                  <a:srgbClr val="5B6577"/>
                </a:solidFill>
                <a:latin typeface="Calibri" pitchFamily="34" charset="0"/>
                <a:ea typeface="Calibri" pitchFamily="34" charset="-122"/>
                <a:cs typeface="Calibri" pitchFamily="34" charset="-120"/>
              </a:rPr>
              <a:t>Account, API, data,</a:t>
            </a:r>
            <a:endParaRPr lang="en-US" sz="1200" dirty="0"/>
          </a:p>
          <a:p>
            <a:pPr marL="0" indent="0" algn="ctr">
              <a:buNone/>
            </a:pPr>
            <a:r>
              <a:rPr lang="en-US" sz="950" dirty="0">
                <a:solidFill>
                  <a:srgbClr val="5B6577"/>
                </a:solidFill>
                <a:latin typeface="Calibri" pitchFamily="34" charset="0"/>
                <a:ea typeface="Calibri" pitchFamily="34" charset="-122"/>
                <a:cs typeface="Calibri" pitchFamily="34" charset="-120"/>
              </a:rPr>
              <a:t>infrastructure</a:t>
            </a:r>
            <a:endParaRPr lang="en-US" sz="1200" dirty="0"/>
          </a:p>
        </p:txBody>
      </p:sp>
      <p:sp>
        <p:nvSpPr>
          <p:cNvPr id="24" name="Shape 22"/>
          <p:cNvSpPr/>
          <p:nvPr/>
        </p:nvSpPr>
        <p:spPr>
          <a:xfrm>
            <a:off x="2377440" y="4206240"/>
            <a:ext cx="137160" cy="0"/>
          </a:xfrm>
          <a:prstGeom prst="line">
            <a:avLst/>
          </a:prstGeom>
          <a:noFill/>
          <a:ln w="19050">
            <a:solidFill>
              <a:srgbClr val="64748B"/>
            </a:solidFill>
            <a:prstDash val="solid"/>
            <a:tailEnd type="triangle"/>
          </a:ln>
        </p:spPr>
        <p:txBody>
          <a:bodyPr/>
          <a:lstStyle/>
          <a:p>
            <a:endParaRPr lang="en-IN"/>
          </a:p>
        </p:txBody>
      </p:sp>
      <p:sp>
        <p:nvSpPr>
          <p:cNvPr id="25" name="Shape 23"/>
          <p:cNvSpPr/>
          <p:nvPr/>
        </p:nvSpPr>
        <p:spPr>
          <a:xfrm>
            <a:off x="4206240" y="4206240"/>
            <a:ext cx="137160" cy="0"/>
          </a:xfrm>
          <a:prstGeom prst="line">
            <a:avLst/>
          </a:prstGeom>
          <a:noFill/>
          <a:ln w="19050">
            <a:solidFill>
              <a:srgbClr val="64748B"/>
            </a:solidFill>
            <a:prstDash val="solid"/>
            <a:tailEnd type="triangle"/>
          </a:ln>
        </p:spPr>
        <p:txBody>
          <a:bodyPr/>
          <a:lstStyle/>
          <a:p>
            <a:endParaRPr lang="en-IN"/>
          </a:p>
        </p:txBody>
      </p:sp>
      <p:sp>
        <p:nvSpPr>
          <p:cNvPr id="26" name="Shape 24"/>
          <p:cNvSpPr/>
          <p:nvPr/>
        </p:nvSpPr>
        <p:spPr>
          <a:xfrm>
            <a:off x="3200400" y="3794760"/>
            <a:ext cx="0" cy="0"/>
          </a:xfrm>
          <a:prstGeom prst="line">
            <a:avLst/>
          </a:prstGeom>
          <a:noFill/>
          <a:ln w="19050">
            <a:solidFill>
              <a:srgbClr val="64748B"/>
            </a:solidFill>
            <a:prstDash val="solid"/>
            <a:tailEnd type="triangle"/>
          </a:ln>
        </p:spPr>
        <p:txBody>
          <a:bodyPr/>
          <a:lstStyle/>
          <a:p>
            <a:endParaRPr lang="en-IN"/>
          </a:p>
        </p:txBody>
      </p:sp>
      <p:sp>
        <p:nvSpPr>
          <p:cNvPr id="27" name="Shape 25"/>
          <p:cNvSpPr/>
          <p:nvPr/>
        </p:nvSpPr>
        <p:spPr>
          <a:xfrm>
            <a:off x="3520440" y="2743200"/>
            <a:ext cx="0" cy="1051560"/>
          </a:xfrm>
          <a:prstGeom prst="line">
            <a:avLst/>
          </a:prstGeom>
          <a:noFill/>
          <a:ln w="19050">
            <a:solidFill>
              <a:srgbClr val="64748B"/>
            </a:solidFill>
            <a:prstDash val="solid"/>
            <a:tailEnd type="triangle"/>
          </a:ln>
        </p:spPr>
        <p:txBody>
          <a:bodyPr/>
          <a:lstStyle/>
          <a:p>
            <a:endParaRPr lang="en-IN"/>
          </a:p>
        </p:txBody>
      </p:sp>
      <p:sp>
        <p:nvSpPr>
          <p:cNvPr id="28" name="Text 26"/>
          <p:cNvSpPr/>
          <p:nvPr/>
        </p:nvSpPr>
        <p:spPr>
          <a:xfrm>
            <a:off x="2057400" y="3154680"/>
            <a:ext cx="1097280" cy="201168"/>
          </a:xfrm>
          <a:prstGeom prst="rect">
            <a:avLst/>
          </a:prstGeom>
          <a:noFill/>
          <a:ln/>
        </p:spPr>
        <p:txBody>
          <a:bodyPr wrap="square" lIns="0" tIns="0" rIns="0" bIns="0" rtlCol="0" anchor="ctr"/>
          <a:lstStyle/>
          <a:p>
            <a:pPr marL="0" indent="0" algn="r">
              <a:buNone/>
            </a:pPr>
            <a:r>
              <a:rPr lang="en-US" sz="850" dirty="0">
                <a:solidFill>
                  <a:srgbClr val="5B6577"/>
                </a:solidFill>
                <a:latin typeface="Calibri" pitchFamily="34" charset="0"/>
                <a:ea typeface="Calibri" pitchFamily="34" charset="-122"/>
                <a:cs typeface="Calibri" pitchFamily="34" charset="-120"/>
              </a:rPr>
              <a:t>query (JSON)</a:t>
            </a:r>
            <a:endParaRPr lang="en-US" sz="850" dirty="0"/>
          </a:p>
        </p:txBody>
      </p:sp>
      <p:sp>
        <p:nvSpPr>
          <p:cNvPr id="29" name="Text 27"/>
          <p:cNvSpPr/>
          <p:nvPr/>
        </p:nvSpPr>
        <p:spPr>
          <a:xfrm>
            <a:off x="3584448" y="3154680"/>
            <a:ext cx="1463040" cy="201168"/>
          </a:xfrm>
          <a:prstGeom prst="rect">
            <a:avLst/>
          </a:prstGeom>
          <a:noFill/>
          <a:ln/>
        </p:spPr>
        <p:txBody>
          <a:bodyPr wrap="square" lIns="0" tIns="0" rIns="0" bIns="0" rtlCol="0" anchor="ctr"/>
          <a:lstStyle/>
          <a:p>
            <a:pPr marL="0" indent="0">
              <a:buNone/>
            </a:pPr>
            <a:r>
              <a:rPr lang="en-US" sz="850" dirty="0">
                <a:solidFill>
                  <a:srgbClr val="5B6577"/>
                </a:solidFill>
                <a:latin typeface="Calibri" pitchFamily="34" charset="0"/>
                <a:ea typeface="Calibri" pitchFamily="34" charset="-122"/>
                <a:cs typeface="Calibri" pitchFamily="34" charset="-120"/>
              </a:rPr>
              <a:t>allow / deny + reasons</a:t>
            </a:r>
            <a:endParaRPr lang="en-US" sz="850" dirty="0"/>
          </a:p>
        </p:txBody>
      </p:sp>
      <p:sp>
        <p:nvSpPr>
          <p:cNvPr id="30" name="Text 28"/>
          <p:cNvSpPr/>
          <p:nvPr/>
        </p:nvSpPr>
        <p:spPr>
          <a:xfrm>
            <a:off x="594360" y="4736592"/>
            <a:ext cx="5486400" cy="256032"/>
          </a:xfrm>
          <a:prstGeom prst="rect">
            <a:avLst/>
          </a:prstGeom>
          <a:noFill/>
          <a:ln/>
        </p:spPr>
        <p:txBody>
          <a:bodyPr wrap="square" lIns="0" tIns="0" rIns="0" bIns="0" rtlCol="0" anchor="ctr"/>
          <a:lstStyle/>
          <a:p>
            <a:pPr marL="0" indent="0">
              <a:buNone/>
            </a:pPr>
            <a:r>
              <a:rPr lang="en-US" sz="900" i="1" dirty="0">
                <a:solidFill>
                  <a:srgbClr val="5B6577"/>
                </a:solidFill>
                <a:latin typeface="Calibri" pitchFamily="34" charset="0"/>
                <a:ea typeface="Calibri" pitchFamily="34" charset="-122"/>
                <a:cs typeface="Calibri" pitchFamily="34" charset="-120"/>
              </a:rPr>
              <a:t>PDP / PEP / PIP per NIST SP 800-207; PAP follows the XACML access-control convention</a:t>
            </a:r>
            <a:endParaRPr lang="en-US" sz="900" dirty="0"/>
          </a:p>
        </p:txBody>
      </p:sp>
      <p:sp>
        <p:nvSpPr>
          <p:cNvPr id="31" name="Text 29"/>
          <p:cNvSpPr/>
          <p:nvPr/>
        </p:nvSpPr>
        <p:spPr>
          <a:xfrm>
            <a:off x="6537960" y="1280160"/>
            <a:ext cx="5257800" cy="292608"/>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Standards and tooling we align to</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537960" y="1645920"/>
          <a:ext cx="5257800" cy="3383280"/>
        </p:xfrm>
        <a:graphic>
          <a:graphicData uri="http://schemas.openxmlformats.org/drawingml/2006/table">
            <a:tbl>
              <a:tblPr/>
              <a:tblGrid>
                <a:gridCol w="1325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67665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043"/>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NIST SP 800-207 (Zero Trust): PDP, PEP, PIP. NIST SP 800-207A: policy at API gateways and sidecars</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extLst>
                  <a:ext uri="{0D108BD9-81ED-4DB2-BD59-A6C34878D82A}">
                    <a16:rowId xmlns:a16="http://schemas.microsoft.com/office/drawing/2014/main" val="10000"/>
                  </a:ext>
                </a:extLst>
              </a:tr>
              <a:tr h="67665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Policy engine</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3567"/>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Open Policy Agent, CNCF graduated project. Rego: declarative, JSON-native, built-in unit testing</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665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Alternatives</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043"/>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AWS Cedar, Kyverno (Kubernetes), HashiCorp Sentinel (Terraform)</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extLst>
                  <a:ext uri="{0D108BD9-81ED-4DB2-BD59-A6C34878D82A}">
                    <a16:rowId xmlns:a16="http://schemas.microsoft.com/office/drawing/2014/main" val="10002"/>
                  </a:ext>
                </a:extLst>
              </a:tr>
              <a:tr h="67665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Delivery</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C3567"/>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GitOps: pull request, peer review, CI gates, signed promotion across environments</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665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Use-case obligations</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043"/>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NIST SP 800-63B §5.1.1, ISO/IEC 27001:2022 A.5.17, PCI DSS v4.0 §8.3.4 / §8.3.6, CIS Controls v8 §5.2</a:t>
                      </a:r>
                      <a:endParaRPr lang="en-US" sz="10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6F8FB"/>
                    </a:solidFill>
                  </a:tcPr>
                </a:tc>
                <a:extLst>
                  <a:ext uri="{0D108BD9-81ED-4DB2-BD59-A6C34878D82A}">
                    <a16:rowId xmlns:a16="http://schemas.microsoft.com/office/drawing/2014/main" val="10004"/>
                  </a:ext>
                </a:extLst>
              </a:tr>
            </a:tbl>
          </a:graphicData>
        </a:graphic>
      </p:graphicFrame>
      <p:sp>
        <p:nvSpPr>
          <p:cNvPr id="33" name="Text 30"/>
          <p:cNvSpPr/>
          <p:nvPr/>
        </p:nvSpPr>
        <p:spPr>
          <a:xfrm>
            <a:off x="411480" y="5257800"/>
            <a:ext cx="36576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Policy lifecycle</a:t>
            </a:r>
            <a:endParaRPr lang="en-US" sz="1350" dirty="0"/>
          </a:p>
        </p:txBody>
      </p:sp>
      <p:sp>
        <p:nvSpPr>
          <p:cNvPr id="34" name="Shape 31"/>
          <p:cNvSpPr/>
          <p:nvPr/>
        </p:nvSpPr>
        <p:spPr>
          <a:xfrm>
            <a:off x="411480" y="5577840"/>
            <a:ext cx="1672046" cy="777240"/>
          </a:xfrm>
          <a:prstGeom prst="chevron">
            <a:avLst/>
          </a:prstGeom>
          <a:solidFill>
            <a:srgbClr val="4F46E5"/>
          </a:solidFill>
          <a:ln w="12700">
            <a:solidFill>
              <a:srgbClr val="FFFFFF"/>
            </a:solidFill>
            <a:prstDash val="solid"/>
          </a:ln>
        </p:spPr>
        <p:txBody>
          <a:bodyPr/>
          <a:lstStyle/>
          <a:p>
            <a:endParaRPr lang="en-IN"/>
          </a:p>
        </p:txBody>
      </p:sp>
      <p:sp>
        <p:nvSpPr>
          <p:cNvPr id="35" name="Text 32"/>
          <p:cNvSpPr/>
          <p:nvPr/>
        </p:nvSpPr>
        <p:spPr>
          <a:xfrm>
            <a:off x="685800"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Author</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Policy prose captured</a:t>
            </a:r>
            <a:endParaRPr lang="en-US" sz="1200" dirty="0"/>
          </a:p>
        </p:txBody>
      </p:sp>
      <p:sp>
        <p:nvSpPr>
          <p:cNvPr id="36" name="Shape 33"/>
          <p:cNvSpPr/>
          <p:nvPr/>
        </p:nvSpPr>
        <p:spPr>
          <a:xfrm>
            <a:off x="2037806" y="5577840"/>
            <a:ext cx="1672046" cy="777240"/>
          </a:xfrm>
          <a:prstGeom prst="chevron">
            <a:avLst/>
          </a:prstGeom>
          <a:solidFill>
            <a:srgbClr val="4F46E5"/>
          </a:solidFill>
          <a:ln w="12700">
            <a:solidFill>
              <a:srgbClr val="FFFFFF"/>
            </a:solidFill>
            <a:prstDash val="solid"/>
          </a:ln>
        </p:spPr>
        <p:txBody>
          <a:bodyPr/>
          <a:lstStyle/>
          <a:p>
            <a:endParaRPr lang="en-IN"/>
          </a:p>
        </p:txBody>
      </p:sp>
      <p:sp>
        <p:nvSpPr>
          <p:cNvPr id="37" name="Text 34"/>
          <p:cNvSpPr/>
          <p:nvPr/>
        </p:nvSpPr>
        <p:spPr>
          <a:xfrm>
            <a:off x="2312126"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Interpret</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Atomic rules extracted</a:t>
            </a:r>
            <a:endParaRPr lang="en-US" sz="1200" dirty="0"/>
          </a:p>
        </p:txBody>
      </p:sp>
      <p:sp>
        <p:nvSpPr>
          <p:cNvPr id="38" name="Shape 35"/>
          <p:cNvSpPr/>
          <p:nvPr/>
        </p:nvSpPr>
        <p:spPr>
          <a:xfrm>
            <a:off x="3664131" y="5577840"/>
            <a:ext cx="1672046" cy="777240"/>
          </a:xfrm>
          <a:prstGeom prst="chevron">
            <a:avLst/>
          </a:prstGeom>
          <a:solidFill>
            <a:srgbClr val="4F46E5"/>
          </a:solidFill>
          <a:ln w="12700">
            <a:solidFill>
              <a:srgbClr val="FFFFFF"/>
            </a:solidFill>
            <a:prstDash val="solid"/>
          </a:ln>
        </p:spPr>
        <p:txBody>
          <a:bodyPr/>
          <a:lstStyle/>
          <a:p>
            <a:endParaRPr lang="en-IN"/>
          </a:p>
        </p:txBody>
      </p:sp>
      <p:sp>
        <p:nvSpPr>
          <p:cNvPr id="39" name="Text 36"/>
          <p:cNvSpPr/>
          <p:nvPr/>
        </p:nvSpPr>
        <p:spPr>
          <a:xfrm>
            <a:off x="3938451"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Codify</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Rego, JSON, IaC, tests</a:t>
            </a:r>
            <a:endParaRPr lang="en-US" sz="1200" dirty="0"/>
          </a:p>
        </p:txBody>
      </p:sp>
      <p:sp>
        <p:nvSpPr>
          <p:cNvPr id="40" name="Shape 37"/>
          <p:cNvSpPr/>
          <p:nvPr/>
        </p:nvSpPr>
        <p:spPr>
          <a:xfrm>
            <a:off x="5290457" y="5577840"/>
            <a:ext cx="1672046" cy="777240"/>
          </a:xfrm>
          <a:prstGeom prst="chevron">
            <a:avLst/>
          </a:prstGeom>
          <a:solidFill>
            <a:srgbClr val="0F2043"/>
          </a:solidFill>
          <a:ln w="12700">
            <a:solidFill>
              <a:srgbClr val="FFFFFF"/>
            </a:solidFill>
            <a:prstDash val="solid"/>
          </a:ln>
        </p:spPr>
        <p:txBody>
          <a:bodyPr/>
          <a:lstStyle/>
          <a:p>
            <a:endParaRPr lang="en-IN"/>
          </a:p>
        </p:txBody>
      </p:sp>
      <p:sp>
        <p:nvSpPr>
          <p:cNvPr id="41" name="Text 38"/>
          <p:cNvSpPr/>
          <p:nvPr/>
        </p:nvSpPr>
        <p:spPr>
          <a:xfrm>
            <a:off x="5564777"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Conformance in CI</a:t>
            </a:r>
            <a:endParaRPr lang="en-US" sz="1200" dirty="0"/>
          </a:p>
        </p:txBody>
      </p:sp>
      <p:sp>
        <p:nvSpPr>
          <p:cNvPr id="42" name="Shape 39"/>
          <p:cNvSpPr/>
          <p:nvPr/>
        </p:nvSpPr>
        <p:spPr>
          <a:xfrm>
            <a:off x="6916783" y="5577840"/>
            <a:ext cx="1672046" cy="777240"/>
          </a:xfrm>
          <a:prstGeom prst="chevron">
            <a:avLst/>
          </a:prstGeom>
          <a:solidFill>
            <a:srgbClr val="0F2043"/>
          </a:solidFill>
          <a:ln w="12700">
            <a:solidFill>
              <a:srgbClr val="FFFFFF"/>
            </a:solidFill>
            <a:prstDash val="solid"/>
          </a:ln>
        </p:spPr>
        <p:txBody>
          <a:bodyPr/>
          <a:lstStyle/>
          <a:p>
            <a:endParaRPr lang="en-IN"/>
          </a:p>
        </p:txBody>
      </p:sp>
      <p:sp>
        <p:nvSpPr>
          <p:cNvPr id="43" name="Text 40"/>
          <p:cNvSpPr/>
          <p:nvPr/>
        </p:nvSpPr>
        <p:spPr>
          <a:xfrm>
            <a:off x="7191103"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Approve</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Segregation of duty</a:t>
            </a:r>
            <a:endParaRPr lang="en-US" sz="1200" dirty="0"/>
          </a:p>
        </p:txBody>
      </p:sp>
      <p:sp>
        <p:nvSpPr>
          <p:cNvPr id="44" name="Shape 41"/>
          <p:cNvSpPr/>
          <p:nvPr/>
        </p:nvSpPr>
        <p:spPr>
          <a:xfrm>
            <a:off x="8543109" y="5577840"/>
            <a:ext cx="1672046" cy="777240"/>
          </a:xfrm>
          <a:prstGeom prst="chevron">
            <a:avLst/>
          </a:prstGeom>
          <a:solidFill>
            <a:srgbClr val="0E8C8A"/>
          </a:solidFill>
          <a:ln w="12700">
            <a:solidFill>
              <a:srgbClr val="FFFFFF"/>
            </a:solidFill>
            <a:prstDash val="solid"/>
          </a:ln>
        </p:spPr>
        <p:txBody>
          <a:bodyPr/>
          <a:lstStyle/>
          <a:p>
            <a:endParaRPr lang="en-IN"/>
          </a:p>
        </p:txBody>
      </p:sp>
      <p:sp>
        <p:nvSpPr>
          <p:cNvPr id="45" name="Text 42"/>
          <p:cNvSpPr/>
          <p:nvPr/>
        </p:nvSpPr>
        <p:spPr>
          <a:xfrm>
            <a:off x="8817429"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Deploy</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Bundle to PDP / PEP</a:t>
            </a:r>
            <a:endParaRPr lang="en-US" sz="1200" dirty="0"/>
          </a:p>
        </p:txBody>
      </p:sp>
      <p:sp>
        <p:nvSpPr>
          <p:cNvPr id="46" name="Shape 43"/>
          <p:cNvSpPr/>
          <p:nvPr/>
        </p:nvSpPr>
        <p:spPr>
          <a:xfrm>
            <a:off x="10169434" y="5577840"/>
            <a:ext cx="1672046" cy="777240"/>
          </a:xfrm>
          <a:prstGeom prst="chevron">
            <a:avLst/>
          </a:prstGeom>
          <a:solidFill>
            <a:srgbClr val="0E8C8A"/>
          </a:solidFill>
          <a:ln w="12700">
            <a:solidFill>
              <a:srgbClr val="FFFFFF"/>
            </a:solidFill>
            <a:prstDash val="solid"/>
          </a:ln>
        </p:spPr>
        <p:txBody>
          <a:bodyPr/>
          <a:lstStyle/>
          <a:p>
            <a:endParaRPr lang="en-IN"/>
          </a:p>
        </p:txBody>
      </p:sp>
      <p:sp>
        <p:nvSpPr>
          <p:cNvPr id="47" name="Text 44"/>
          <p:cNvSpPr/>
          <p:nvPr/>
        </p:nvSpPr>
        <p:spPr>
          <a:xfrm>
            <a:off x="10443754" y="5577840"/>
            <a:ext cx="1214846"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Monitor</a:t>
            </a:r>
            <a:endParaRPr lang="en-US" sz="1200" dirty="0"/>
          </a:p>
          <a:p>
            <a:pPr marL="0" indent="0" algn="ctr">
              <a:buNone/>
            </a:pPr>
            <a:r>
              <a:rPr lang="en-US" sz="900" dirty="0">
                <a:solidFill>
                  <a:srgbClr val="E2E8F0"/>
                </a:solidFill>
                <a:latin typeface="Calibri" pitchFamily="34" charset="0"/>
                <a:ea typeface="Calibri" pitchFamily="34" charset="-122"/>
                <a:cs typeface="Calibri" pitchFamily="34" charset="-120"/>
              </a:rPr>
              <a:t>Drift and audit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Text 1"/>
          <p:cNvSpPr/>
          <p:nvPr/>
        </p:nvSpPr>
        <p:spPr>
          <a:xfrm>
            <a:off x="411480" y="228600"/>
            <a:ext cx="11338560" cy="54864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Target architecture: Policy-as-Code Workbench</a:t>
            </a:r>
            <a:endParaRPr lang="en-US" sz="2600" dirty="0"/>
          </a:p>
        </p:txBody>
      </p:sp>
      <p:sp>
        <p:nvSpPr>
          <p:cNvPr id="4" name="Text 2"/>
          <p:cNvSpPr/>
          <p:nvPr/>
        </p:nvSpPr>
        <p:spPr>
          <a:xfrm>
            <a:off x="411480" y="749808"/>
            <a:ext cx="11338560" cy="32004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AI-assisted authoring, Git-governed administration, deterministic OPA decisions and continuous evidence</a:t>
            </a:r>
            <a:endParaRPr lang="en-US" sz="1300" dirty="0"/>
          </a:p>
        </p:txBody>
      </p:sp>
      <p:sp>
        <p:nvSpPr>
          <p:cNvPr id="5" name="Text 3"/>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3</a:t>
            </a:r>
            <a:endParaRPr lang="en-US" sz="900" dirty="0"/>
          </a:p>
        </p:txBody>
      </p:sp>
      <p:sp>
        <p:nvSpPr>
          <p:cNvPr id="6" name="Shape 4"/>
          <p:cNvSpPr/>
          <p:nvPr/>
        </p:nvSpPr>
        <p:spPr>
          <a:xfrm>
            <a:off x="411480" y="1207008"/>
            <a:ext cx="1965960" cy="640080"/>
          </a:xfrm>
          <a:prstGeom prst="rect">
            <a:avLst/>
          </a:prstGeom>
          <a:solidFill>
            <a:srgbClr val="64748B"/>
          </a:solidFill>
          <a:ln w="12700">
            <a:solidFill>
              <a:srgbClr val="64748B"/>
            </a:solidFill>
            <a:prstDash val="solid"/>
          </a:ln>
        </p:spPr>
        <p:txBody>
          <a:bodyPr/>
          <a:lstStyle/>
          <a:p>
            <a:endParaRPr lang="en-IN"/>
          </a:p>
        </p:txBody>
      </p:sp>
      <p:sp>
        <p:nvSpPr>
          <p:cNvPr id="7" name="Text 5"/>
          <p:cNvSpPr/>
          <p:nvPr/>
        </p:nvSpPr>
        <p:spPr>
          <a:xfrm>
            <a:off x="502920" y="1207008"/>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Users &amp; roles</a:t>
            </a:r>
            <a:endParaRPr lang="en-US" sz="1050" dirty="0"/>
          </a:p>
        </p:txBody>
      </p:sp>
      <p:sp>
        <p:nvSpPr>
          <p:cNvPr id="8" name="Shape 6"/>
          <p:cNvSpPr/>
          <p:nvPr/>
        </p:nvSpPr>
        <p:spPr>
          <a:xfrm>
            <a:off x="2450592" y="1207008"/>
            <a:ext cx="7498080" cy="640080"/>
          </a:xfrm>
          <a:prstGeom prst="rect">
            <a:avLst/>
          </a:prstGeom>
          <a:solidFill>
            <a:srgbClr val="F6F8FB"/>
          </a:solidFill>
          <a:ln w="6350">
            <a:solidFill>
              <a:srgbClr val="CBD5E1"/>
            </a:solidFill>
            <a:prstDash val="solid"/>
          </a:ln>
        </p:spPr>
        <p:txBody>
          <a:bodyPr/>
          <a:lstStyle/>
          <a:p>
            <a:endParaRPr lang="en-IN"/>
          </a:p>
        </p:txBody>
      </p:sp>
      <p:sp>
        <p:nvSpPr>
          <p:cNvPr id="9" name="Shape 7"/>
          <p:cNvSpPr/>
          <p:nvPr/>
        </p:nvSpPr>
        <p:spPr>
          <a:xfrm>
            <a:off x="2523744" y="1298448"/>
            <a:ext cx="1411834" cy="457200"/>
          </a:xfrm>
          <a:prstGeom prst="rect">
            <a:avLst/>
          </a:prstGeom>
          <a:solidFill>
            <a:srgbClr val="FFFFFF"/>
          </a:solidFill>
          <a:ln w="12700">
            <a:solidFill>
              <a:srgbClr val="64748B"/>
            </a:solidFill>
            <a:prstDash val="solid"/>
          </a:ln>
        </p:spPr>
        <p:txBody>
          <a:bodyPr/>
          <a:lstStyle/>
          <a:p>
            <a:endParaRPr lang="en-IN"/>
          </a:p>
        </p:txBody>
      </p:sp>
      <p:sp>
        <p:nvSpPr>
          <p:cNvPr id="10" name="Text 8"/>
          <p:cNvSpPr/>
          <p:nvPr/>
        </p:nvSpPr>
        <p:spPr>
          <a:xfrm>
            <a:off x="2551176" y="129844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Policy Author</a:t>
            </a:r>
            <a:endParaRPr lang="en-US" sz="950" dirty="0"/>
          </a:p>
        </p:txBody>
      </p:sp>
      <p:sp>
        <p:nvSpPr>
          <p:cNvPr id="11" name="Shape 9"/>
          <p:cNvSpPr/>
          <p:nvPr/>
        </p:nvSpPr>
        <p:spPr>
          <a:xfrm>
            <a:off x="4008730" y="1298448"/>
            <a:ext cx="1411834" cy="457200"/>
          </a:xfrm>
          <a:prstGeom prst="rect">
            <a:avLst/>
          </a:prstGeom>
          <a:solidFill>
            <a:srgbClr val="FFFFFF"/>
          </a:solidFill>
          <a:ln w="12700">
            <a:solidFill>
              <a:srgbClr val="64748B"/>
            </a:solidFill>
            <a:prstDash val="solid"/>
          </a:ln>
        </p:spPr>
        <p:txBody>
          <a:bodyPr/>
          <a:lstStyle/>
          <a:p>
            <a:endParaRPr lang="en-IN"/>
          </a:p>
        </p:txBody>
      </p:sp>
      <p:sp>
        <p:nvSpPr>
          <p:cNvPr id="12" name="Text 10"/>
          <p:cNvSpPr/>
          <p:nvPr/>
        </p:nvSpPr>
        <p:spPr>
          <a:xfrm>
            <a:off x="4036162" y="129844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Reviewer</a:t>
            </a:r>
            <a:endParaRPr lang="en-US" sz="950" dirty="0"/>
          </a:p>
        </p:txBody>
      </p:sp>
      <p:sp>
        <p:nvSpPr>
          <p:cNvPr id="13" name="Shape 11"/>
          <p:cNvSpPr/>
          <p:nvPr/>
        </p:nvSpPr>
        <p:spPr>
          <a:xfrm>
            <a:off x="5493715" y="1298448"/>
            <a:ext cx="1411834" cy="457200"/>
          </a:xfrm>
          <a:prstGeom prst="rect">
            <a:avLst/>
          </a:prstGeom>
          <a:solidFill>
            <a:srgbClr val="FFFFFF"/>
          </a:solidFill>
          <a:ln w="12700">
            <a:solidFill>
              <a:srgbClr val="64748B"/>
            </a:solidFill>
            <a:prstDash val="solid"/>
          </a:ln>
        </p:spPr>
        <p:txBody>
          <a:bodyPr/>
          <a:lstStyle/>
          <a:p>
            <a:endParaRPr lang="en-IN"/>
          </a:p>
        </p:txBody>
      </p:sp>
      <p:sp>
        <p:nvSpPr>
          <p:cNvPr id="14" name="Text 12"/>
          <p:cNvSpPr/>
          <p:nvPr/>
        </p:nvSpPr>
        <p:spPr>
          <a:xfrm>
            <a:off x="5521147" y="129844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Approver (SoD)</a:t>
            </a:r>
            <a:endParaRPr lang="en-US" sz="950" dirty="0"/>
          </a:p>
        </p:txBody>
      </p:sp>
      <p:sp>
        <p:nvSpPr>
          <p:cNvPr id="15" name="Shape 13"/>
          <p:cNvSpPr/>
          <p:nvPr/>
        </p:nvSpPr>
        <p:spPr>
          <a:xfrm>
            <a:off x="6978701" y="1298448"/>
            <a:ext cx="1411834" cy="457200"/>
          </a:xfrm>
          <a:prstGeom prst="rect">
            <a:avLst/>
          </a:prstGeom>
          <a:solidFill>
            <a:srgbClr val="FFFFFF"/>
          </a:solidFill>
          <a:ln w="12700">
            <a:solidFill>
              <a:srgbClr val="64748B"/>
            </a:solidFill>
            <a:prstDash val="solid"/>
          </a:ln>
        </p:spPr>
        <p:txBody>
          <a:bodyPr/>
          <a:lstStyle/>
          <a:p>
            <a:endParaRPr lang="en-IN"/>
          </a:p>
        </p:txBody>
      </p:sp>
      <p:sp>
        <p:nvSpPr>
          <p:cNvPr id="16" name="Text 14"/>
          <p:cNvSpPr/>
          <p:nvPr/>
        </p:nvSpPr>
        <p:spPr>
          <a:xfrm>
            <a:off x="7006133" y="129844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Auditor</a:t>
            </a:r>
            <a:endParaRPr lang="en-US" sz="950" dirty="0"/>
          </a:p>
        </p:txBody>
      </p:sp>
      <p:sp>
        <p:nvSpPr>
          <p:cNvPr id="17" name="Shape 15"/>
          <p:cNvSpPr/>
          <p:nvPr/>
        </p:nvSpPr>
        <p:spPr>
          <a:xfrm>
            <a:off x="8463686" y="1298448"/>
            <a:ext cx="1411834" cy="457200"/>
          </a:xfrm>
          <a:prstGeom prst="rect">
            <a:avLst/>
          </a:prstGeom>
          <a:solidFill>
            <a:srgbClr val="FFFFFF"/>
          </a:solidFill>
          <a:ln w="12700">
            <a:solidFill>
              <a:srgbClr val="64748B"/>
            </a:solidFill>
            <a:prstDash val="solid"/>
          </a:ln>
        </p:spPr>
        <p:txBody>
          <a:bodyPr/>
          <a:lstStyle/>
          <a:p>
            <a:endParaRPr lang="en-IN"/>
          </a:p>
        </p:txBody>
      </p:sp>
      <p:sp>
        <p:nvSpPr>
          <p:cNvPr id="18" name="Text 16"/>
          <p:cNvSpPr/>
          <p:nvPr/>
        </p:nvSpPr>
        <p:spPr>
          <a:xfrm>
            <a:off x="8491118" y="129844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Control Owner</a:t>
            </a:r>
            <a:endParaRPr lang="en-US" sz="950" dirty="0"/>
          </a:p>
        </p:txBody>
      </p:sp>
      <p:sp>
        <p:nvSpPr>
          <p:cNvPr id="19" name="Shape 17"/>
          <p:cNvSpPr/>
          <p:nvPr/>
        </p:nvSpPr>
        <p:spPr>
          <a:xfrm>
            <a:off x="411480" y="1929384"/>
            <a:ext cx="1965960" cy="640080"/>
          </a:xfrm>
          <a:prstGeom prst="rect">
            <a:avLst/>
          </a:prstGeom>
          <a:solidFill>
            <a:srgbClr val="334155"/>
          </a:solidFill>
          <a:ln w="12700">
            <a:solidFill>
              <a:srgbClr val="334155"/>
            </a:solidFill>
            <a:prstDash val="solid"/>
          </a:ln>
        </p:spPr>
        <p:txBody>
          <a:bodyPr/>
          <a:lstStyle/>
          <a:p>
            <a:endParaRPr lang="en-IN"/>
          </a:p>
        </p:txBody>
      </p:sp>
      <p:sp>
        <p:nvSpPr>
          <p:cNvPr id="20" name="Text 18"/>
          <p:cNvSpPr/>
          <p:nvPr/>
        </p:nvSpPr>
        <p:spPr>
          <a:xfrm>
            <a:off x="502920" y="1929384"/>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Experience</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React + TypeScript</a:t>
            </a:r>
            <a:endParaRPr lang="en-US" sz="1050" dirty="0"/>
          </a:p>
        </p:txBody>
      </p:sp>
      <p:sp>
        <p:nvSpPr>
          <p:cNvPr id="21" name="Shape 19"/>
          <p:cNvSpPr/>
          <p:nvPr/>
        </p:nvSpPr>
        <p:spPr>
          <a:xfrm>
            <a:off x="2450592" y="1929384"/>
            <a:ext cx="7498080" cy="640080"/>
          </a:xfrm>
          <a:prstGeom prst="rect">
            <a:avLst/>
          </a:prstGeom>
          <a:solidFill>
            <a:srgbClr val="F6F8FB"/>
          </a:solidFill>
          <a:ln w="6350">
            <a:solidFill>
              <a:srgbClr val="CBD5E1"/>
            </a:solidFill>
            <a:prstDash val="solid"/>
          </a:ln>
        </p:spPr>
        <p:txBody>
          <a:bodyPr/>
          <a:lstStyle/>
          <a:p>
            <a:endParaRPr lang="en-IN"/>
          </a:p>
        </p:txBody>
      </p:sp>
      <p:sp>
        <p:nvSpPr>
          <p:cNvPr id="22" name="Shape 20"/>
          <p:cNvSpPr/>
          <p:nvPr/>
        </p:nvSpPr>
        <p:spPr>
          <a:xfrm>
            <a:off x="2523744"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23" name="Text 21"/>
          <p:cNvSpPr/>
          <p:nvPr/>
        </p:nvSpPr>
        <p:spPr>
          <a:xfrm>
            <a:off x="2551176"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Control Tower</a:t>
            </a:r>
            <a:endParaRPr lang="en-US" sz="950" dirty="0"/>
          </a:p>
        </p:txBody>
      </p:sp>
      <p:sp>
        <p:nvSpPr>
          <p:cNvPr id="24" name="Shape 22"/>
          <p:cNvSpPr/>
          <p:nvPr/>
        </p:nvSpPr>
        <p:spPr>
          <a:xfrm>
            <a:off x="3584448"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25" name="Text 23"/>
          <p:cNvSpPr/>
          <p:nvPr/>
        </p:nvSpPr>
        <p:spPr>
          <a:xfrm>
            <a:off x="3611880"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Authoring Studio</a:t>
            </a:r>
            <a:endParaRPr lang="en-US" sz="950" dirty="0"/>
          </a:p>
        </p:txBody>
      </p:sp>
      <p:sp>
        <p:nvSpPr>
          <p:cNvPr id="26" name="Shape 24"/>
          <p:cNvSpPr/>
          <p:nvPr/>
        </p:nvSpPr>
        <p:spPr>
          <a:xfrm>
            <a:off x="4645152"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27" name="Text 25"/>
          <p:cNvSpPr/>
          <p:nvPr/>
        </p:nvSpPr>
        <p:spPr>
          <a:xfrm>
            <a:off x="4672584"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Rule Canvas</a:t>
            </a:r>
            <a:endParaRPr lang="en-US" sz="950" dirty="0"/>
          </a:p>
        </p:txBody>
      </p:sp>
      <p:sp>
        <p:nvSpPr>
          <p:cNvPr id="28" name="Shape 26"/>
          <p:cNvSpPr/>
          <p:nvPr/>
        </p:nvSpPr>
        <p:spPr>
          <a:xfrm>
            <a:off x="5705856"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29" name="Text 27"/>
          <p:cNvSpPr/>
          <p:nvPr/>
        </p:nvSpPr>
        <p:spPr>
          <a:xfrm>
            <a:off x="5733288"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Codify &amp; Compile</a:t>
            </a:r>
            <a:endParaRPr lang="en-US" sz="950" dirty="0"/>
          </a:p>
        </p:txBody>
      </p:sp>
      <p:sp>
        <p:nvSpPr>
          <p:cNvPr id="30" name="Shape 28"/>
          <p:cNvSpPr/>
          <p:nvPr/>
        </p:nvSpPr>
        <p:spPr>
          <a:xfrm>
            <a:off x="6766560"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31" name="Text 29"/>
          <p:cNvSpPr/>
          <p:nvPr/>
        </p:nvSpPr>
        <p:spPr>
          <a:xfrm>
            <a:off x="6793992"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Test &amp; Simulate</a:t>
            </a:r>
            <a:endParaRPr lang="en-US" sz="950" dirty="0"/>
          </a:p>
        </p:txBody>
      </p:sp>
      <p:sp>
        <p:nvSpPr>
          <p:cNvPr id="32" name="Shape 30"/>
          <p:cNvSpPr/>
          <p:nvPr/>
        </p:nvSpPr>
        <p:spPr>
          <a:xfrm>
            <a:off x="7827264"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33" name="Text 31"/>
          <p:cNvSpPr/>
          <p:nvPr/>
        </p:nvSpPr>
        <p:spPr>
          <a:xfrm>
            <a:off x="7854696"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Traceability</a:t>
            </a:r>
            <a:endParaRPr lang="en-US" sz="950" dirty="0"/>
          </a:p>
        </p:txBody>
      </p:sp>
      <p:sp>
        <p:nvSpPr>
          <p:cNvPr id="34" name="Shape 32"/>
          <p:cNvSpPr/>
          <p:nvPr/>
        </p:nvSpPr>
        <p:spPr>
          <a:xfrm>
            <a:off x="8887968" y="2020824"/>
            <a:ext cx="987552" cy="457200"/>
          </a:xfrm>
          <a:prstGeom prst="rect">
            <a:avLst/>
          </a:prstGeom>
          <a:solidFill>
            <a:srgbClr val="FFFFFF"/>
          </a:solidFill>
          <a:ln w="12700">
            <a:solidFill>
              <a:srgbClr val="334155"/>
            </a:solidFill>
            <a:prstDash val="solid"/>
          </a:ln>
        </p:spPr>
        <p:txBody>
          <a:bodyPr/>
          <a:lstStyle/>
          <a:p>
            <a:endParaRPr lang="en-IN"/>
          </a:p>
        </p:txBody>
      </p:sp>
      <p:sp>
        <p:nvSpPr>
          <p:cNvPr id="35" name="Text 33"/>
          <p:cNvSpPr/>
          <p:nvPr/>
        </p:nvSpPr>
        <p:spPr>
          <a:xfrm>
            <a:off x="8915400" y="2020824"/>
            <a:ext cx="932688"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Audit Trail</a:t>
            </a:r>
            <a:endParaRPr lang="en-US" sz="950" dirty="0"/>
          </a:p>
        </p:txBody>
      </p:sp>
      <p:sp>
        <p:nvSpPr>
          <p:cNvPr id="36" name="Shape 34"/>
          <p:cNvSpPr/>
          <p:nvPr/>
        </p:nvSpPr>
        <p:spPr>
          <a:xfrm>
            <a:off x="411480" y="2651760"/>
            <a:ext cx="1965960" cy="640080"/>
          </a:xfrm>
          <a:prstGeom prst="rect">
            <a:avLst/>
          </a:prstGeom>
          <a:solidFill>
            <a:srgbClr val="D97706"/>
          </a:solidFill>
          <a:ln w="12700">
            <a:solidFill>
              <a:srgbClr val="D97706"/>
            </a:solidFill>
            <a:prstDash val="solid"/>
          </a:ln>
        </p:spPr>
        <p:txBody>
          <a:bodyPr/>
          <a:lstStyle/>
          <a:p>
            <a:endParaRPr lang="en-IN"/>
          </a:p>
        </p:txBody>
      </p:sp>
      <p:sp>
        <p:nvSpPr>
          <p:cNvPr id="37" name="Text 35"/>
          <p:cNvSpPr/>
          <p:nvPr/>
        </p:nvSpPr>
        <p:spPr>
          <a:xfrm>
            <a:off x="502920" y="2651760"/>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AI authoring</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Azure OpenAI + LangGraph</a:t>
            </a:r>
            <a:endParaRPr lang="en-US" sz="1050" dirty="0"/>
          </a:p>
        </p:txBody>
      </p:sp>
      <p:sp>
        <p:nvSpPr>
          <p:cNvPr id="38" name="Shape 36"/>
          <p:cNvSpPr/>
          <p:nvPr/>
        </p:nvSpPr>
        <p:spPr>
          <a:xfrm>
            <a:off x="2450592" y="2651760"/>
            <a:ext cx="7498080" cy="640080"/>
          </a:xfrm>
          <a:prstGeom prst="rect">
            <a:avLst/>
          </a:prstGeom>
          <a:solidFill>
            <a:srgbClr val="F6F8FB"/>
          </a:solidFill>
          <a:ln w="6350">
            <a:solidFill>
              <a:srgbClr val="CBD5E1"/>
            </a:solidFill>
            <a:prstDash val="solid"/>
          </a:ln>
        </p:spPr>
        <p:txBody>
          <a:bodyPr/>
          <a:lstStyle/>
          <a:p>
            <a:endParaRPr lang="en-IN"/>
          </a:p>
        </p:txBody>
      </p:sp>
      <p:sp>
        <p:nvSpPr>
          <p:cNvPr id="39" name="Shape 37"/>
          <p:cNvSpPr/>
          <p:nvPr/>
        </p:nvSpPr>
        <p:spPr>
          <a:xfrm>
            <a:off x="2523744" y="2743200"/>
            <a:ext cx="1228954" cy="457200"/>
          </a:xfrm>
          <a:prstGeom prst="rect">
            <a:avLst/>
          </a:prstGeom>
          <a:solidFill>
            <a:srgbClr val="FFFFFF"/>
          </a:solidFill>
          <a:ln w="12700">
            <a:solidFill>
              <a:srgbClr val="D97706"/>
            </a:solidFill>
            <a:prstDash val="solid"/>
          </a:ln>
        </p:spPr>
        <p:txBody>
          <a:bodyPr/>
          <a:lstStyle/>
          <a:p>
            <a:endParaRPr lang="en-IN"/>
          </a:p>
        </p:txBody>
      </p:sp>
      <p:sp>
        <p:nvSpPr>
          <p:cNvPr id="40" name="Text 38"/>
          <p:cNvSpPr/>
          <p:nvPr/>
        </p:nvSpPr>
        <p:spPr>
          <a:xfrm>
            <a:off x="2551176" y="2743200"/>
            <a:ext cx="117409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Rule Extraction</a:t>
            </a:r>
            <a:endParaRPr lang="en-US" sz="950" dirty="0"/>
          </a:p>
        </p:txBody>
      </p:sp>
      <p:sp>
        <p:nvSpPr>
          <p:cNvPr id="41" name="Shape 39"/>
          <p:cNvSpPr/>
          <p:nvPr/>
        </p:nvSpPr>
        <p:spPr>
          <a:xfrm>
            <a:off x="3825850" y="2743200"/>
            <a:ext cx="1228954" cy="457200"/>
          </a:xfrm>
          <a:prstGeom prst="rect">
            <a:avLst/>
          </a:prstGeom>
          <a:solidFill>
            <a:srgbClr val="FFFFFF"/>
          </a:solidFill>
          <a:ln w="12700">
            <a:solidFill>
              <a:srgbClr val="D97706"/>
            </a:solidFill>
            <a:prstDash val="solid"/>
          </a:ln>
        </p:spPr>
        <p:txBody>
          <a:bodyPr/>
          <a:lstStyle/>
          <a:p>
            <a:endParaRPr lang="en-IN"/>
          </a:p>
        </p:txBody>
      </p:sp>
      <p:sp>
        <p:nvSpPr>
          <p:cNvPr id="42" name="Text 40"/>
          <p:cNvSpPr/>
          <p:nvPr/>
        </p:nvSpPr>
        <p:spPr>
          <a:xfrm>
            <a:off x="3853282" y="2743200"/>
            <a:ext cx="117409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Codification</a:t>
            </a:r>
            <a:endParaRPr lang="en-US" sz="950" dirty="0"/>
          </a:p>
        </p:txBody>
      </p:sp>
      <p:sp>
        <p:nvSpPr>
          <p:cNvPr id="43" name="Shape 41"/>
          <p:cNvSpPr/>
          <p:nvPr/>
        </p:nvSpPr>
        <p:spPr>
          <a:xfrm>
            <a:off x="5127955" y="2743200"/>
            <a:ext cx="1228954" cy="457200"/>
          </a:xfrm>
          <a:prstGeom prst="rect">
            <a:avLst/>
          </a:prstGeom>
          <a:solidFill>
            <a:srgbClr val="FFFFFF"/>
          </a:solidFill>
          <a:ln w="12700">
            <a:solidFill>
              <a:srgbClr val="D97706"/>
            </a:solidFill>
            <a:prstDash val="solid"/>
          </a:ln>
        </p:spPr>
        <p:txBody>
          <a:bodyPr/>
          <a:lstStyle/>
          <a:p>
            <a:endParaRPr lang="en-IN"/>
          </a:p>
        </p:txBody>
      </p:sp>
      <p:sp>
        <p:nvSpPr>
          <p:cNvPr id="44" name="Text 42"/>
          <p:cNvSpPr/>
          <p:nvPr/>
        </p:nvSpPr>
        <p:spPr>
          <a:xfrm>
            <a:off x="5155387" y="2743200"/>
            <a:ext cx="117409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Control Mapping</a:t>
            </a:r>
            <a:endParaRPr lang="en-US" sz="950" dirty="0"/>
          </a:p>
        </p:txBody>
      </p:sp>
      <p:sp>
        <p:nvSpPr>
          <p:cNvPr id="45" name="Shape 43"/>
          <p:cNvSpPr/>
          <p:nvPr/>
        </p:nvSpPr>
        <p:spPr>
          <a:xfrm>
            <a:off x="6430061" y="2743200"/>
            <a:ext cx="1228954" cy="457200"/>
          </a:xfrm>
          <a:prstGeom prst="rect">
            <a:avLst/>
          </a:prstGeom>
          <a:solidFill>
            <a:srgbClr val="FFFFFF"/>
          </a:solidFill>
          <a:ln w="12700">
            <a:solidFill>
              <a:srgbClr val="D97706"/>
            </a:solidFill>
            <a:prstDash val="solid"/>
          </a:ln>
        </p:spPr>
        <p:txBody>
          <a:bodyPr/>
          <a:lstStyle/>
          <a:p>
            <a:endParaRPr lang="en-IN"/>
          </a:p>
        </p:txBody>
      </p:sp>
      <p:sp>
        <p:nvSpPr>
          <p:cNvPr id="46" name="Text 44"/>
          <p:cNvSpPr/>
          <p:nvPr/>
        </p:nvSpPr>
        <p:spPr>
          <a:xfrm>
            <a:off x="6457493" y="2743200"/>
            <a:ext cx="117409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Impact Explanation</a:t>
            </a:r>
            <a:endParaRPr lang="en-US" sz="950" dirty="0"/>
          </a:p>
        </p:txBody>
      </p:sp>
      <p:sp>
        <p:nvSpPr>
          <p:cNvPr id="47" name="Shape 45"/>
          <p:cNvSpPr/>
          <p:nvPr/>
        </p:nvSpPr>
        <p:spPr>
          <a:xfrm>
            <a:off x="7732166" y="2743200"/>
            <a:ext cx="1228954" cy="457200"/>
          </a:xfrm>
          <a:prstGeom prst="rect">
            <a:avLst/>
          </a:prstGeom>
          <a:solidFill>
            <a:srgbClr val="FFFFFF"/>
          </a:solidFill>
          <a:ln w="12700">
            <a:solidFill>
              <a:srgbClr val="D97706"/>
            </a:solidFill>
            <a:prstDash val="solid"/>
          </a:ln>
        </p:spPr>
        <p:txBody>
          <a:bodyPr/>
          <a:lstStyle/>
          <a:p>
            <a:endParaRPr lang="en-IN"/>
          </a:p>
        </p:txBody>
      </p:sp>
      <p:sp>
        <p:nvSpPr>
          <p:cNvPr id="48" name="Text 46"/>
          <p:cNvSpPr/>
          <p:nvPr/>
        </p:nvSpPr>
        <p:spPr>
          <a:xfrm>
            <a:off x="7759598" y="2743200"/>
            <a:ext cx="117409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Drift Analysis</a:t>
            </a:r>
            <a:endParaRPr lang="en-US" sz="950" dirty="0"/>
          </a:p>
        </p:txBody>
      </p:sp>
      <p:sp>
        <p:nvSpPr>
          <p:cNvPr id="49" name="Shape 47"/>
          <p:cNvSpPr/>
          <p:nvPr/>
        </p:nvSpPr>
        <p:spPr>
          <a:xfrm>
            <a:off x="9034272" y="2743200"/>
            <a:ext cx="841248" cy="457200"/>
          </a:xfrm>
          <a:prstGeom prst="rect">
            <a:avLst/>
          </a:prstGeom>
          <a:solidFill>
            <a:srgbClr val="FDF0DC"/>
          </a:solidFill>
          <a:ln w="12700">
            <a:solidFill>
              <a:srgbClr val="D97706"/>
            </a:solidFill>
            <a:prstDash val="dash"/>
          </a:ln>
        </p:spPr>
        <p:txBody>
          <a:bodyPr/>
          <a:lstStyle/>
          <a:p>
            <a:endParaRPr lang="en-IN"/>
          </a:p>
        </p:txBody>
      </p:sp>
      <p:sp>
        <p:nvSpPr>
          <p:cNvPr id="50" name="Text 48"/>
          <p:cNvSpPr/>
          <p:nvPr/>
        </p:nvSpPr>
        <p:spPr>
          <a:xfrm>
            <a:off x="9034272" y="2743200"/>
            <a:ext cx="841248" cy="457200"/>
          </a:xfrm>
          <a:prstGeom prst="rect">
            <a:avLst/>
          </a:prstGeom>
          <a:noFill/>
          <a:ln/>
        </p:spPr>
        <p:txBody>
          <a:bodyPr wrap="square" lIns="0" tIns="0" rIns="0" bIns="0" rtlCol="0" anchor="ctr"/>
          <a:lstStyle/>
          <a:p>
            <a:pPr marL="0" indent="0" algn="ctr">
              <a:buNone/>
            </a:pPr>
            <a:r>
              <a:rPr lang="en-US" sz="800" b="1" dirty="0">
                <a:solidFill>
                  <a:srgbClr val="8A4B00"/>
                </a:solidFill>
                <a:latin typeface="Calibri" pitchFamily="34" charset="0"/>
                <a:ea typeface="Calibri" pitchFamily="34" charset="-122"/>
                <a:cs typeface="Calibri" pitchFamily="34" charset="-120"/>
              </a:rPr>
              <a:t>Proposes only</a:t>
            </a:r>
            <a:endParaRPr lang="en-US" sz="800" dirty="0"/>
          </a:p>
          <a:p>
            <a:pPr marL="0" indent="0" algn="ctr">
              <a:buNone/>
            </a:pPr>
            <a:r>
              <a:rPr lang="en-US" sz="800" b="1" dirty="0">
                <a:solidFill>
                  <a:srgbClr val="8A4B00"/>
                </a:solidFill>
                <a:latin typeface="Calibri" pitchFamily="34" charset="0"/>
                <a:ea typeface="Calibri" pitchFamily="34" charset="-122"/>
                <a:cs typeface="Calibri" pitchFamily="34" charset="-120"/>
              </a:rPr>
              <a:t>no runtime decisions</a:t>
            </a:r>
            <a:endParaRPr lang="en-US" sz="800" dirty="0"/>
          </a:p>
        </p:txBody>
      </p:sp>
      <p:sp>
        <p:nvSpPr>
          <p:cNvPr id="51" name="Shape 49"/>
          <p:cNvSpPr/>
          <p:nvPr/>
        </p:nvSpPr>
        <p:spPr>
          <a:xfrm>
            <a:off x="411480" y="3374136"/>
            <a:ext cx="1965960" cy="640080"/>
          </a:xfrm>
          <a:prstGeom prst="rect">
            <a:avLst/>
          </a:prstGeom>
          <a:solidFill>
            <a:srgbClr val="4F46E5"/>
          </a:solidFill>
          <a:ln w="12700">
            <a:solidFill>
              <a:srgbClr val="4F46E5"/>
            </a:solidFill>
            <a:prstDash val="solid"/>
          </a:ln>
        </p:spPr>
        <p:txBody>
          <a:bodyPr/>
          <a:lstStyle/>
          <a:p>
            <a:endParaRPr lang="en-IN"/>
          </a:p>
        </p:txBody>
      </p:sp>
      <p:sp>
        <p:nvSpPr>
          <p:cNvPr id="52" name="Text 50"/>
          <p:cNvSpPr/>
          <p:nvPr/>
        </p:nvSpPr>
        <p:spPr>
          <a:xfrm>
            <a:off x="502920" y="3374136"/>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Policy administration (PAP)</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FastAPI</a:t>
            </a:r>
            <a:endParaRPr lang="en-US" sz="1050" dirty="0"/>
          </a:p>
        </p:txBody>
      </p:sp>
      <p:sp>
        <p:nvSpPr>
          <p:cNvPr id="53" name="Shape 51"/>
          <p:cNvSpPr/>
          <p:nvPr/>
        </p:nvSpPr>
        <p:spPr>
          <a:xfrm>
            <a:off x="2450592" y="3374136"/>
            <a:ext cx="7498080" cy="640080"/>
          </a:xfrm>
          <a:prstGeom prst="rect">
            <a:avLst/>
          </a:prstGeom>
          <a:solidFill>
            <a:srgbClr val="F6F8FB"/>
          </a:solidFill>
          <a:ln w="6350">
            <a:solidFill>
              <a:srgbClr val="CBD5E1"/>
            </a:solidFill>
            <a:prstDash val="solid"/>
          </a:ln>
        </p:spPr>
        <p:txBody>
          <a:bodyPr/>
          <a:lstStyle/>
          <a:p>
            <a:endParaRPr lang="en-IN"/>
          </a:p>
        </p:txBody>
      </p:sp>
      <p:sp>
        <p:nvSpPr>
          <p:cNvPr id="54" name="Shape 52"/>
          <p:cNvSpPr/>
          <p:nvPr/>
        </p:nvSpPr>
        <p:spPr>
          <a:xfrm>
            <a:off x="2523744" y="3465576"/>
            <a:ext cx="1411834" cy="457200"/>
          </a:xfrm>
          <a:prstGeom prst="rect">
            <a:avLst/>
          </a:prstGeom>
          <a:solidFill>
            <a:srgbClr val="FFFFFF"/>
          </a:solidFill>
          <a:ln w="12700">
            <a:solidFill>
              <a:srgbClr val="4F46E5"/>
            </a:solidFill>
            <a:prstDash val="solid"/>
          </a:ln>
        </p:spPr>
        <p:txBody>
          <a:bodyPr/>
          <a:lstStyle/>
          <a:p>
            <a:endParaRPr lang="en-IN"/>
          </a:p>
        </p:txBody>
      </p:sp>
      <p:sp>
        <p:nvSpPr>
          <p:cNvPr id="55" name="Text 53"/>
          <p:cNvSpPr/>
          <p:nvPr/>
        </p:nvSpPr>
        <p:spPr>
          <a:xfrm>
            <a:off x="2551176" y="3465576"/>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Policy object &amp; versions</a:t>
            </a:r>
            <a:endParaRPr lang="en-US" sz="950" dirty="0"/>
          </a:p>
        </p:txBody>
      </p:sp>
      <p:sp>
        <p:nvSpPr>
          <p:cNvPr id="56" name="Shape 54"/>
          <p:cNvSpPr/>
          <p:nvPr/>
        </p:nvSpPr>
        <p:spPr>
          <a:xfrm>
            <a:off x="4008730" y="3465576"/>
            <a:ext cx="1411834" cy="457200"/>
          </a:xfrm>
          <a:prstGeom prst="rect">
            <a:avLst/>
          </a:prstGeom>
          <a:solidFill>
            <a:srgbClr val="FFFFFF"/>
          </a:solidFill>
          <a:ln w="12700">
            <a:solidFill>
              <a:srgbClr val="4F46E5"/>
            </a:solidFill>
            <a:prstDash val="solid"/>
          </a:ln>
        </p:spPr>
        <p:txBody>
          <a:bodyPr/>
          <a:lstStyle/>
          <a:p>
            <a:endParaRPr lang="en-IN"/>
          </a:p>
        </p:txBody>
      </p:sp>
      <p:sp>
        <p:nvSpPr>
          <p:cNvPr id="57" name="Text 55"/>
          <p:cNvSpPr/>
          <p:nvPr/>
        </p:nvSpPr>
        <p:spPr>
          <a:xfrm>
            <a:off x="4036162" y="3465576"/>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Git repo &amp; pull requests</a:t>
            </a:r>
            <a:endParaRPr lang="en-US" sz="950" dirty="0"/>
          </a:p>
        </p:txBody>
      </p:sp>
      <p:sp>
        <p:nvSpPr>
          <p:cNvPr id="58" name="Shape 56"/>
          <p:cNvSpPr/>
          <p:nvPr/>
        </p:nvSpPr>
        <p:spPr>
          <a:xfrm>
            <a:off x="5493715" y="3465576"/>
            <a:ext cx="1411834" cy="457200"/>
          </a:xfrm>
          <a:prstGeom prst="rect">
            <a:avLst/>
          </a:prstGeom>
          <a:solidFill>
            <a:srgbClr val="FFFFFF"/>
          </a:solidFill>
          <a:ln w="12700">
            <a:solidFill>
              <a:srgbClr val="4F46E5"/>
            </a:solidFill>
            <a:prstDash val="solid"/>
          </a:ln>
        </p:spPr>
        <p:txBody>
          <a:bodyPr/>
          <a:lstStyle/>
          <a:p>
            <a:endParaRPr lang="en-IN"/>
          </a:p>
        </p:txBody>
      </p:sp>
      <p:sp>
        <p:nvSpPr>
          <p:cNvPr id="59" name="Text 57"/>
          <p:cNvSpPr/>
          <p:nvPr/>
        </p:nvSpPr>
        <p:spPr>
          <a:xfrm>
            <a:off x="5521147" y="3465576"/>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CI gates: schema, tests, coverage, baseline</a:t>
            </a:r>
            <a:endParaRPr lang="en-US" sz="950" dirty="0"/>
          </a:p>
        </p:txBody>
      </p:sp>
      <p:sp>
        <p:nvSpPr>
          <p:cNvPr id="60" name="Shape 58"/>
          <p:cNvSpPr/>
          <p:nvPr/>
        </p:nvSpPr>
        <p:spPr>
          <a:xfrm>
            <a:off x="6978701" y="3465576"/>
            <a:ext cx="1411834" cy="457200"/>
          </a:xfrm>
          <a:prstGeom prst="rect">
            <a:avLst/>
          </a:prstGeom>
          <a:solidFill>
            <a:srgbClr val="FFFFFF"/>
          </a:solidFill>
          <a:ln w="12700">
            <a:solidFill>
              <a:srgbClr val="4F46E5"/>
            </a:solidFill>
            <a:prstDash val="solid"/>
          </a:ln>
        </p:spPr>
        <p:txBody>
          <a:bodyPr/>
          <a:lstStyle/>
          <a:p>
            <a:endParaRPr lang="en-IN"/>
          </a:p>
        </p:txBody>
      </p:sp>
      <p:sp>
        <p:nvSpPr>
          <p:cNvPr id="61" name="Text 59"/>
          <p:cNvSpPr/>
          <p:nvPr/>
        </p:nvSpPr>
        <p:spPr>
          <a:xfrm>
            <a:off x="7006133" y="3465576"/>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Exceptions register</a:t>
            </a:r>
            <a:endParaRPr lang="en-US" sz="950" dirty="0"/>
          </a:p>
        </p:txBody>
      </p:sp>
      <p:sp>
        <p:nvSpPr>
          <p:cNvPr id="62" name="Shape 60"/>
          <p:cNvSpPr/>
          <p:nvPr/>
        </p:nvSpPr>
        <p:spPr>
          <a:xfrm>
            <a:off x="8463686" y="3465576"/>
            <a:ext cx="1411834" cy="457200"/>
          </a:xfrm>
          <a:prstGeom prst="rect">
            <a:avLst/>
          </a:prstGeom>
          <a:solidFill>
            <a:srgbClr val="FFFFFF"/>
          </a:solidFill>
          <a:ln w="12700">
            <a:solidFill>
              <a:srgbClr val="4F46E5"/>
            </a:solidFill>
            <a:prstDash val="solid"/>
          </a:ln>
        </p:spPr>
        <p:txBody>
          <a:bodyPr/>
          <a:lstStyle/>
          <a:p>
            <a:endParaRPr lang="en-IN"/>
          </a:p>
        </p:txBody>
      </p:sp>
      <p:sp>
        <p:nvSpPr>
          <p:cNvPr id="63" name="Text 61"/>
          <p:cNvSpPr/>
          <p:nvPr/>
        </p:nvSpPr>
        <p:spPr>
          <a:xfrm>
            <a:off x="8491118" y="3465576"/>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Promotion DEV→SIT→UAT→PROD</a:t>
            </a:r>
            <a:endParaRPr lang="en-US" sz="950" dirty="0"/>
          </a:p>
        </p:txBody>
      </p:sp>
      <p:sp>
        <p:nvSpPr>
          <p:cNvPr id="64" name="Shape 62"/>
          <p:cNvSpPr/>
          <p:nvPr/>
        </p:nvSpPr>
        <p:spPr>
          <a:xfrm>
            <a:off x="411480" y="4096512"/>
            <a:ext cx="1965960" cy="640080"/>
          </a:xfrm>
          <a:prstGeom prst="rect">
            <a:avLst/>
          </a:prstGeom>
          <a:solidFill>
            <a:srgbClr val="0F2043"/>
          </a:solidFill>
          <a:ln w="12700">
            <a:solidFill>
              <a:srgbClr val="0F2043"/>
            </a:solidFill>
            <a:prstDash val="solid"/>
          </a:ln>
        </p:spPr>
        <p:txBody>
          <a:bodyPr/>
          <a:lstStyle/>
          <a:p>
            <a:endParaRPr lang="en-IN"/>
          </a:p>
        </p:txBody>
      </p:sp>
      <p:sp>
        <p:nvSpPr>
          <p:cNvPr id="65" name="Text 63"/>
          <p:cNvSpPr/>
          <p:nvPr/>
        </p:nvSpPr>
        <p:spPr>
          <a:xfrm>
            <a:off x="502920" y="4096512"/>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Decision (PDP) &amp; information (PIP)</a:t>
            </a:r>
            <a:endParaRPr lang="en-US" sz="1050" dirty="0"/>
          </a:p>
        </p:txBody>
      </p:sp>
      <p:sp>
        <p:nvSpPr>
          <p:cNvPr id="66" name="Shape 64"/>
          <p:cNvSpPr/>
          <p:nvPr/>
        </p:nvSpPr>
        <p:spPr>
          <a:xfrm>
            <a:off x="2450592" y="4096512"/>
            <a:ext cx="7498080" cy="640080"/>
          </a:xfrm>
          <a:prstGeom prst="rect">
            <a:avLst/>
          </a:prstGeom>
          <a:solidFill>
            <a:srgbClr val="F6F8FB"/>
          </a:solidFill>
          <a:ln w="6350">
            <a:solidFill>
              <a:srgbClr val="CBD5E1"/>
            </a:solidFill>
            <a:prstDash val="solid"/>
          </a:ln>
        </p:spPr>
        <p:txBody>
          <a:bodyPr/>
          <a:lstStyle/>
          <a:p>
            <a:endParaRPr lang="en-IN"/>
          </a:p>
        </p:txBody>
      </p:sp>
      <p:sp>
        <p:nvSpPr>
          <p:cNvPr id="67" name="Shape 65"/>
          <p:cNvSpPr/>
          <p:nvPr/>
        </p:nvSpPr>
        <p:spPr>
          <a:xfrm>
            <a:off x="2523744" y="4187952"/>
            <a:ext cx="1411834" cy="457200"/>
          </a:xfrm>
          <a:prstGeom prst="rect">
            <a:avLst/>
          </a:prstGeom>
          <a:solidFill>
            <a:srgbClr val="FFFFFF"/>
          </a:solidFill>
          <a:ln w="12700">
            <a:solidFill>
              <a:srgbClr val="0F2043"/>
            </a:solidFill>
            <a:prstDash val="solid"/>
          </a:ln>
        </p:spPr>
        <p:txBody>
          <a:bodyPr/>
          <a:lstStyle/>
          <a:p>
            <a:endParaRPr lang="en-IN"/>
          </a:p>
        </p:txBody>
      </p:sp>
      <p:sp>
        <p:nvSpPr>
          <p:cNvPr id="68" name="Text 66"/>
          <p:cNvSpPr/>
          <p:nvPr/>
        </p:nvSpPr>
        <p:spPr>
          <a:xfrm>
            <a:off x="2551176" y="4187952"/>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OPA engine + Rego bundles</a:t>
            </a:r>
            <a:endParaRPr lang="en-US" sz="950" dirty="0"/>
          </a:p>
        </p:txBody>
      </p:sp>
      <p:sp>
        <p:nvSpPr>
          <p:cNvPr id="69" name="Shape 67"/>
          <p:cNvSpPr/>
          <p:nvPr/>
        </p:nvSpPr>
        <p:spPr>
          <a:xfrm>
            <a:off x="4008730" y="4187952"/>
            <a:ext cx="1411834" cy="457200"/>
          </a:xfrm>
          <a:prstGeom prst="rect">
            <a:avLst/>
          </a:prstGeom>
          <a:solidFill>
            <a:srgbClr val="FFFFFF"/>
          </a:solidFill>
          <a:ln w="12700">
            <a:solidFill>
              <a:srgbClr val="0F2043"/>
            </a:solidFill>
            <a:prstDash val="solid"/>
          </a:ln>
        </p:spPr>
        <p:txBody>
          <a:bodyPr/>
          <a:lstStyle/>
          <a:p>
            <a:endParaRPr lang="en-IN"/>
          </a:p>
        </p:txBody>
      </p:sp>
      <p:sp>
        <p:nvSpPr>
          <p:cNvPr id="70" name="Text 68"/>
          <p:cNvSpPr/>
          <p:nvPr/>
        </p:nvSpPr>
        <p:spPr>
          <a:xfrm>
            <a:off x="4036162" y="4187952"/>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Decision API (allow/deny + reasons)</a:t>
            </a:r>
            <a:endParaRPr lang="en-US" sz="950" dirty="0"/>
          </a:p>
        </p:txBody>
      </p:sp>
      <p:sp>
        <p:nvSpPr>
          <p:cNvPr id="71" name="Shape 69"/>
          <p:cNvSpPr/>
          <p:nvPr/>
        </p:nvSpPr>
        <p:spPr>
          <a:xfrm>
            <a:off x="5493715" y="4187952"/>
            <a:ext cx="1411834" cy="457200"/>
          </a:xfrm>
          <a:prstGeom prst="rect">
            <a:avLst/>
          </a:prstGeom>
          <a:solidFill>
            <a:srgbClr val="FFFFFF"/>
          </a:solidFill>
          <a:ln w="12700">
            <a:solidFill>
              <a:srgbClr val="0F2043"/>
            </a:solidFill>
            <a:prstDash val="solid"/>
          </a:ln>
        </p:spPr>
        <p:txBody>
          <a:bodyPr/>
          <a:lstStyle/>
          <a:p>
            <a:endParaRPr lang="en-IN"/>
          </a:p>
        </p:txBody>
      </p:sp>
      <p:sp>
        <p:nvSpPr>
          <p:cNvPr id="72" name="Text 70"/>
          <p:cNvSpPr/>
          <p:nvPr/>
        </p:nvSpPr>
        <p:spPr>
          <a:xfrm>
            <a:off x="5521147" y="4187952"/>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PIP: password history hashes</a:t>
            </a:r>
            <a:endParaRPr lang="en-US" sz="950" dirty="0"/>
          </a:p>
        </p:txBody>
      </p:sp>
      <p:sp>
        <p:nvSpPr>
          <p:cNvPr id="73" name="Shape 71"/>
          <p:cNvSpPr/>
          <p:nvPr/>
        </p:nvSpPr>
        <p:spPr>
          <a:xfrm>
            <a:off x="6978701" y="4187952"/>
            <a:ext cx="1411834" cy="457200"/>
          </a:xfrm>
          <a:prstGeom prst="rect">
            <a:avLst/>
          </a:prstGeom>
          <a:solidFill>
            <a:srgbClr val="FFFFFF"/>
          </a:solidFill>
          <a:ln w="12700">
            <a:solidFill>
              <a:srgbClr val="0F2043"/>
            </a:solidFill>
            <a:prstDash val="solid"/>
          </a:ln>
        </p:spPr>
        <p:txBody>
          <a:bodyPr/>
          <a:lstStyle/>
          <a:p>
            <a:endParaRPr lang="en-IN"/>
          </a:p>
        </p:txBody>
      </p:sp>
      <p:sp>
        <p:nvSpPr>
          <p:cNvPr id="74" name="Text 72"/>
          <p:cNvSpPr/>
          <p:nvPr/>
        </p:nvSpPr>
        <p:spPr>
          <a:xfrm>
            <a:off x="7006133" y="4187952"/>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PIP: account type</a:t>
            </a:r>
            <a:endParaRPr lang="en-US" sz="950" dirty="0"/>
          </a:p>
        </p:txBody>
      </p:sp>
      <p:sp>
        <p:nvSpPr>
          <p:cNvPr id="75" name="Shape 73"/>
          <p:cNvSpPr/>
          <p:nvPr/>
        </p:nvSpPr>
        <p:spPr>
          <a:xfrm>
            <a:off x="8463686" y="4187952"/>
            <a:ext cx="1411834" cy="457200"/>
          </a:xfrm>
          <a:prstGeom prst="rect">
            <a:avLst/>
          </a:prstGeom>
          <a:solidFill>
            <a:srgbClr val="FFFFFF"/>
          </a:solidFill>
          <a:ln w="12700">
            <a:solidFill>
              <a:srgbClr val="0F2043"/>
            </a:solidFill>
            <a:prstDash val="solid"/>
          </a:ln>
        </p:spPr>
        <p:txBody>
          <a:bodyPr/>
          <a:lstStyle/>
          <a:p>
            <a:endParaRPr lang="en-IN"/>
          </a:p>
        </p:txBody>
      </p:sp>
      <p:sp>
        <p:nvSpPr>
          <p:cNvPr id="76" name="Text 74"/>
          <p:cNvSpPr/>
          <p:nvPr/>
        </p:nvSpPr>
        <p:spPr>
          <a:xfrm>
            <a:off x="8491118" y="4187952"/>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PIP: breached-credential corpus</a:t>
            </a:r>
            <a:endParaRPr lang="en-US" sz="950" dirty="0"/>
          </a:p>
        </p:txBody>
      </p:sp>
      <p:sp>
        <p:nvSpPr>
          <p:cNvPr id="77" name="Shape 75"/>
          <p:cNvSpPr/>
          <p:nvPr/>
        </p:nvSpPr>
        <p:spPr>
          <a:xfrm>
            <a:off x="411480" y="4818888"/>
            <a:ext cx="1965960" cy="640080"/>
          </a:xfrm>
          <a:prstGeom prst="rect">
            <a:avLst/>
          </a:prstGeom>
          <a:solidFill>
            <a:srgbClr val="0E8C8A"/>
          </a:solidFill>
          <a:ln w="12700">
            <a:solidFill>
              <a:srgbClr val="0E8C8A"/>
            </a:solidFill>
            <a:prstDash val="solid"/>
          </a:ln>
        </p:spPr>
        <p:txBody>
          <a:bodyPr/>
          <a:lstStyle/>
          <a:p>
            <a:endParaRPr lang="en-IN"/>
          </a:p>
        </p:txBody>
      </p:sp>
      <p:sp>
        <p:nvSpPr>
          <p:cNvPr id="78" name="Text 76"/>
          <p:cNvSpPr/>
          <p:nvPr/>
        </p:nvSpPr>
        <p:spPr>
          <a:xfrm>
            <a:off x="502920" y="4818888"/>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Enforcement points (PEP)</a:t>
            </a:r>
            <a:endParaRPr lang="en-US" sz="1050" dirty="0"/>
          </a:p>
        </p:txBody>
      </p:sp>
      <p:sp>
        <p:nvSpPr>
          <p:cNvPr id="79" name="Shape 77"/>
          <p:cNvSpPr/>
          <p:nvPr/>
        </p:nvSpPr>
        <p:spPr>
          <a:xfrm>
            <a:off x="2450592" y="4818888"/>
            <a:ext cx="7498080" cy="640080"/>
          </a:xfrm>
          <a:prstGeom prst="rect">
            <a:avLst/>
          </a:prstGeom>
          <a:solidFill>
            <a:srgbClr val="F6F8FB"/>
          </a:solidFill>
          <a:ln w="6350">
            <a:solidFill>
              <a:srgbClr val="CBD5E1"/>
            </a:solidFill>
            <a:prstDash val="solid"/>
          </a:ln>
        </p:spPr>
        <p:txBody>
          <a:bodyPr/>
          <a:lstStyle/>
          <a:p>
            <a:endParaRPr lang="en-IN"/>
          </a:p>
        </p:txBody>
      </p:sp>
      <p:sp>
        <p:nvSpPr>
          <p:cNvPr id="80" name="Shape 78"/>
          <p:cNvSpPr/>
          <p:nvPr/>
        </p:nvSpPr>
        <p:spPr>
          <a:xfrm>
            <a:off x="2523744" y="4910328"/>
            <a:ext cx="1411834" cy="457200"/>
          </a:xfrm>
          <a:prstGeom prst="rect">
            <a:avLst/>
          </a:prstGeom>
          <a:solidFill>
            <a:srgbClr val="FFFFFF"/>
          </a:solidFill>
          <a:ln w="12700">
            <a:solidFill>
              <a:srgbClr val="0E8C8A"/>
            </a:solidFill>
            <a:prstDash val="solid"/>
          </a:ln>
        </p:spPr>
        <p:txBody>
          <a:bodyPr/>
          <a:lstStyle/>
          <a:p>
            <a:endParaRPr lang="en-IN"/>
          </a:p>
        </p:txBody>
      </p:sp>
      <p:sp>
        <p:nvSpPr>
          <p:cNvPr id="81" name="Text 79"/>
          <p:cNvSpPr/>
          <p:nvPr/>
        </p:nvSpPr>
        <p:spPr>
          <a:xfrm>
            <a:off x="2551176" y="491032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Entra ID</a:t>
            </a:r>
            <a:endParaRPr lang="en-US" sz="950" dirty="0"/>
          </a:p>
        </p:txBody>
      </p:sp>
      <p:sp>
        <p:nvSpPr>
          <p:cNvPr id="82" name="Shape 80"/>
          <p:cNvSpPr/>
          <p:nvPr/>
        </p:nvSpPr>
        <p:spPr>
          <a:xfrm>
            <a:off x="4008730" y="4910328"/>
            <a:ext cx="1411834" cy="457200"/>
          </a:xfrm>
          <a:prstGeom prst="rect">
            <a:avLst/>
          </a:prstGeom>
          <a:solidFill>
            <a:srgbClr val="FFFFFF"/>
          </a:solidFill>
          <a:ln w="12700">
            <a:solidFill>
              <a:srgbClr val="0E8C8A"/>
            </a:solidFill>
            <a:prstDash val="solid"/>
          </a:ln>
        </p:spPr>
        <p:txBody>
          <a:bodyPr/>
          <a:lstStyle/>
          <a:p>
            <a:endParaRPr lang="en-IN"/>
          </a:p>
        </p:txBody>
      </p:sp>
      <p:sp>
        <p:nvSpPr>
          <p:cNvPr id="83" name="Text 81"/>
          <p:cNvSpPr/>
          <p:nvPr/>
        </p:nvSpPr>
        <p:spPr>
          <a:xfrm>
            <a:off x="4036162" y="491032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LDAP / core banking directory</a:t>
            </a:r>
            <a:endParaRPr lang="en-US" sz="950" dirty="0"/>
          </a:p>
        </p:txBody>
      </p:sp>
      <p:sp>
        <p:nvSpPr>
          <p:cNvPr id="84" name="Shape 82"/>
          <p:cNvSpPr/>
          <p:nvPr/>
        </p:nvSpPr>
        <p:spPr>
          <a:xfrm>
            <a:off x="5493715" y="4910328"/>
            <a:ext cx="1411834" cy="457200"/>
          </a:xfrm>
          <a:prstGeom prst="rect">
            <a:avLst/>
          </a:prstGeom>
          <a:solidFill>
            <a:srgbClr val="FFFFFF"/>
          </a:solidFill>
          <a:ln w="12700">
            <a:solidFill>
              <a:srgbClr val="0E8C8A"/>
            </a:solidFill>
            <a:prstDash val="solid"/>
          </a:ln>
        </p:spPr>
        <p:txBody>
          <a:bodyPr/>
          <a:lstStyle/>
          <a:p>
            <a:endParaRPr lang="en-IN"/>
          </a:p>
        </p:txBody>
      </p:sp>
      <p:sp>
        <p:nvSpPr>
          <p:cNvPr id="85" name="Text 83"/>
          <p:cNvSpPr/>
          <p:nvPr/>
        </p:nvSpPr>
        <p:spPr>
          <a:xfrm>
            <a:off x="5521147" y="491032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API gateway</a:t>
            </a:r>
            <a:endParaRPr lang="en-US" sz="950" dirty="0"/>
          </a:p>
        </p:txBody>
      </p:sp>
      <p:sp>
        <p:nvSpPr>
          <p:cNvPr id="86" name="Shape 84"/>
          <p:cNvSpPr/>
          <p:nvPr/>
        </p:nvSpPr>
        <p:spPr>
          <a:xfrm>
            <a:off x="6978701" y="4910328"/>
            <a:ext cx="1411834" cy="457200"/>
          </a:xfrm>
          <a:prstGeom prst="rect">
            <a:avLst/>
          </a:prstGeom>
          <a:solidFill>
            <a:srgbClr val="FFFFFF"/>
          </a:solidFill>
          <a:ln w="12700">
            <a:solidFill>
              <a:srgbClr val="0E8C8A"/>
            </a:solidFill>
            <a:prstDash val="solid"/>
          </a:ln>
        </p:spPr>
        <p:txBody>
          <a:bodyPr/>
          <a:lstStyle/>
          <a:p>
            <a:endParaRPr lang="en-IN"/>
          </a:p>
        </p:txBody>
      </p:sp>
      <p:sp>
        <p:nvSpPr>
          <p:cNvPr id="87" name="Text 85"/>
          <p:cNvSpPr/>
          <p:nvPr/>
        </p:nvSpPr>
        <p:spPr>
          <a:xfrm>
            <a:off x="7006133" y="491032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CI/CD pipeline</a:t>
            </a:r>
            <a:endParaRPr lang="en-US" sz="950" dirty="0"/>
          </a:p>
        </p:txBody>
      </p:sp>
      <p:sp>
        <p:nvSpPr>
          <p:cNvPr id="88" name="Shape 86"/>
          <p:cNvSpPr/>
          <p:nvPr/>
        </p:nvSpPr>
        <p:spPr>
          <a:xfrm>
            <a:off x="8463686" y="4910328"/>
            <a:ext cx="1411834" cy="457200"/>
          </a:xfrm>
          <a:prstGeom prst="rect">
            <a:avLst/>
          </a:prstGeom>
          <a:solidFill>
            <a:srgbClr val="FFFFFF"/>
          </a:solidFill>
          <a:ln w="12700">
            <a:solidFill>
              <a:srgbClr val="0E8C8A"/>
            </a:solidFill>
            <a:prstDash val="solid"/>
          </a:ln>
        </p:spPr>
        <p:txBody>
          <a:bodyPr/>
          <a:lstStyle/>
          <a:p>
            <a:endParaRPr lang="en-IN"/>
          </a:p>
        </p:txBody>
      </p:sp>
      <p:sp>
        <p:nvSpPr>
          <p:cNvPr id="89" name="Text 87"/>
          <p:cNvSpPr/>
          <p:nvPr/>
        </p:nvSpPr>
        <p:spPr>
          <a:xfrm>
            <a:off x="8491118" y="4910328"/>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Business applications</a:t>
            </a:r>
            <a:endParaRPr lang="en-US" sz="950" dirty="0"/>
          </a:p>
        </p:txBody>
      </p:sp>
      <p:sp>
        <p:nvSpPr>
          <p:cNvPr id="90" name="Shape 88"/>
          <p:cNvSpPr/>
          <p:nvPr/>
        </p:nvSpPr>
        <p:spPr>
          <a:xfrm>
            <a:off x="411480" y="5541264"/>
            <a:ext cx="1965960" cy="640080"/>
          </a:xfrm>
          <a:prstGeom prst="rect">
            <a:avLst/>
          </a:prstGeom>
          <a:solidFill>
            <a:srgbClr val="137A3F"/>
          </a:solidFill>
          <a:ln w="12700">
            <a:solidFill>
              <a:srgbClr val="137A3F"/>
            </a:solidFill>
            <a:prstDash val="solid"/>
          </a:ln>
        </p:spPr>
        <p:txBody>
          <a:bodyPr/>
          <a:lstStyle/>
          <a:p>
            <a:endParaRPr lang="en-IN"/>
          </a:p>
        </p:txBody>
      </p:sp>
      <p:sp>
        <p:nvSpPr>
          <p:cNvPr id="91" name="Text 89"/>
          <p:cNvSpPr/>
          <p:nvPr/>
        </p:nvSpPr>
        <p:spPr>
          <a:xfrm>
            <a:off x="502920" y="5541264"/>
            <a:ext cx="1828800" cy="6400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Evidence &amp; assurance</a:t>
            </a:r>
            <a:endParaRPr lang="en-US" sz="1050" dirty="0"/>
          </a:p>
        </p:txBody>
      </p:sp>
      <p:sp>
        <p:nvSpPr>
          <p:cNvPr id="92" name="Shape 90"/>
          <p:cNvSpPr/>
          <p:nvPr/>
        </p:nvSpPr>
        <p:spPr>
          <a:xfrm>
            <a:off x="2450592" y="5541264"/>
            <a:ext cx="7498080" cy="640080"/>
          </a:xfrm>
          <a:prstGeom prst="rect">
            <a:avLst/>
          </a:prstGeom>
          <a:solidFill>
            <a:srgbClr val="F6F8FB"/>
          </a:solidFill>
          <a:ln w="6350">
            <a:solidFill>
              <a:srgbClr val="CBD5E1"/>
            </a:solidFill>
            <a:prstDash val="solid"/>
          </a:ln>
        </p:spPr>
        <p:txBody>
          <a:bodyPr/>
          <a:lstStyle/>
          <a:p>
            <a:endParaRPr lang="en-IN"/>
          </a:p>
        </p:txBody>
      </p:sp>
      <p:sp>
        <p:nvSpPr>
          <p:cNvPr id="93" name="Shape 91"/>
          <p:cNvSpPr/>
          <p:nvPr/>
        </p:nvSpPr>
        <p:spPr>
          <a:xfrm>
            <a:off x="2523744" y="5632704"/>
            <a:ext cx="1411834" cy="457200"/>
          </a:xfrm>
          <a:prstGeom prst="rect">
            <a:avLst/>
          </a:prstGeom>
          <a:solidFill>
            <a:srgbClr val="FFFFFF"/>
          </a:solidFill>
          <a:ln w="12700">
            <a:solidFill>
              <a:srgbClr val="137A3F"/>
            </a:solidFill>
            <a:prstDash val="solid"/>
          </a:ln>
        </p:spPr>
        <p:txBody>
          <a:bodyPr/>
          <a:lstStyle/>
          <a:p>
            <a:endParaRPr lang="en-IN"/>
          </a:p>
        </p:txBody>
      </p:sp>
      <p:sp>
        <p:nvSpPr>
          <p:cNvPr id="94" name="Text 92"/>
          <p:cNvSpPr/>
          <p:nvPr/>
        </p:nvSpPr>
        <p:spPr>
          <a:xfrm>
            <a:off x="2551176" y="5632704"/>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Traceability matrix</a:t>
            </a:r>
            <a:endParaRPr lang="en-US" sz="950" dirty="0"/>
          </a:p>
        </p:txBody>
      </p:sp>
      <p:sp>
        <p:nvSpPr>
          <p:cNvPr id="95" name="Shape 93"/>
          <p:cNvSpPr/>
          <p:nvPr/>
        </p:nvSpPr>
        <p:spPr>
          <a:xfrm>
            <a:off x="4008730" y="5632704"/>
            <a:ext cx="1411834" cy="457200"/>
          </a:xfrm>
          <a:prstGeom prst="rect">
            <a:avLst/>
          </a:prstGeom>
          <a:solidFill>
            <a:srgbClr val="FFFFFF"/>
          </a:solidFill>
          <a:ln w="12700">
            <a:solidFill>
              <a:srgbClr val="137A3F"/>
            </a:solidFill>
            <a:prstDash val="solid"/>
          </a:ln>
        </p:spPr>
        <p:txBody>
          <a:bodyPr/>
          <a:lstStyle/>
          <a:p>
            <a:endParaRPr lang="en-IN"/>
          </a:p>
        </p:txBody>
      </p:sp>
      <p:sp>
        <p:nvSpPr>
          <p:cNvPr id="96" name="Text 94"/>
          <p:cNvSpPr/>
          <p:nvPr/>
        </p:nvSpPr>
        <p:spPr>
          <a:xfrm>
            <a:off x="4036162" y="5632704"/>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Drift detection</a:t>
            </a:r>
            <a:endParaRPr lang="en-US" sz="950" dirty="0"/>
          </a:p>
        </p:txBody>
      </p:sp>
      <p:sp>
        <p:nvSpPr>
          <p:cNvPr id="97" name="Shape 95"/>
          <p:cNvSpPr/>
          <p:nvPr/>
        </p:nvSpPr>
        <p:spPr>
          <a:xfrm>
            <a:off x="5493715" y="5632704"/>
            <a:ext cx="1411834" cy="457200"/>
          </a:xfrm>
          <a:prstGeom prst="rect">
            <a:avLst/>
          </a:prstGeom>
          <a:solidFill>
            <a:srgbClr val="FFFFFF"/>
          </a:solidFill>
          <a:ln w="12700">
            <a:solidFill>
              <a:srgbClr val="137A3F"/>
            </a:solidFill>
            <a:prstDash val="solid"/>
          </a:ln>
        </p:spPr>
        <p:txBody>
          <a:bodyPr/>
          <a:lstStyle/>
          <a:p>
            <a:endParaRPr lang="en-IN"/>
          </a:p>
        </p:txBody>
      </p:sp>
      <p:sp>
        <p:nvSpPr>
          <p:cNvPr id="98" name="Text 96"/>
          <p:cNvSpPr/>
          <p:nvPr/>
        </p:nvSpPr>
        <p:spPr>
          <a:xfrm>
            <a:off x="5521147" y="5632704"/>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Hash-chained audit store</a:t>
            </a:r>
            <a:endParaRPr lang="en-US" sz="950" dirty="0"/>
          </a:p>
        </p:txBody>
      </p:sp>
      <p:sp>
        <p:nvSpPr>
          <p:cNvPr id="99" name="Shape 97"/>
          <p:cNvSpPr/>
          <p:nvPr/>
        </p:nvSpPr>
        <p:spPr>
          <a:xfrm>
            <a:off x="6978701" y="5632704"/>
            <a:ext cx="1411834" cy="457200"/>
          </a:xfrm>
          <a:prstGeom prst="rect">
            <a:avLst/>
          </a:prstGeom>
          <a:solidFill>
            <a:srgbClr val="FFFFFF"/>
          </a:solidFill>
          <a:ln w="12700">
            <a:solidFill>
              <a:srgbClr val="137A3F"/>
            </a:solidFill>
            <a:prstDash val="solid"/>
          </a:ln>
        </p:spPr>
        <p:txBody>
          <a:bodyPr/>
          <a:lstStyle/>
          <a:p>
            <a:endParaRPr lang="en-IN"/>
          </a:p>
        </p:txBody>
      </p:sp>
      <p:sp>
        <p:nvSpPr>
          <p:cNvPr id="100" name="Text 98"/>
          <p:cNvSpPr/>
          <p:nvPr/>
        </p:nvSpPr>
        <p:spPr>
          <a:xfrm>
            <a:off x="7006133" y="5632704"/>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Evidence pack</a:t>
            </a:r>
            <a:endParaRPr lang="en-US" sz="950" dirty="0"/>
          </a:p>
        </p:txBody>
      </p:sp>
      <p:sp>
        <p:nvSpPr>
          <p:cNvPr id="101" name="Shape 99"/>
          <p:cNvSpPr/>
          <p:nvPr/>
        </p:nvSpPr>
        <p:spPr>
          <a:xfrm>
            <a:off x="8463686" y="5632704"/>
            <a:ext cx="1411834" cy="457200"/>
          </a:xfrm>
          <a:prstGeom prst="rect">
            <a:avLst/>
          </a:prstGeom>
          <a:solidFill>
            <a:srgbClr val="FFFFFF"/>
          </a:solidFill>
          <a:ln w="12700">
            <a:solidFill>
              <a:srgbClr val="137A3F"/>
            </a:solidFill>
            <a:prstDash val="solid"/>
          </a:ln>
        </p:spPr>
        <p:txBody>
          <a:bodyPr/>
          <a:lstStyle/>
          <a:p>
            <a:endParaRPr lang="en-IN"/>
          </a:p>
        </p:txBody>
      </p:sp>
      <p:sp>
        <p:nvSpPr>
          <p:cNvPr id="102" name="Text 100"/>
          <p:cNvSpPr/>
          <p:nvPr/>
        </p:nvSpPr>
        <p:spPr>
          <a:xfrm>
            <a:off x="8491118" y="5632704"/>
            <a:ext cx="1356970" cy="4572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PostgreSQL</a:t>
            </a:r>
            <a:endParaRPr lang="en-US" sz="950" dirty="0"/>
          </a:p>
        </p:txBody>
      </p:sp>
      <p:sp>
        <p:nvSpPr>
          <p:cNvPr id="103" name="Shape 101"/>
          <p:cNvSpPr/>
          <p:nvPr/>
        </p:nvSpPr>
        <p:spPr>
          <a:xfrm>
            <a:off x="10113264" y="1207008"/>
            <a:ext cx="1682496" cy="4974336"/>
          </a:xfrm>
          <a:prstGeom prst="rect">
            <a:avLst/>
          </a:prstGeom>
          <a:solidFill>
            <a:srgbClr val="FFFFFF"/>
          </a:solidFill>
          <a:ln w="12700">
            <a:solidFill>
              <a:srgbClr val="0F2043"/>
            </a:solidFill>
            <a:prstDash val="solid"/>
          </a:ln>
        </p:spPr>
        <p:txBody>
          <a:bodyPr/>
          <a:lstStyle/>
          <a:p>
            <a:endParaRPr lang="en-IN"/>
          </a:p>
        </p:txBody>
      </p:sp>
      <p:sp>
        <p:nvSpPr>
          <p:cNvPr id="104" name="Shape 102"/>
          <p:cNvSpPr/>
          <p:nvPr/>
        </p:nvSpPr>
        <p:spPr>
          <a:xfrm>
            <a:off x="10113264" y="1207008"/>
            <a:ext cx="1682496" cy="384048"/>
          </a:xfrm>
          <a:prstGeom prst="rect">
            <a:avLst/>
          </a:prstGeom>
          <a:solidFill>
            <a:srgbClr val="0F2043"/>
          </a:solidFill>
          <a:ln w="12700">
            <a:solidFill>
              <a:srgbClr val="0F2043"/>
            </a:solidFill>
            <a:prstDash val="solid"/>
          </a:ln>
        </p:spPr>
        <p:txBody>
          <a:bodyPr/>
          <a:lstStyle/>
          <a:p>
            <a:endParaRPr lang="en-IN"/>
          </a:p>
        </p:txBody>
      </p:sp>
      <p:sp>
        <p:nvSpPr>
          <p:cNvPr id="105" name="Text 103"/>
          <p:cNvSpPr/>
          <p:nvPr/>
        </p:nvSpPr>
        <p:spPr>
          <a:xfrm>
            <a:off x="10113264" y="1207008"/>
            <a:ext cx="1682496"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Cross-cutting controls</a:t>
            </a:r>
            <a:endParaRPr lang="en-US" sz="1100" dirty="0"/>
          </a:p>
        </p:txBody>
      </p:sp>
      <p:sp>
        <p:nvSpPr>
          <p:cNvPr id="106" name="Text 104"/>
          <p:cNvSpPr/>
          <p:nvPr/>
        </p:nvSpPr>
        <p:spPr>
          <a:xfrm>
            <a:off x="10186416" y="1664208"/>
            <a:ext cx="1554480" cy="44348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RBAC with segregation of duty: author cannot approve</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Entra ID SSO / JWT</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Azure Key Vault for secrets</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Passwords evaluated in memory; never logged or sent to the LLM</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LLM pinned to approved region</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Every AI output stored with its prompt</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Decision &lt; 50 ms p95</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LLM outage degrades authoring only</a:t>
            </a:r>
            <a:endParaRPr lang="en-US" sz="950" dirty="0"/>
          </a:p>
          <a:p>
            <a:pPr marL="342900" indent="-342900">
              <a:spcAft>
                <a:spcPts val="500"/>
              </a:spcAft>
              <a:buSzPct val="100000"/>
              <a:buChar char="•"/>
            </a:pPr>
            <a:r>
              <a:rPr lang="en-US" sz="950" dirty="0">
                <a:solidFill>
                  <a:srgbClr val="1E293B"/>
                </a:solidFill>
                <a:latin typeface="Calibri" pitchFamily="34" charset="0"/>
                <a:ea typeface="Calibri" pitchFamily="34" charset="-122"/>
                <a:cs typeface="Calibri" pitchFamily="34" charset="-120"/>
              </a:rPr>
              <a:t>Docker Compose: api, ui, opa, db</a:t>
            </a:r>
            <a:endParaRPr lang="en-US" sz="950" dirty="0"/>
          </a:p>
        </p:txBody>
      </p:sp>
      <p:sp>
        <p:nvSpPr>
          <p:cNvPr id="107" name="Text 105"/>
          <p:cNvSpPr/>
          <p:nvPr/>
        </p:nvSpPr>
        <p:spPr>
          <a:xfrm>
            <a:off x="2450592" y="6272784"/>
            <a:ext cx="7498080" cy="219456"/>
          </a:xfrm>
          <a:prstGeom prst="rect">
            <a:avLst/>
          </a:prstGeom>
          <a:noFill/>
          <a:ln/>
        </p:spPr>
        <p:txBody>
          <a:bodyPr wrap="square" lIns="0" tIns="0" rIns="0" bIns="0" rtlCol="0" anchor="ctr"/>
          <a:lstStyle/>
          <a:p>
            <a:pPr marL="0" indent="0">
              <a:buNone/>
            </a:pPr>
            <a:r>
              <a:rPr lang="en-US" sz="950" i="1" dirty="0">
                <a:solidFill>
                  <a:srgbClr val="137A3F"/>
                </a:solidFill>
                <a:latin typeface="Calibri" pitchFamily="34" charset="0"/>
                <a:ea typeface="Calibri" pitchFamily="34" charset="-122"/>
                <a:cs typeface="Calibri" pitchFamily="34" charset="-120"/>
              </a:rPr>
              <a:t>↻  Drift and audit insights feed back into policy authoring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0E8C8A"/>
          </a:solidFill>
          <a:ln w="12700">
            <a:solidFill>
              <a:srgbClr val="0E8C8A"/>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IDENTITY &amp; ACCESS</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Password Security Policy as Code</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One enterprise standard, codified once, enforced and evidenced identically across every identity system</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1</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"Passwords shall be a minimum of 14 characters and shall not contain common or dictionary words."</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Entra ID, LDAP / core banking directory</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Password history hashes, account type, breached-credential corpus</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enterprise password standard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"PWD-R-001",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 "minLength",</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14,</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"unit": "characters",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["NIST 800-63B 5.1.1"],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password.policy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"PWD-R-001"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count(input.password)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&lt; data.rules.minLength</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"PWD-R-004"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some w in data.blocklist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contains(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lower(input.password), w)</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allow if count(deny) == 0</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Plus policy.json, IaC script, pytest suite</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 "Welcome@2026"</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"PWD-R-001",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"PWD-R-004"</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Too short (12 &lt; 14); contains "welcome"</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PCI DSS v4.0 §8.3.4</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Lockout threshold ≤ 10 attempts</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Automated conformance test in CI</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control owner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minLength 12 → 14 regenerates Rego, JSON, IaC and tests together</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weaker value on the LDAP enforcement point is flagged as drift</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Every AI-assisted action is tagged in the audit trail with its prompt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0369A1"/>
          </a:solidFill>
          <a:ln w="12700">
            <a:solidFill>
              <a:srgbClr val="0369A1"/>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CLOUD INFRASTRUCTURE</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Cloud guardrails on Infrastructure as Code</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Misconfigured cloud resources are blocked at pull-request time, before anything is provisioned</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2</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"Storage holding customer data must not be publicly reachable and may only be deployed in approved regions."</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CI/CD pipeline gate (Conftest on Terraform plan)</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Approved-region list, data classification tags</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cloud security standard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"CLD-R-003",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 "allowed_regions",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["centralindia",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"southindia"],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["Data residency"],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cloud.guardrails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"CLD-R-002"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 := input.resource_changes[_]</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r.type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"azurerm_storage_account"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 := r.change.after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a.public_network_access_enabled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"CLD-R-003"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 := input.resource_changes[_]</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loc := r.change.after.location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not loc in data.allowed_regions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Evaluated on terraform plan JSON in CI</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 terraform plan JSON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stg "custfeed01"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location: "eastus"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public access: true</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"CLD-R-002",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"CLD-R-003"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 / Conftest"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Public endpoint + non-approved region: PR blocked</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Internal data-residency &amp; cloud security standard</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Region allow-list; no public storage</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Conftest unit test on sample plans</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cloud control owner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non-compliant plan fails the PR before apply, not after an audit</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Adding a region is a reviewed data change, not a code change</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time-bound exception unblocks a legacy account and expires automatically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B45309"/>
          </a:solidFill>
          <a:ln w="12700">
            <a:solidFill>
              <a:srgbClr val="B45309"/>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PAYMENTS</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Maker-checker control on high-value payments</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Dual authorisation and segregation of duties enforced identically across every payment channel</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3</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"Payments of ₹10 lakh or more require two approvers, and the initiator may never approve their own payment."</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Payment hub release step / core banking API</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User entitlements, approval history, limits table</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payments authority matrix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"PAY-R-001",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 "dual_limit",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1000000,</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"unit": "INR",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["ISO 27001 A.5.3"],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payments.release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"PAY-R-001"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input.amount &gt;= data.dual_limit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count(input.approvers) &lt; 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"PAY-R-002"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input.initiator in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input.approvers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allow if count(deny) == 0</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Same policy for branch, digital and bulk</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amount: 2500000</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initiator: "u101"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approvers: ["u101"]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"PAY-R-001",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"PAY-R-002"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Only 1 approver; maker approved own payment</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ISO/IEC 27001:2022 A.5.3 Segregation of duties</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Maker ≠ checker; 2 approvers ≥ limit</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Regression pack of payment scenarios</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payments ops owner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Changing the limit regenerates policy, tests and simulator together</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Branch, digital and bulk channels return the identical decision</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Every release decision is logged with the rule IDs that drove it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7C3AED"/>
          </a:solidFill>
          <a:ln w="12700">
            <a:solidFill>
              <a:srgbClr val="7C3AED"/>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DATA PRIVACY</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Purpose-based access to customer personal data</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Personal data is unmasked only for an approved purpose; the decision returns obligations, not just allow/deny</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4</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"Customer personal data may be viewed unmasked only by investigators working on an open fraud case, within the data's home region."</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Data access API / query gateway</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User role, case register, dataset region &amp; classification</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data protection policy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"DAT-R-001",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 "unmask_purpose",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"fraud_case",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["GDPR Art 5(1)(b)",</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"DPDP Act 2023"],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privacy.access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default mask_pii := true</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mask_pii := false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input.role == "investigator"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input.purpose == "fraud_case"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input.case_status == "open"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"DAT-R-002"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 := input.user.region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 != input.dataset.region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Returns obligations (masking), not only yes/no</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role: "mkt_analyst"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purpose: "campaign"</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"ALLOW",</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"mask_pii": true,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"masked": ["pan",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"mobile", "email"],</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Allowed, but PII masked: purpose not approved</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GDPR Art 5(1)(b) purpose limitation; DPDP Act 2023</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PII unmasked only for approved purpose</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Access-scenario test pack</a:t>
            </a:r>
            <a:endParaRPr lang="en-US" sz="950" dirty="0"/>
          </a:p>
        </p:txBody>
      </p:sp>
      <p:sp>
        <p:nvSpPr>
          <p:cNvPr id="43" name="Shape 41"/>
          <p:cNvSpPr/>
          <p:nvPr/>
        </p:nvSpPr>
        <p:spPr>
          <a:xfrm>
            <a:off x="6089904" y="5248656"/>
            <a:ext cx="1783080" cy="914400"/>
          </a:xfrm>
          <a:prstGeom prst="rect">
            <a:avLst/>
          </a:prstGeom>
          <a:solidFill>
            <a:srgbClr val="FDF0DC"/>
          </a:solidFill>
          <a:ln w="9525">
            <a:solidFill>
              <a:srgbClr val="D97706"/>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8A4B00"/>
                </a:solidFill>
                <a:latin typeface="Calibri" pitchFamily="34" charset="0"/>
                <a:ea typeface="Calibri" pitchFamily="34" charset="-122"/>
                <a:cs typeface="Calibri" pitchFamily="34" charset="-120"/>
              </a:rPr>
              <a:t>Partial: consent check not yet coded</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The same query returns masked or clear data depending on purpose</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Cross-region access is denied with the rule ID</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Coverage gaps are reported openly, never shown as green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BE185D"/>
          </a:solidFill>
          <a:ln w="12700">
            <a:solidFill>
              <a:srgbClr val="BE185D"/>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AGENTIC AI</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Guardrails for AI agent tool calls</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Every agent action passes a policy check: approved tools only, and human approval for high-impact actions</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5</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"AI agents may only use tools approved for their role. Any action that changes a customer or case outcome needs named human approval."</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Agent tool gateway (every tool call intercepted)</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Agent registry, tool risk catalogue, approval queue</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AI usage policy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"AI-R-001",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"approval_required",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true,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"applies_to":</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["high_impact_tools"],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["EU AI Act Art 14"],</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agent.tools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"AI-R-001"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input.tool in data.high_impact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not input.human_approval</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"AI-R-002"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 := data.allowed[input.agent]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not input.tool in 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allow if count(deny) == 0</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Deterministic check outside the LLM</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agent: "kyc-assistant"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tool: "close_alert"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human_approval: false</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"AI-R-001",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"AI-R-002"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Not an approved tool; no human approval</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EU AI Act Art 14 Human oversight</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High-impact tools need named approval</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Agent tool-call test scenarios</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AI risk owner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The agent's reasoning cannot override the policy: OPA decides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new tool is enabled by a reviewed catalogue change</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Every tool call is logged with agent, tool, decision and approver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1D4ED8"/>
          </a:solidFill>
          <a:ln w="12700">
            <a:solidFill>
              <a:srgbClr val="1D4ED8"/>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REGULATORY COMPLIANCE</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Cash Transaction Reporting (CTR) under PMLA</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Every reportable cash transaction is included and filed on time, enforced at the reporting gate before submission to FIU-IND</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6</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"Cash transactions of ₹10 lakh or more, including connected transactions aggregating to ₹10 lakh in a month, must be reported to FIU-IND by the 15th of the following month."</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CTR reporting engine / FINnet submission gate</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Monthly cash aggregates per account, CTR batch register, filing calendar</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PMLA reporting procedure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"REG-R-001",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"ctr_threshold",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1000000,</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"unit": "INR / month",</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["PMLA Rules 2005 R3"],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ctr.policy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"REG-R-001"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 := input.accounts[_]</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a.cash_month_total</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&gt;= data.ctr_threshold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not a.included_in_ctr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"REG-R-002"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input.filing_date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&gt; input.due_date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allow if count(deny) == 0</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Aggregation and due date checked per batch</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 CTR batch Oct-2026</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acct ..4471: 4 deposits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total ₹12,40,000</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included_in_ctr: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filing_date: 2026-11-17</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"REG-R-001", "REG-R-002"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Connected deposits missed; filing after 15th</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PML (Maintenance of Records) Rules 2005, Rule 3</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Aggregate ≥ ₹10 lakh / month must be in CTR</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Regression pack of split-deposit cases</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Principal Officer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Split deposits below ₹10 lakh are caught by monthly aggregation</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late batch is blocked with the rule ID before submission</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threshold change by the regulator becomes one reviewed data change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C2410C"/>
          </a:solidFill>
          <a:ln w="12700">
            <a:solidFill>
              <a:srgbClr val="C2410C"/>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OPERATIONAL RESILIENCE</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Change gate for important business services</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Changes to a critical service are released only when the service is proven able to recover within its impact tolerance</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7</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"Changes to an important business service may proceed only if it passed a severe but plausible scenario test in the last 12 months and recovered within its impact tolerance."</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Change management (CAB) gate and deployment pipeline</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Service map (CMDB), impact tolerance register, resilience test register</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operational resilience policy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"OPR-R-002",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"max_test_age_days",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365,</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"unit": "days",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["PRA SS1/21 Ch 6"],</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resilience.change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"OPR-R-001"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 := input.service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s.tested_recovery_mins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&gt; s.impact_tolerance_mins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"OPR-R-002"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input.service.test_age_days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&gt; data.max_test_age_days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allow if count(deny) == 0</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Same check at CAB and in the pipeline</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 CHG-48213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service: "UPI payments"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impact tolerance: 120 min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tested recovery: 185 min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last test: 436 days ago</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"OPR-R-001", "OPR-R-002"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Breaches tolerance; scenario test is stale</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PRA SS1/21 Ch 6 Scenario testing</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Tested recovery ≤ impact tolerance</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Gate test on sample change records</a:t>
            </a:r>
            <a:endParaRPr lang="en-US" sz="950" dirty="0"/>
          </a:p>
        </p:txBody>
      </p:sp>
      <p:sp>
        <p:nvSpPr>
          <p:cNvPr id="43" name="Shape 41"/>
          <p:cNvSpPr/>
          <p:nvPr/>
        </p:nvSpPr>
        <p:spPr>
          <a:xfrm>
            <a:off x="6089904" y="5248656"/>
            <a:ext cx="1783080" cy="914400"/>
          </a:xfrm>
          <a:prstGeom prst="rect">
            <a:avLst/>
          </a:prstGeom>
          <a:solidFill>
            <a:srgbClr val="E7F6EC"/>
          </a:solidFill>
          <a:ln w="9525">
            <a:solidFill>
              <a:srgbClr val="137A3F"/>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137A3F"/>
                </a:solidFill>
                <a:latin typeface="Calibri" pitchFamily="34" charset="0"/>
                <a:ea typeface="Calibri" pitchFamily="34" charset="-122"/>
                <a:cs typeface="Calibri" pitchFamily="34" charset="-120"/>
              </a:rPr>
              <a:t>Full, confirmed by resilience owner</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change to a non-resilient service is blocked before CAB approves it</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fresh passing scenario test unblocks the change automatically</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Every gate decision feeds the board self-assessment evidence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F2043"/>
          </a:solidFill>
          <a:ln w="12700">
            <a:solidFill>
              <a:srgbClr val="0F2043"/>
            </a:solidFill>
            <a:prstDash val="solid"/>
          </a:ln>
        </p:spPr>
        <p:txBody>
          <a:bodyPr/>
          <a:lstStyle/>
          <a:p>
            <a:endParaRPr lang="en-IN"/>
          </a:p>
        </p:txBody>
      </p:sp>
      <p:sp>
        <p:nvSpPr>
          <p:cNvPr id="3" name="Shape 1"/>
          <p:cNvSpPr/>
          <p:nvPr/>
        </p:nvSpPr>
        <p:spPr>
          <a:xfrm>
            <a:off x="411480" y="256032"/>
            <a:ext cx="1737360" cy="292608"/>
          </a:xfrm>
          <a:prstGeom prst="rect">
            <a:avLst/>
          </a:prstGeom>
          <a:solidFill>
            <a:srgbClr val="0F766E"/>
          </a:solidFill>
          <a:ln w="12700">
            <a:solidFill>
              <a:srgbClr val="0F766E"/>
            </a:solidFill>
            <a:prstDash val="solid"/>
          </a:ln>
        </p:spPr>
        <p:txBody>
          <a:bodyPr/>
          <a:lstStyle/>
          <a:p>
            <a:endParaRPr lang="en-IN"/>
          </a:p>
        </p:txBody>
      </p:sp>
      <p:sp>
        <p:nvSpPr>
          <p:cNvPr id="4" name="Text 2"/>
          <p:cNvSpPr/>
          <p:nvPr/>
        </p:nvSpPr>
        <p:spPr>
          <a:xfrm>
            <a:off x="411480" y="256032"/>
            <a:ext cx="17373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OE CONTROL ASSURANCE</a:t>
            </a:r>
            <a:endParaRPr lang="en-US" sz="1000" dirty="0"/>
          </a:p>
        </p:txBody>
      </p:sp>
      <p:sp>
        <p:nvSpPr>
          <p:cNvPr id="5" name="Text 3"/>
          <p:cNvSpPr/>
          <p:nvPr/>
        </p:nvSpPr>
        <p:spPr>
          <a:xfrm>
            <a:off x="411480" y="603504"/>
            <a:ext cx="11338560" cy="502920"/>
          </a:xfrm>
          <a:prstGeom prst="rect">
            <a:avLst/>
          </a:prstGeom>
          <a:noFill/>
          <a:ln/>
        </p:spPr>
        <p:txBody>
          <a:bodyPr wrap="square" lIns="0" tIns="0" rIns="0" bIns="0" rtlCol="0" anchor="ctr"/>
          <a:lstStyle/>
          <a:p>
            <a:pPr marL="0" indent="0">
              <a:buNone/>
            </a:pPr>
            <a:r>
              <a:rPr lang="en-US" sz="2600" b="1" dirty="0">
                <a:solidFill>
                  <a:srgbClr val="0F2043"/>
                </a:solidFill>
                <a:latin typeface="Calibri" pitchFamily="34" charset="0"/>
                <a:ea typeface="Calibri" pitchFamily="34" charset="-122"/>
                <a:cs typeface="Calibri" pitchFamily="34" charset="-120"/>
              </a:rPr>
              <a:t>Use case: Operating effectiveness (OE) testing of key controls</a:t>
            </a:r>
            <a:endParaRPr lang="en-US" sz="2600" dirty="0"/>
          </a:p>
        </p:txBody>
      </p:sp>
      <p:sp>
        <p:nvSpPr>
          <p:cNvPr id="6" name="Text 4"/>
          <p:cNvSpPr/>
          <p:nvPr/>
        </p:nvSpPr>
        <p:spPr>
          <a:xfrm>
            <a:off x="411480" y="1097280"/>
            <a:ext cx="11338560" cy="274320"/>
          </a:xfrm>
          <a:prstGeom prst="rect">
            <a:avLst/>
          </a:prstGeom>
          <a:noFill/>
          <a:ln/>
        </p:spPr>
        <p:txBody>
          <a:bodyPr wrap="square" lIns="0" tIns="0" rIns="0" bIns="0" rtlCol="0" anchor="ctr"/>
          <a:lstStyle/>
          <a:p>
            <a:pPr marL="0" indent="0">
              <a:buNone/>
            </a:pPr>
            <a:r>
              <a:rPr lang="en-US" sz="1300" dirty="0">
                <a:solidFill>
                  <a:srgbClr val="5B6577"/>
                </a:solidFill>
                <a:latin typeface="Calibri" pitchFamily="34" charset="0"/>
                <a:ea typeface="Calibri" pitchFamily="34" charset="-122"/>
                <a:cs typeface="Calibri" pitchFamily="34" charset="-120"/>
              </a:rPr>
              <a:t>A control test is signed off only when sampling, tester independence and issue raising meet the testing methodology</a:t>
            </a:r>
            <a:endParaRPr lang="en-US" sz="1300" dirty="0"/>
          </a:p>
        </p:txBody>
      </p:sp>
      <p:sp>
        <p:nvSpPr>
          <p:cNvPr id="7" name="Text 5"/>
          <p:cNvSpPr/>
          <p:nvPr/>
        </p:nvSpPr>
        <p:spPr>
          <a:xfrm>
            <a:off x="411480" y="6510528"/>
            <a:ext cx="11338560" cy="228600"/>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TCS Confidential  |  Policy as Code  |  Use case 8</a:t>
            </a:r>
            <a:endParaRPr lang="en-US" sz="900" dirty="0"/>
          </a:p>
        </p:txBody>
      </p:sp>
      <p:sp>
        <p:nvSpPr>
          <p:cNvPr id="8" name="Shape 6"/>
          <p:cNvSpPr/>
          <p:nvPr/>
        </p:nvSpPr>
        <p:spPr>
          <a:xfrm>
            <a:off x="411480"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9" name="Shape 7"/>
          <p:cNvSpPr/>
          <p:nvPr/>
        </p:nvSpPr>
        <p:spPr>
          <a:xfrm>
            <a:off x="411480" y="1554480"/>
            <a:ext cx="2697480" cy="438912"/>
          </a:xfrm>
          <a:prstGeom prst="rect">
            <a:avLst/>
          </a:prstGeom>
          <a:solidFill>
            <a:srgbClr val="6B7280"/>
          </a:solidFill>
          <a:ln w="12700">
            <a:solidFill>
              <a:srgbClr val="6B7280"/>
            </a:solidFill>
            <a:prstDash val="solid"/>
          </a:ln>
        </p:spPr>
        <p:txBody>
          <a:bodyPr/>
          <a:lstStyle/>
          <a:p>
            <a:endParaRPr lang="en-IN"/>
          </a:p>
        </p:txBody>
      </p:sp>
      <p:sp>
        <p:nvSpPr>
          <p:cNvPr id="10" name="Text 8"/>
          <p:cNvSpPr/>
          <p:nvPr/>
        </p:nvSpPr>
        <p:spPr>
          <a:xfrm>
            <a:off x="521208"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Policy prose</a:t>
            </a:r>
            <a:endParaRPr lang="en-US" sz="1250" dirty="0"/>
          </a:p>
        </p:txBody>
      </p:sp>
      <p:sp>
        <p:nvSpPr>
          <p:cNvPr id="11" name="Text 9"/>
          <p:cNvSpPr/>
          <p:nvPr/>
        </p:nvSpPr>
        <p:spPr>
          <a:xfrm>
            <a:off x="594360" y="2121408"/>
            <a:ext cx="2331720" cy="1234440"/>
          </a:xfrm>
          <a:prstGeom prst="rect">
            <a:avLst/>
          </a:prstGeom>
          <a:noFill/>
          <a:ln/>
        </p:spPr>
        <p:txBody>
          <a:bodyPr wrap="square" lIns="0" tIns="0" rIns="0" bIns="0" rtlCol="0" anchor="t"/>
          <a:lstStyle/>
          <a:p>
            <a:pPr marL="0" indent="0">
              <a:buNone/>
            </a:pPr>
            <a:r>
              <a:rPr lang="en-US" sz="1300" i="1" dirty="0">
                <a:solidFill>
                  <a:srgbClr val="1E293B"/>
                </a:solidFill>
                <a:latin typeface="Calibri" pitchFamily="34" charset="0"/>
                <a:ea typeface="Calibri" pitchFamily="34" charset="-122"/>
                <a:cs typeface="Calibri" pitchFamily="34" charset="-120"/>
              </a:rPr>
              <a:t>"Key controls must be OE-tested by an independent tester using the minimum sample for the control's frequency. Every exception must be raised as an issue."</a:t>
            </a:r>
            <a:endParaRPr lang="en-US" sz="1300" dirty="0"/>
          </a:p>
        </p:txBody>
      </p:sp>
      <p:sp>
        <p:nvSpPr>
          <p:cNvPr id="12" name="Shape 10"/>
          <p:cNvSpPr/>
          <p:nvPr/>
        </p:nvSpPr>
        <p:spPr>
          <a:xfrm>
            <a:off x="521208" y="3429000"/>
            <a:ext cx="2478024" cy="914400"/>
          </a:xfrm>
          <a:prstGeom prst="rect">
            <a:avLst/>
          </a:prstGeom>
          <a:solidFill>
            <a:srgbClr val="F6F8FB"/>
          </a:solidFill>
          <a:ln w="6350">
            <a:solidFill>
              <a:srgbClr val="CBD5E1"/>
            </a:solidFill>
            <a:prstDash val="solid"/>
          </a:ln>
        </p:spPr>
        <p:txBody>
          <a:bodyPr/>
          <a:lstStyle/>
          <a:p>
            <a:endParaRPr lang="en-IN"/>
          </a:p>
        </p:txBody>
      </p:sp>
      <p:sp>
        <p:nvSpPr>
          <p:cNvPr id="13" name="Text 11"/>
          <p:cNvSpPr/>
          <p:nvPr/>
        </p:nvSpPr>
        <p:spPr>
          <a:xfrm>
            <a:off x="594360" y="3456432"/>
            <a:ext cx="2331720" cy="859536"/>
          </a:xfrm>
          <a:prstGeom prst="rect">
            <a:avLst/>
          </a:prstGeom>
          <a:noFill/>
          <a:ln/>
        </p:spPr>
        <p:txBody>
          <a:bodyPr wrap="square" lIns="0" tIns="0" rIns="0" bIns="0" rtlCol="0" anchor="ctr"/>
          <a:lstStyle/>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Enforced at (PEP): </a:t>
            </a:r>
            <a:r>
              <a:rPr lang="en-US" sz="950" dirty="0">
                <a:solidFill>
                  <a:srgbClr val="1E293B"/>
                </a:solidFill>
                <a:latin typeface="Calibri" pitchFamily="34" charset="0"/>
                <a:ea typeface="Calibri" pitchFamily="34" charset="-122"/>
                <a:cs typeface="Calibri" pitchFamily="34" charset="-120"/>
              </a:rPr>
              <a:t>GRC test sign-off (control attestation gate)</a:t>
            </a:r>
            <a:endParaRPr lang="en-US" sz="950" dirty="0"/>
          </a:p>
          <a:p>
            <a:pPr marL="0" indent="0">
              <a:spcAft>
                <a:spcPts val="300"/>
              </a:spcAft>
              <a:buNone/>
            </a:pPr>
            <a:r>
              <a:rPr lang="en-US" sz="950" b="1" dirty="0">
                <a:solidFill>
                  <a:srgbClr val="0F2043"/>
                </a:solidFill>
                <a:latin typeface="Calibri" pitchFamily="34" charset="0"/>
                <a:ea typeface="Calibri" pitchFamily="34" charset="-122"/>
                <a:cs typeface="Calibri" pitchFamily="34" charset="-120"/>
              </a:rPr>
              <a:t>Context (PIP): </a:t>
            </a:r>
            <a:r>
              <a:rPr lang="en-US" sz="950" dirty="0">
                <a:solidFill>
                  <a:srgbClr val="1E293B"/>
                </a:solidFill>
                <a:latin typeface="Calibri" pitchFamily="34" charset="0"/>
                <a:ea typeface="Calibri" pitchFamily="34" charset="-122"/>
                <a:cs typeface="Calibri" pitchFamily="34" charset="-120"/>
              </a:rPr>
              <a:t>Risk-control matrix, control owner register, issue register</a:t>
            </a:r>
            <a:endParaRPr lang="en-US" sz="950" dirty="0"/>
          </a:p>
        </p:txBody>
      </p:sp>
      <p:sp>
        <p:nvSpPr>
          <p:cNvPr id="14" name="Text 12"/>
          <p:cNvSpPr/>
          <p:nvPr/>
        </p:nvSpPr>
        <p:spPr>
          <a:xfrm>
            <a:off x="521208"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Source: control testing methodology (illustrative)</a:t>
            </a:r>
            <a:endParaRPr lang="en-US" sz="950" dirty="0"/>
          </a:p>
        </p:txBody>
      </p:sp>
      <p:sp>
        <p:nvSpPr>
          <p:cNvPr id="15" name="Shape 13"/>
          <p:cNvSpPr/>
          <p:nvPr/>
        </p:nvSpPr>
        <p:spPr>
          <a:xfrm>
            <a:off x="3118104" y="3200400"/>
            <a:ext cx="182880" cy="0"/>
          </a:xfrm>
          <a:prstGeom prst="line">
            <a:avLst/>
          </a:prstGeom>
          <a:noFill/>
          <a:ln w="25400">
            <a:solidFill>
              <a:srgbClr val="64748B"/>
            </a:solidFill>
            <a:prstDash val="solid"/>
            <a:tailEnd type="triangle"/>
          </a:ln>
        </p:spPr>
        <p:txBody>
          <a:bodyPr/>
          <a:lstStyle/>
          <a:p>
            <a:endParaRPr lang="en-IN"/>
          </a:p>
        </p:txBody>
      </p:sp>
      <p:sp>
        <p:nvSpPr>
          <p:cNvPr id="16" name="Shape 14"/>
          <p:cNvSpPr/>
          <p:nvPr/>
        </p:nvSpPr>
        <p:spPr>
          <a:xfrm>
            <a:off x="3310128"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17" name="Shape 15"/>
          <p:cNvSpPr/>
          <p:nvPr/>
        </p:nvSpPr>
        <p:spPr>
          <a:xfrm>
            <a:off x="3310128" y="1554480"/>
            <a:ext cx="2697480" cy="438912"/>
          </a:xfrm>
          <a:prstGeom prst="rect">
            <a:avLst/>
          </a:prstGeom>
          <a:solidFill>
            <a:srgbClr val="4F46E5"/>
          </a:solidFill>
          <a:ln w="12700">
            <a:solidFill>
              <a:srgbClr val="4F46E5"/>
            </a:solidFill>
            <a:prstDash val="solid"/>
          </a:ln>
        </p:spPr>
        <p:txBody>
          <a:bodyPr/>
          <a:lstStyle/>
          <a:p>
            <a:endParaRPr lang="en-IN"/>
          </a:p>
        </p:txBody>
      </p:sp>
      <p:sp>
        <p:nvSpPr>
          <p:cNvPr id="18" name="Text 16"/>
          <p:cNvSpPr/>
          <p:nvPr/>
        </p:nvSpPr>
        <p:spPr>
          <a:xfrm>
            <a:off x="3419856"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Structured rule (AI-extracted)</a:t>
            </a:r>
            <a:endParaRPr lang="en-US" sz="1250" dirty="0"/>
          </a:p>
        </p:txBody>
      </p:sp>
      <p:sp>
        <p:nvSpPr>
          <p:cNvPr id="19" name="Shape 17"/>
          <p:cNvSpPr/>
          <p:nvPr/>
        </p:nvSpPr>
        <p:spPr>
          <a:xfrm>
            <a:off x="3419856"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0" name="Text 18"/>
          <p:cNvSpPr/>
          <p:nvPr/>
        </p:nvSpPr>
        <p:spPr>
          <a:xfrm>
            <a:off x="3474720"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"rule_id": "CA-R-001",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"parameter":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"min_sample_daily",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"proposed_value": 25,</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"unit": "items",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"obligations":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["Testing methodology",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"PCAOB AS 2201"],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"ambiguity_flag": false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1" name="Text 19"/>
          <p:cNvSpPr/>
          <p:nvPr/>
        </p:nvSpPr>
        <p:spPr>
          <a:xfrm>
            <a:off x="3419856"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Reviewer accepts before it is applied</a:t>
            </a:r>
            <a:endParaRPr lang="en-US" sz="950" dirty="0"/>
          </a:p>
        </p:txBody>
      </p:sp>
      <p:sp>
        <p:nvSpPr>
          <p:cNvPr id="22" name="Shape 20"/>
          <p:cNvSpPr/>
          <p:nvPr/>
        </p:nvSpPr>
        <p:spPr>
          <a:xfrm>
            <a:off x="6016752" y="3200400"/>
            <a:ext cx="182880" cy="0"/>
          </a:xfrm>
          <a:prstGeom prst="line">
            <a:avLst/>
          </a:prstGeom>
          <a:noFill/>
          <a:ln w="25400">
            <a:solidFill>
              <a:srgbClr val="64748B"/>
            </a:solidFill>
            <a:prstDash val="solid"/>
            <a:tailEnd type="triangle"/>
          </a:ln>
        </p:spPr>
        <p:txBody>
          <a:bodyPr/>
          <a:lstStyle/>
          <a:p>
            <a:endParaRPr lang="en-IN"/>
          </a:p>
        </p:txBody>
      </p:sp>
      <p:sp>
        <p:nvSpPr>
          <p:cNvPr id="23" name="Shape 21"/>
          <p:cNvSpPr/>
          <p:nvPr/>
        </p:nvSpPr>
        <p:spPr>
          <a:xfrm>
            <a:off x="6208776"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24" name="Shape 22"/>
          <p:cNvSpPr/>
          <p:nvPr/>
        </p:nvSpPr>
        <p:spPr>
          <a:xfrm>
            <a:off x="6208776" y="1554480"/>
            <a:ext cx="2697480" cy="438912"/>
          </a:xfrm>
          <a:prstGeom prst="rect">
            <a:avLst/>
          </a:prstGeom>
          <a:solidFill>
            <a:srgbClr val="0F2043"/>
          </a:solidFill>
          <a:ln w="12700">
            <a:solidFill>
              <a:srgbClr val="0F2043"/>
            </a:solidFill>
            <a:prstDash val="solid"/>
          </a:ln>
        </p:spPr>
        <p:txBody>
          <a:bodyPr/>
          <a:lstStyle/>
          <a:p>
            <a:endParaRPr lang="en-IN"/>
          </a:p>
        </p:txBody>
      </p:sp>
      <p:sp>
        <p:nvSpPr>
          <p:cNvPr id="25" name="Text 23"/>
          <p:cNvSpPr/>
          <p:nvPr/>
        </p:nvSpPr>
        <p:spPr>
          <a:xfrm>
            <a:off x="6318504"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Executable policy (Rego)</a:t>
            </a:r>
            <a:endParaRPr lang="en-US" sz="1250" dirty="0"/>
          </a:p>
        </p:txBody>
      </p:sp>
      <p:sp>
        <p:nvSpPr>
          <p:cNvPr id="26" name="Shape 24"/>
          <p:cNvSpPr/>
          <p:nvPr/>
        </p:nvSpPr>
        <p:spPr>
          <a:xfrm>
            <a:off x="6318504"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27" name="Text 25"/>
          <p:cNvSpPr/>
          <p:nvPr/>
        </p:nvSpPr>
        <p:spPr>
          <a:xfrm>
            <a:off x="6373368"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package assurance.oe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import rego.v1</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"CA-R-001"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f := input.frequency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m := data.min_sample[f]</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input.sample_size &lt; m</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"CA-R-002"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input.tester == input.owner</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deny contains "CA-R-003" if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input.exceptions &gt; 0</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not input.issue_id</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28" name="Text 26"/>
          <p:cNvSpPr/>
          <p:nvPr/>
        </p:nvSpPr>
        <p:spPr>
          <a:xfrm>
            <a:off x="6318504" y="4370832"/>
            <a:ext cx="2478024" cy="347472"/>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Sample table held as data, not code</a:t>
            </a:r>
            <a:endParaRPr lang="en-US" sz="950" dirty="0"/>
          </a:p>
        </p:txBody>
      </p:sp>
      <p:sp>
        <p:nvSpPr>
          <p:cNvPr id="29" name="Shape 27"/>
          <p:cNvSpPr/>
          <p:nvPr/>
        </p:nvSpPr>
        <p:spPr>
          <a:xfrm>
            <a:off x="8915400" y="3200400"/>
            <a:ext cx="182880" cy="0"/>
          </a:xfrm>
          <a:prstGeom prst="line">
            <a:avLst/>
          </a:prstGeom>
          <a:noFill/>
          <a:ln w="25400">
            <a:solidFill>
              <a:srgbClr val="64748B"/>
            </a:solidFill>
            <a:prstDash val="solid"/>
            <a:tailEnd type="triangle"/>
          </a:ln>
        </p:spPr>
        <p:txBody>
          <a:bodyPr/>
          <a:lstStyle/>
          <a:p>
            <a:endParaRPr lang="en-IN"/>
          </a:p>
        </p:txBody>
      </p:sp>
      <p:sp>
        <p:nvSpPr>
          <p:cNvPr id="30" name="Shape 28"/>
          <p:cNvSpPr/>
          <p:nvPr/>
        </p:nvSpPr>
        <p:spPr>
          <a:xfrm>
            <a:off x="9107424" y="1554480"/>
            <a:ext cx="2697480" cy="3200400"/>
          </a:xfrm>
          <a:prstGeom prst="rect">
            <a:avLst/>
          </a:prstGeom>
          <a:solidFill>
            <a:srgbClr val="FFFFFF"/>
          </a:solidFill>
          <a:ln w="9525">
            <a:solidFill>
              <a:srgbClr val="CBD5E1"/>
            </a:solidFill>
            <a:prstDash val="solid"/>
          </a:ln>
          <a:effectLst>
            <a:outerShdw blurRad="50800" dist="19050" dir="8100000" algn="bl" rotWithShape="0">
              <a:srgbClr val="000000">
                <a:alpha val="12000"/>
              </a:srgbClr>
            </a:outerShdw>
          </a:effectLst>
        </p:spPr>
        <p:txBody>
          <a:bodyPr/>
          <a:lstStyle/>
          <a:p>
            <a:endParaRPr lang="en-IN"/>
          </a:p>
        </p:txBody>
      </p:sp>
      <p:sp>
        <p:nvSpPr>
          <p:cNvPr id="31" name="Shape 29"/>
          <p:cNvSpPr/>
          <p:nvPr/>
        </p:nvSpPr>
        <p:spPr>
          <a:xfrm>
            <a:off x="9107424" y="1554480"/>
            <a:ext cx="2697480" cy="438912"/>
          </a:xfrm>
          <a:prstGeom prst="rect">
            <a:avLst/>
          </a:prstGeom>
          <a:solidFill>
            <a:srgbClr val="0E8C8A"/>
          </a:solidFill>
          <a:ln w="12700">
            <a:solidFill>
              <a:srgbClr val="0E8C8A"/>
            </a:solidFill>
            <a:prstDash val="solid"/>
          </a:ln>
        </p:spPr>
        <p:txBody>
          <a:bodyPr/>
          <a:lstStyle/>
          <a:p>
            <a:endParaRPr lang="en-IN"/>
          </a:p>
        </p:txBody>
      </p:sp>
      <p:sp>
        <p:nvSpPr>
          <p:cNvPr id="32" name="Text 30"/>
          <p:cNvSpPr/>
          <p:nvPr/>
        </p:nvSpPr>
        <p:spPr>
          <a:xfrm>
            <a:off x="9217152" y="1554480"/>
            <a:ext cx="2514600" cy="438912"/>
          </a:xfrm>
          <a:prstGeom prst="rect">
            <a:avLst/>
          </a:prstGeom>
          <a:noFill/>
          <a:ln/>
        </p:spPr>
        <p:txBody>
          <a:bodyPr wrap="square" lIns="0" tIns="0" rIns="0" bIns="0" rtlCol="0" anchor="ctr"/>
          <a:lstStyle/>
          <a:p>
            <a:pPr marL="0" indent="0">
              <a:buNone/>
            </a:pPr>
            <a:r>
              <a:rPr lang="en-US" sz="1250" b="1" dirty="0">
                <a:solidFill>
                  <a:srgbClr val="FDE68A"/>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Deterministic decision</a:t>
            </a:r>
            <a:endParaRPr lang="en-US" sz="1250" dirty="0"/>
          </a:p>
        </p:txBody>
      </p:sp>
      <p:sp>
        <p:nvSpPr>
          <p:cNvPr id="33" name="Shape 31"/>
          <p:cNvSpPr/>
          <p:nvPr/>
        </p:nvSpPr>
        <p:spPr>
          <a:xfrm>
            <a:off x="9217152" y="2103120"/>
            <a:ext cx="2478024" cy="2240280"/>
          </a:xfrm>
          <a:prstGeom prst="rect">
            <a:avLst/>
          </a:prstGeom>
          <a:solidFill>
            <a:srgbClr val="F1F5F9"/>
          </a:solidFill>
          <a:ln w="12700">
            <a:solidFill>
              <a:srgbClr val="E2E8F0"/>
            </a:solidFill>
            <a:prstDash val="solid"/>
          </a:ln>
        </p:spPr>
        <p:txBody>
          <a:bodyPr/>
          <a:lstStyle/>
          <a:p>
            <a:endParaRPr lang="en-IN"/>
          </a:p>
        </p:txBody>
      </p:sp>
      <p:sp>
        <p:nvSpPr>
          <p:cNvPr id="34" name="Text 32"/>
          <p:cNvSpPr/>
          <p:nvPr/>
        </p:nvSpPr>
        <p:spPr>
          <a:xfrm>
            <a:off x="9272016" y="2148840"/>
            <a:ext cx="2423160" cy="2148840"/>
          </a:xfrm>
          <a:prstGeom prst="rect">
            <a:avLst/>
          </a:prstGeom>
          <a:noFill/>
          <a:ln/>
        </p:spPr>
        <p:txBody>
          <a:bodyPr wrap="square" lIns="0" tIns="0" rIns="0" bIns="0" rtlCol="0" anchor="t"/>
          <a:lstStyle/>
          <a:p>
            <a:pPr marL="0" indent="0">
              <a:buNone/>
            </a:pPr>
            <a:r>
              <a:rPr lang="en-US" sz="950" dirty="0">
                <a:solidFill>
                  <a:srgbClr val="1E293B"/>
                </a:solidFill>
                <a:latin typeface="Consolas" pitchFamily="34" charset="0"/>
                <a:ea typeface="Consolas" pitchFamily="34" charset="-122"/>
                <a:cs typeface="Consolas" pitchFamily="34" charset="-120"/>
              </a:rPr>
              <a:t>input: CTL-REC-014</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daily cash reconciliation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sample: 15, exceptions: 1</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tester = owner, no issue</a:t>
            </a:r>
            <a:endParaRPr lang="en-US" sz="950" dirty="0"/>
          </a:p>
          <a:p>
            <a:pPr marL="0" indent="0">
              <a:buNone/>
            </a:pP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"decision": "DENY",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"violations":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"CA-R-001", "CA-R-002",</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"CA-R-003"</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"engine": "OPA"</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9217152" y="4370832"/>
            <a:ext cx="2478024" cy="347472"/>
          </a:xfrm>
          <a:prstGeom prst="rect">
            <a:avLst/>
          </a:prstGeom>
          <a:noFill/>
          <a:ln/>
        </p:spPr>
        <p:txBody>
          <a:bodyPr wrap="square" lIns="0" tIns="0" rIns="0" bIns="0" rtlCol="0" anchor="ctr"/>
          <a:lstStyle/>
          <a:p>
            <a:pPr marL="0" indent="0">
              <a:buNone/>
            </a:pPr>
            <a:r>
              <a:rPr lang="en-US" sz="950" b="1" dirty="0">
                <a:solidFill>
                  <a:srgbClr val="B42318"/>
                </a:solidFill>
                <a:latin typeface="Calibri" pitchFamily="34" charset="0"/>
                <a:ea typeface="Calibri" pitchFamily="34" charset="-122"/>
                <a:cs typeface="Calibri" pitchFamily="34" charset="-120"/>
              </a:rPr>
              <a:t>Sample too small; not independent; no issue</a:t>
            </a:r>
            <a:endParaRPr lang="en-US" sz="950" dirty="0"/>
          </a:p>
        </p:txBody>
      </p:sp>
      <p:sp>
        <p:nvSpPr>
          <p:cNvPr id="36" name="Text 34"/>
          <p:cNvSpPr/>
          <p:nvPr/>
        </p:nvSpPr>
        <p:spPr>
          <a:xfrm>
            <a:off x="411480" y="4919472"/>
            <a:ext cx="5486400" cy="274320"/>
          </a:xfrm>
          <a:prstGeom prst="rect">
            <a:avLst/>
          </a:prstGeom>
          <a:noFill/>
          <a:ln/>
        </p:spPr>
        <p:txBody>
          <a:bodyPr wrap="square" lIns="0" tIns="0" rIns="0" bIns="0" rtlCol="0" anchor="ctr"/>
          <a:lstStyle/>
          <a:p>
            <a:pPr marL="0" indent="0">
              <a:buNone/>
            </a:pPr>
            <a:r>
              <a:rPr lang="en-US" sz="1350" b="1" dirty="0">
                <a:solidFill>
                  <a:srgbClr val="0F2043"/>
                </a:solidFill>
                <a:latin typeface="Calibri" pitchFamily="34" charset="0"/>
                <a:ea typeface="Calibri" pitchFamily="34" charset="-122"/>
                <a:cs typeface="Calibri" pitchFamily="34" charset="-120"/>
              </a:rPr>
              <a:t>Regulator-ready traceability</a:t>
            </a:r>
            <a:endParaRPr lang="en-US" sz="1350" dirty="0"/>
          </a:p>
        </p:txBody>
      </p:sp>
      <p:sp>
        <p:nvSpPr>
          <p:cNvPr id="37" name="Shape 35"/>
          <p:cNvSpPr/>
          <p:nvPr/>
        </p:nvSpPr>
        <p:spPr>
          <a:xfrm>
            <a:off x="411480"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38" name="Text 36"/>
          <p:cNvSpPr/>
          <p:nvPr/>
        </p:nvSpPr>
        <p:spPr>
          <a:xfrm>
            <a:off x="502920"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Obligation</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PCAOB AS 2201 operating effectiveness</a:t>
            </a:r>
            <a:endParaRPr lang="en-US" sz="950" dirty="0"/>
          </a:p>
        </p:txBody>
      </p:sp>
      <p:sp>
        <p:nvSpPr>
          <p:cNvPr id="39" name="Shape 37"/>
          <p:cNvSpPr/>
          <p:nvPr/>
        </p:nvSpPr>
        <p:spPr>
          <a:xfrm>
            <a:off x="2304288"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0" name="Text 38"/>
          <p:cNvSpPr/>
          <p:nvPr/>
        </p:nvSpPr>
        <p:spPr>
          <a:xfrm>
            <a:off x="2395728"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Enforcing rule</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Sample ≥ minimum; tester ≠ owner</a:t>
            </a:r>
            <a:endParaRPr lang="en-US" sz="950" dirty="0"/>
          </a:p>
        </p:txBody>
      </p:sp>
      <p:sp>
        <p:nvSpPr>
          <p:cNvPr id="41" name="Shape 39"/>
          <p:cNvSpPr/>
          <p:nvPr/>
        </p:nvSpPr>
        <p:spPr>
          <a:xfrm>
            <a:off x="4197096" y="5248656"/>
            <a:ext cx="1783080" cy="914400"/>
          </a:xfrm>
          <a:prstGeom prst="rect">
            <a:avLst/>
          </a:prstGeom>
          <a:solidFill>
            <a:srgbClr val="F6F8FB"/>
          </a:solidFill>
          <a:ln w="9525">
            <a:solidFill>
              <a:srgbClr val="CBD5E1"/>
            </a:solidFill>
            <a:prstDash val="solid"/>
          </a:ln>
        </p:spPr>
        <p:txBody>
          <a:bodyPr/>
          <a:lstStyle/>
          <a:p>
            <a:endParaRPr lang="en-IN"/>
          </a:p>
        </p:txBody>
      </p:sp>
      <p:sp>
        <p:nvSpPr>
          <p:cNvPr id="42" name="Text 40"/>
          <p:cNvSpPr/>
          <p:nvPr/>
        </p:nvSpPr>
        <p:spPr>
          <a:xfrm>
            <a:off x="4288536"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Proving test</a:t>
            </a:r>
            <a:endParaRPr lang="en-US" sz="950" dirty="0"/>
          </a:p>
          <a:p>
            <a:pPr marL="0" indent="0">
              <a:buNone/>
            </a:pPr>
            <a:r>
              <a:rPr lang="en-US" sz="1050" b="1" dirty="0">
                <a:solidFill>
                  <a:srgbClr val="0F2043"/>
                </a:solidFill>
                <a:latin typeface="Calibri" pitchFamily="34" charset="0"/>
                <a:ea typeface="Calibri" pitchFamily="34" charset="-122"/>
                <a:cs typeface="Calibri" pitchFamily="34" charset="-120"/>
              </a:rPr>
              <a:t>Workpaper test scenarios</a:t>
            </a:r>
            <a:endParaRPr lang="en-US" sz="950" dirty="0"/>
          </a:p>
        </p:txBody>
      </p:sp>
      <p:sp>
        <p:nvSpPr>
          <p:cNvPr id="43" name="Shape 41"/>
          <p:cNvSpPr/>
          <p:nvPr/>
        </p:nvSpPr>
        <p:spPr>
          <a:xfrm>
            <a:off x="6089904" y="5248656"/>
            <a:ext cx="1783080" cy="914400"/>
          </a:xfrm>
          <a:prstGeom prst="rect">
            <a:avLst/>
          </a:prstGeom>
          <a:solidFill>
            <a:srgbClr val="FDF0DC"/>
          </a:solidFill>
          <a:ln w="9525">
            <a:solidFill>
              <a:srgbClr val="D97706"/>
            </a:solidFill>
            <a:prstDash val="solid"/>
          </a:ln>
        </p:spPr>
        <p:txBody>
          <a:bodyPr/>
          <a:lstStyle/>
          <a:p>
            <a:endParaRPr lang="en-IN"/>
          </a:p>
        </p:txBody>
      </p:sp>
      <p:sp>
        <p:nvSpPr>
          <p:cNvPr id="44" name="Text 42"/>
          <p:cNvSpPr/>
          <p:nvPr/>
        </p:nvSpPr>
        <p:spPr>
          <a:xfrm>
            <a:off x="6181344" y="5248656"/>
            <a:ext cx="1600200" cy="914400"/>
          </a:xfrm>
          <a:prstGeom prst="rect">
            <a:avLst/>
          </a:prstGeom>
          <a:noFill/>
          <a:ln/>
        </p:spPr>
        <p:txBody>
          <a:bodyPr wrap="square" lIns="0" tIns="0" rIns="0" bIns="0" rtlCol="0" anchor="ctr"/>
          <a:lstStyle/>
          <a:p>
            <a:pPr marL="0" indent="0">
              <a:buNone/>
            </a:pPr>
            <a:r>
              <a:rPr lang="en-US" sz="950" dirty="0">
                <a:solidFill>
                  <a:srgbClr val="5B6577"/>
                </a:solidFill>
                <a:latin typeface="Calibri" pitchFamily="34" charset="0"/>
                <a:ea typeface="Calibri" pitchFamily="34" charset="-122"/>
                <a:cs typeface="Calibri" pitchFamily="34" charset="-120"/>
              </a:rPr>
              <a:t>Coverage</a:t>
            </a:r>
            <a:endParaRPr lang="en-US" sz="950" dirty="0"/>
          </a:p>
          <a:p>
            <a:pPr marL="0" indent="0">
              <a:buNone/>
            </a:pPr>
            <a:r>
              <a:rPr lang="en-US" sz="1050" b="1" dirty="0">
                <a:solidFill>
                  <a:srgbClr val="8A4B00"/>
                </a:solidFill>
                <a:latin typeface="Calibri" pitchFamily="34" charset="0"/>
                <a:ea typeface="Calibri" pitchFamily="34" charset="-122"/>
                <a:cs typeface="Calibri" pitchFamily="34" charset="-120"/>
              </a:rPr>
              <a:t>Partial: sample table pending auditor sign-off</a:t>
            </a:r>
            <a:endParaRPr lang="en-US" sz="950" dirty="0"/>
          </a:p>
        </p:txBody>
      </p:sp>
      <p:sp>
        <p:nvSpPr>
          <p:cNvPr id="45" name="Shape 43"/>
          <p:cNvSpPr/>
          <p:nvPr/>
        </p:nvSpPr>
        <p:spPr>
          <a:xfrm>
            <a:off x="8092440" y="4919472"/>
            <a:ext cx="3703320" cy="1481328"/>
          </a:xfrm>
          <a:prstGeom prst="rect">
            <a:avLst/>
          </a:prstGeom>
          <a:solidFill>
            <a:srgbClr val="FDF0DC"/>
          </a:solidFill>
          <a:ln w="12700">
            <a:solidFill>
              <a:srgbClr val="FDF0DC"/>
            </a:solidFill>
            <a:prstDash val="solid"/>
          </a:ln>
        </p:spPr>
        <p:txBody>
          <a:bodyPr/>
          <a:lstStyle/>
          <a:p>
            <a:endParaRPr lang="en-IN"/>
          </a:p>
        </p:txBody>
      </p:sp>
      <p:sp>
        <p:nvSpPr>
          <p:cNvPr id="46" name="Text 44"/>
          <p:cNvSpPr/>
          <p:nvPr/>
        </p:nvSpPr>
        <p:spPr>
          <a:xfrm>
            <a:off x="8211312" y="4974336"/>
            <a:ext cx="3520440" cy="1371600"/>
          </a:xfrm>
          <a:prstGeom prst="rect">
            <a:avLst/>
          </a:prstGeom>
          <a:noFill/>
          <a:ln/>
        </p:spPr>
        <p:txBody>
          <a:bodyPr wrap="square" lIns="0" tIns="0" rIns="0" bIns="0" rtlCol="0" anchor="t"/>
          <a:lstStyle/>
          <a:p>
            <a:pPr marL="0" indent="0">
              <a:spcAft>
                <a:spcPts val="200"/>
              </a:spcAft>
              <a:buNone/>
            </a:pPr>
            <a:r>
              <a:rPr lang="en-US" sz="1200" b="1" dirty="0">
                <a:solidFill>
                  <a:srgbClr val="8A4B00"/>
                </a:solidFill>
                <a:latin typeface="Calibri" pitchFamily="34" charset="0"/>
                <a:ea typeface="Calibri" pitchFamily="34" charset="-122"/>
                <a:cs typeface="Calibri" pitchFamily="34" charset="-120"/>
              </a:rPr>
              <a:t>What the demo proves</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A weak workpaper cannot be signed off, so results can be relied on</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Changing the sample table updates every test plan in one step</a:t>
            </a:r>
            <a:endParaRPr lang="en-US" sz="1000" dirty="0"/>
          </a:p>
          <a:p>
            <a:pPr marL="342900" indent="-342900">
              <a:spcAft>
                <a:spcPts val="200"/>
              </a:spcAft>
              <a:buSzPct val="100000"/>
              <a:buChar char="•"/>
            </a:pPr>
            <a:r>
              <a:rPr lang="en-US" sz="1000" dirty="0">
                <a:solidFill>
                  <a:srgbClr val="1E293B"/>
                </a:solidFill>
                <a:latin typeface="Calibri" pitchFamily="34" charset="0"/>
                <a:ea typeface="Calibri" pitchFamily="34" charset="-122"/>
                <a:cs typeface="Calibri" pitchFamily="34" charset="-120"/>
              </a:rPr>
              <a:t>Control effectiveness is shown continuously, not only at year end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48066fd-9395-4325-a4e7-856a23126b8d}" enabled="1" method="Privileged" siteId="{404b1967-6507-45ab-8a6d-7374a3f478be}" contentBits="0" removed="0"/>
</clbl:labelList>
</file>

<file path=docProps/app.xml><?xml version="1.0" encoding="utf-8"?>
<Properties xmlns="http://schemas.openxmlformats.org/officeDocument/2006/extended-properties" xmlns:vt="http://schemas.openxmlformats.org/officeDocument/2006/docPropsVTypes">
  <TotalTime>67</TotalTime>
  <Words>6738</Words>
  <Application>Microsoft Office PowerPoint</Application>
  <PresentationFormat>Widescreen</PresentationFormat>
  <Paragraphs>693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as Code - Concept, Use Case and Target Architecture</dc:title>
  <dc:subject>PptxGenJS Presentation</dc:subject>
  <dc:creator>AMEENUDEEN M</dc:creator>
  <cp:lastModifiedBy>AMEENUDEEN M</cp:lastModifiedBy>
  <cp:revision>4</cp:revision>
  <dcterms:created xsi:type="dcterms:W3CDTF">2026-10-20T15:01:21Z</dcterms:created>
  <dcterms:modified xsi:type="dcterms:W3CDTF">2026-10-20T16:17:51Z</dcterms:modified>
</cp:coreProperties>
</file>
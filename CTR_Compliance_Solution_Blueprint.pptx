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Next-Gen CTR Compliance Engine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  <a:latin typeface="Arial"/>
              </a:defRPr>
            </a:pPr>
            <a:r>
              <a:t>End-to-End Enterprise Architecture, MVPs, &amp; Prototyping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The Core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Regulatory &amp; Operational Pain</a:t>
            </a:r>
          </a:p>
          <a:p>
            <a:pPr>
              <a:spcBef>
                <a:spcPts val="1000"/>
              </a:spcBef>
              <a:defRPr sz="1400">
                <a:solidFill>
                  <a:srgbClr val="4B5563"/>
                </a:solidFill>
              </a:defRPr>
            </a:pPr>
            <a:r>
              <a:t>• Omnichannel Aggregation Gaps: Failure to track cross-branch, ATM, and mobile cash transactions in real-time results in missed CTR filings.</a:t>
            </a:r>
          </a:p>
          <a:p>
            <a:pPr>
              <a:spcBef>
                <a:spcPts val="1000"/>
              </a:spcBef>
              <a:defRPr sz="1400">
                <a:solidFill>
                  <a:srgbClr val="4B5563"/>
                </a:solidFill>
              </a:defRPr>
            </a:pPr>
            <a:r>
              <a:t>• Manual Processing &amp; Backlogs: Compliance teams waste hundreds of hours manually verifying identities and filing FinCEN Form 112.</a:t>
            </a:r>
          </a:p>
          <a:p>
            <a:pPr>
              <a:spcBef>
                <a:spcPts val="1000"/>
              </a:spcBef>
              <a:defRPr sz="1400">
                <a:solidFill>
                  <a:srgbClr val="4B5563"/>
                </a:solidFill>
              </a:defRPr>
            </a:pPr>
            <a:r>
              <a:t>• Severe Non-Compliance Penalties: Unchecked 'structuring' or delayed filings result in massive civil money penalties and regulatory audits.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Customer Friction &amp; Business Drag</a:t>
            </a:r>
          </a:p>
          <a:p>
            <a:pPr>
              <a:spcBef>
                <a:spcPts val="1000"/>
              </a:spcBef>
              <a:defRPr sz="1400">
                <a:solidFill>
                  <a:srgbClr val="4B5563"/>
                </a:solidFill>
              </a:defRPr>
            </a:pPr>
            <a:r>
              <a:t>• Intrusive Tellers &amp; Front-Line Friction: Tellers manually interrogating known customers for basic info causes major drop-offs and poor experience.</a:t>
            </a:r>
          </a:p>
          <a:p>
            <a:pPr>
              <a:spcBef>
                <a:spcPts val="1000"/>
              </a:spcBef>
              <a:defRPr sz="1400">
                <a:solidFill>
                  <a:srgbClr val="4B5563"/>
                </a:solidFill>
              </a:defRPr>
            </a:pPr>
            <a:r>
              <a:t>• Delayed Exemption Lifecycles: Manual tracking of commercial customers eligible for Phase II exemptions keeps them under unnecessary scrutiny.</a:t>
            </a:r>
          </a:p>
          <a:p>
            <a:pPr>
              <a:spcBef>
                <a:spcPts val="1000"/>
              </a:spcBef>
              <a:defRPr sz="1400">
                <a:solidFill>
                  <a:srgbClr val="4B5563"/>
                </a:solidFill>
              </a:defRPr>
            </a:pPr>
            <a:r>
              <a:t>• Data Silos: High-value customers are subjected to disjointed compliance requests because core systems do not talk to the AML stack.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Solution MVPs (Minimum Viable Products)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MVP 1: Smart Aggregator &amp; Form Generator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Focus: Automated Rule-based Data Engine</a:t>
            </a:r>
            <a:br/>
            <a:br/>
            <a:r>
              <a:t>• Core Feature: Scans end-of-day cash transaction logs across Core Banking and ATMs.</a:t>
            </a:r>
            <a:br/>
            <a:r>
              <a:t>• Aggregation Engine: Summarizes total daily cash per taxpayer ID.</a:t>
            </a:r>
            <a:br/>
            <a:r>
              <a:t>• E-Form Generation: Compiles a clean XML payload mapped perfectly to FinCEN Form 112 specifications.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34840" y="164592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MVP 2: Teller Pro &amp; Intelligent UX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Focus: Front-Line Experience &amp; Profiling</a:t>
            </a:r>
            <a:br/>
            <a:br/>
            <a:r>
              <a:t>• Seamless Capture: Integrates with the teller workstation terminal via lightweight APIs.</a:t>
            </a:r>
            <a:br/>
            <a:r>
              <a:t>• Pre-Population: Automatically autofills existing customer data.</a:t>
            </a:r>
            <a:br/>
            <a:r>
              <a:t>• Contextual Dynamic UI: Only prompts tellers for missing fields (e.g. updated ID) without mentioning the $10,000 threshold to the user.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164592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MVP 3: Exemption &amp; Pattern Engine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Focus: Optimization &amp; Advanced Detection</a:t>
            </a:r>
            <a:br/>
            <a:br/>
            <a:r>
              <a:t>• Phase II Automated Trackers: Scans commercial accounts for 12 months of compliance history.</a:t>
            </a:r>
            <a:br/>
            <a:r>
              <a:t>• Auto-DOEP Filing: Automatically prepares 'Designation of Exempt Person' forms.</a:t>
            </a:r>
            <a:br/>
            <a:r>
              <a:t>• Anomaly Alerts: Rule-based heuristics flag potential structuring (e.g., repeating $9.9k deposits) for immediate SAR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Rapid Prototyping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Prototype 1 (For MVP 1)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• Data Input: Static CSV/JSON mock transaction logs representing 3 branches and 2 ATMs.</a:t>
            </a:r>
            <a:br/>
            <a:r>
              <a:t>• Processing Layer: Python script using pandas to group by CustomerID and sum cash fields.</a:t>
            </a:r>
            <a:br/>
            <a:r>
              <a:t>• Output Verification: Generate raw XML file matching FinCEN's official schema validator format.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34840" y="164592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Prototype 2 (For MVP 2)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• Interface: Basic wireframe UI built in Streamlit or Retool mimicking a teller dashboard.</a:t>
            </a:r>
            <a:br/>
            <a:r>
              <a:t>• Integration: Mock API endpoints built using FastAPI that return customer profile JSON payloads.</a:t>
            </a:r>
            <a:br/>
            <a:r>
              <a:t>• Conditionals: Form field turns bright red if the text field for 'ID Expiration' is passed today's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164592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Prototype 3 (For MVP 3)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• Mock Data: Set up a synthetic database containing historical transaction patterns for 50 accounts.</a:t>
            </a:r>
            <a:br/>
            <a:r>
              <a:t>• Threshold Scripts: Write SQL queries identifying entities breaching $10k inside a moving 7-day window.</a:t>
            </a:r>
            <a:br/>
            <a:r>
              <a:t>• Workflow Tool: Integrate a simple Slack Webhook alert that posts a notification whenever an anomaly is found.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Target End-to-End 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1. Data Ingestion Layer (Real-time &amp; Batch): </a:t>
            </a:r>
            <a:r>
              <a:rPr sz="1400" b="0">
                <a:solidFill>
                  <a:srgbClr val="FFFFFF"/>
                </a:solidFill>
              </a:rPr>
              <a:t>Apache Kafka streams for real-time ATM/Mobile logs + daily ETL pipeline from Core Banking systems.</a:t>
            </a:r>
          </a:p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2. Real-Time Processing &amp; Aggregation: </a:t>
            </a:r>
            <a:r>
              <a:rPr sz="1400" b="0">
                <a:solidFill>
                  <a:srgbClr val="FFFFFF"/>
                </a:solidFill>
              </a:rPr>
              <a:t>Apache Flink / Spark Streaming tracks cumulative daily cash volumes linked by validated Taxpayer IDs (SSN/EIN).</a:t>
            </a:r>
          </a:p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3. Intelligent Compliance Microservices: </a:t>
            </a:r>
            <a:r>
              <a:rPr sz="1400" b="0">
                <a:solidFill>
                  <a:srgbClr val="FFFFFF"/>
                </a:solidFill>
              </a:rPr>
              <a:t>FastAPI-based containerized microservices hosted on Kubernetes handling: 1) CTR Form Compiler, 2) Phase II Exemption Analyzer, 3) AML Structuring Detection Engine (ML/Heuristics).</a:t>
            </a:r>
          </a:p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4. Secure System &amp; API Integrations: </a:t>
            </a:r>
            <a:r>
              <a:rPr sz="1400" b="0">
                <a:solidFill>
                  <a:srgbClr val="FFFFFF"/>
                </a:solidFill>
              </a:rPr>
              <a:t>Exposes REST/gRPC endpoints to Teller Workstations for UI auto-fill; OAuth2 secured external gateway connecting straight to FinCEN BSA E-Filing API.</a:t>
            </a:r>
          </a:p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5. Data Governance &amp; Storage: </a:t>
            </a:r>
            <a:r>
              <a:rPr sz="1400" b="0">
                <a:solidFill>
                  <a:srgbClr val="FFFFFF"/>
                </a:solidFill>
              </a:rPr>
              <a:t>PostgreSQL operational database for active logs + immutable AWS S3 Glacier storage archiving submitted forms for the required 5-year audit trail.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Architecture Evolution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45920"/>
          <a:ext cx="108200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3017520"/>
                <a:gridCol w="3047695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F2937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F2937"/>
                          </a:solidFill>
                        </a:defRPr>
                      </a:pPr>
                      <a:r>
                        <a:t>Rapid Prototype (Days)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F2937"/>
                          </a:solidFill>
                        </a:defRPr>
                      </a:pPr>
                      <a:r>
                        <a:t>MVP Architecture (Weeks)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F2937"/>
                          </a:solidFill>
                        </a:defRPr>
                      </a:pPr>
                      <a:r>
                        <a:t>Target Enterprise (Production)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Data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B5563"/>
                          </a:solidFill>
                        </a:defRPr>
                      </a:pPr>
                      <a:r>
                        <a:t>Static CSV files / Local Python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B5563"/>
                          </a:solidFill>
                        </a:defRPr>
                      </a:pPr>
                      <a:r>
                        <a:t>SQL Stored Procedures / Nightly Batch Cron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B5563"/>
                          </a:solidFill>
                        </a:defRPr>
                      </a:pPr>
                      <a:r>
                        <a:t>Kafka Real-Time Streams + Apache Flink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User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B5563"/>
                          </a:solidFill>
                        </a:defRPr>
                      </a:pPr>
                      <a:r>
                        <a:t>Retool / Streamlit mock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B5563"/>
                          </a:solidFill>
                        </a:defRPr>
                      </a:pPr>
                      <a:r>
                        <a:t>Embedded Iframe inside existing Teller 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B5563"/>
                          </a:solidFill>
                        </a:defRPr>
                      </a:pPr>
                      <a:r>
                        <a:t>Native React UI with Micro-frontends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Filing &amp; 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B5563"/>
                          </a:solidFill>
                        </a:defRPr>
                      </a:pPr>
                      <a:r>
                        <a:t>Manual download of mock XML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B5563"/>
                          </a:solidFill>
                        </a:defRPr>
                      </a:pPr>
                      <a:r>
                        <a:t>Semi-automated batch uploads to E-File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B5563"/>
                          </a:solidFill>
                        </a:defRPr>
                      </a:pPr>
                      <a:r>
                        <a:t>Fully automated REST API pipe to FinCEN Gateway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
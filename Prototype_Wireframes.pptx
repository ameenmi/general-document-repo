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9303AAA8-835A-41EF-BE16-083F8B226815}" type="datetimeFigureOut">
              <a:t>10/15/2026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87F7EAA-DD8D-4AFC-859C-999C6E39F706}" type="slidenum">
              <a:t>‹#›</a:t>
            </a:fld>
            <a:endParaRPr lang="en-US"/>
          </a:p>
        </p:txBody>
      </p:sp>
    </p:spTree>
    <p:extLst>
      <p:ext uri="{BB962C8B-B14F-4D97-AF65-F5344CB8AC3E}">
        <p14:creationId xmlns:p14="http://schemas.microsoft.com/office/powerpoint/2010/main" val="2855298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pack turns the prototype architecture into buildable UI wireframes. Each screen has numbered annotations that describe behaviour, data source and interaction, so the React and FastAPI work can be split cleanly.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screens share one application shell. The primary demo path is: inject a suspicious event from the Control Panel (S5), watch it appear on the Live Dashboard (S1), then open it in the alert drawer (S3b). S2 and S4 support questions during the demo, such as 'show me the raw transaction' or 'is Kafka healthy?'. All numbers in the wireframes are sample placeholders.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demo screen. The audience should see transactions scrolling in the live feed, KPI counters ticking up and, after the injected event, a new red alert card. The feed is driven by a single SSE connection from FastAPI. All numbers are placeholders.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screen for Q&amp;A: 'show me the raw transaction behind that alert'. Data comes from the PostgreSQL transactions table written by the consumer of transactions.processed. Paging and filtering are server-side.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drawer is where the stream-processing story lands: the audience can see which rule fired and which transactions contributed to a windowed total. Status changes are written to the fraud_alerts 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screen if the audience asks 'how do we know it is working?' It gives an at-a-glance health view, and links out to Kafka UI for message-level detail. Optional for iteration 1 because Kafka UI already covers topics and offsets.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is a convenience layer that replaces the CLI scripts (producer.py and generate_high_risk_transaction.py) with buttons, so the presenter never has to switch to a terminal. If time is short in iteration 1, keep the CLI scripts and build this screen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order recommendation: iteration 1 delivers the demo's core (S1 plus the alert drawer from S3). Iteration 2 adds the Control Panel (S5) and Transactions Explorer (S2). Iteration 3 adds Pipeline Health (S4); Kafka UI covers this need in the meantime. The API paths are proposals, not an existing contract.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E9AA7"/>
          </a:solidFill>
          <a:ln w="12700">
            <a:solidFill>
              <a:srgbClr val="0E9AA7"/>
            </a:solidFill>
            <a:prstDash val="solid"/>
          </a:ln>
        </p:spPr>
      </p:sp>
      <p:sp>
        <p:nvSpPr>
          <p:cNvPr id="3" name="Text 1"/>
          <p:cNvSpPr/>
          <p:nvPr/>
        </p:nvSpPr>
        <p:spPr>
          <a:xfrm>
            <a:off x="822960" y="1371600"/>
            <a:ext cx="6400800" cy="365760"/>
          </a:xfrm>
          <a:prstGeom prst="rect">
            <a:avLst/>
          </a:prstGeom>
          <a:noFill/>
          <a:ln/>
        </p:spPr>
        <p:txBody>
          <a:bodyPr wrap="square" lIns="0" tIns="0" rIns="0" bIns="0" rtlCol="0" anchor="ctr"/>
          <a:lstStyle/>
          <a:p>
            <a:pPr marL="0" indent="0" algn="l">
              <a:buNone/>
            </a:pPr>
            <a:r>
              <a:rPr lang="en-US" sz="1400" b="1" kern="0" spc="400" dirty="0">
                <a:solidFill>
                  <a:srgbClr val="0E9AA7"/>
                </a:solidFill>
                <a:latin typeface="Calibri" pitchFamily="34" charset="0"/>
                <a:ea typeface="Calibri" pitchFamily="34" charset="-122"/>
                <a:cs typeface="Calibri" pitchFamily="34" charset="-120"/>
              </a:rPr>
              <a:t>UI WIREFRAME PACK</a:t>
            </a:r>
            <a:endParaRPr lang="en-US" sz="1400" dirty="0"/>
          </a:p>
        </p:txBody>
      </p:sp>
      <p:sp>
        <p:nvSpPr>
          <p:cNvPr id="4" name="Text 2"/>
          <p:cNvSpPr/>
          <p:nvPr/>
        </p:nvSpPr>
        <p:spPr>
          <a:xfrm>
            <a:off x="822960" y="1828800"/>
            <a:ext cx="6675120" cy="1463040"/>
          </a:xfrm>
          <a:prstGeom prst="rect">
            <a:avLst/>
          </a:prstGeom>
          <a:noFill/>
          <a:ln/>
        </p:spPr>
        <p:txBody>
          <a:bodyPr wrap="square" lIns="0" tIns="0" rIns="0" bIns="0" rtlCol="0" anchor="t"/>
          <a:lstStyle/>
          <a:p>
            <a:pPr marL="0" indent="0" algn="l">
              <a:buNone/>
            </a:pPr>
            <a:r>
              <a:rPr lang="en-US" sz="3800" b="1" dirty="0">
                <a:solidFill>
                  <a:srgbClr val="FFFFFF"/>
                </a:solidFill>
                <a:latin typeface="Calibri" pitchFamily="34" charset="0"/>
                <a:ea typeface="Calibri" pitchFamily="34" charset="-122"/>
                <a:cs typeface="Calibri" pitchFamily="34" charset="-120"/>
              </a:rPr>
              <a:t>Real-Time Transaction Monitoring Prototype</a:t>
            </a:r>
            <a:endParaRPr lang="en-US" sz="3800" dirty="0"/>
          </a:p>
        </p:txBody>
      </p:sp>
      <p:sp>
        <p:nvSpPr>
          <p:cNvPr id="5" name="Text 3"/>
          <p:cNvSpPr/>
          <p:nvPr/>
        </p:nvSpPr>
        <p:spPr>
          <a:xfrm>
            <a:off x="822960" y="3474720"/>
            <a:ext cx="6217920" cy="822960"/>
          </a:xfrm>
          <a:prstGeom prst="rect">
            <a:avLst/>
          </a:prstGeom>
          <a:noFill/>
          <a:ln/>
        </p:spPr>
        <p:txBody>
          <a:bodyPr wrap="square" lIns="0" tIns="0" rIns="0" bIns="0" rtlCol="0" anchor="t"/>
          <a:lstStyle/>
          <a:p>
            <a:pPr marL="0" indent="0" algn="l">
              <a:buNone/>
            </a:pPr>
            <a:r>
              <a:rPr lang="en-US" sz="1700" dirty="0">
                <a:solidFill>
                  <a:srgbClr val="C9D3E3"/>
                </a:solidFill>
                <a:latin typeface="Calibri" pitchFamily="34" charset="0"/>
                <a:ea typeface="Calibri" pitchFamily="34" charset="-122"/>
                <a:cs typeface="Calibri" pitchFamily="34" charset="-120"/>
              </a:rPr>
              <a:t>Screen wireframes, annotations and API mapping for building the Kafka Streams demo on a local machine</a:t>
            </a:r>
            <a:endParaRPr lang="en-US" sz="1700" dirty="0"/>
          </a:p>
        </p:txBody>
      </p:sp>
      <p:sp>
        <p:nvSpPr>
          <p:cNvPr id="6" name="Shape 4"/>
          <p:cNvSpPr/>
          <p:nvPr/>
        </p:nvSpPr>
        <p:spPr>
          <a:xfrm>
            <a:off x="822960" y="4754880"/>
            <a:ext cx="1234440" cy="384048"/>
          </a:xfrm>
          <a:prstGeom prst="roundRect">
            <a:avLst>
              <a:gd name="adj" fmla="val 11905"/>
            </a:avLst>
          </a:prstGeom>
          <a:solidFill>
            <a:srgbClr val="22325A"/>
          </a:solidFill>
          <a:ln w="9525">
            <a:solidFill>
              <a:srgbClr val="0E9AA7"/>
            </a:solidFill>
            <a:prstDash val="solid"/>
          </a:ln>
        </p:spPr>
      </p:sp>
      <p:sp>
        <p:nvSpPr>
          <p:cNvPr id="7" name="Text 5"/>
          <p:cNvSpPr/>
          <p:nvPr/>
        </p:nvSpPr>
        <p:spPr>
          <a:xfrm>
            <a:off x="822960" y="4754880"/>
            <a:ext cx="123444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5 screens</a:t>
            </a:r>
            <a:endParaRPr lang="en-US" sz="1200" dirty="0"/>
          </a:p>
        </p:txBody>
      </p:sp>
      <p:sp>
        <p:nvSpPr>
          <p:cNvPr id="8" name="Shape 6"/>
          <p:cNvSpPr/>
          <p:nvPr/>
        </p:nvSpPr>
        <p:spPr>
          <a:xfrm>
            <a:off x="2194560" y="4754880"/>
            <a:ext cx="2011680" cy="384048"/>
          </a:xfrm>
          <a:prstGeom prst="roundRect">
            <a:avLst>
              <a:gd name="adj" fmla="val 11905"/>
            </a:avLst>
          </a:prstGeom>
          <a:solidFill>
            <a:srgbClr val="22325A"/>
          </a:solidFill>
          <a:ln w="9525">
            <a:solidFill>
              <a:srgbClr val="0E9AA7"/>
            </a:solidFill>
            <a:prstDash val="solid"/>
          </a:ln>
        </p:spPr>
      </p:sp>
      <p:sp>
        <p:nvSpPr>
          <p:cNvPr id="9" name="Text 7"/>
          <p:cNvSpPr/>
          <p:nvPr/>
        </p:nvSpPr>
        <p:spPr>
          <a:xfrm>
            <a:off x="2194560" y="4754880"/>
            <a:ext cx="201168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Numbered annotations</a:t>
            </a:r>
            <a:endParaRPr lang="en-US" sz="1200" dirty="0"/>
          </a:p>
        </p:txBody>
      </p:sp>
      <p:sp>
        <p:nvSpPr>
          <p:cNvPr id="10" name="Shape 8"/>
          <p:cNvSpPr/>
          <p:nvPr/>
        </p:nvSpPr>
        <p:spPr>
          <a:xfrm>
            <a:off x="4343400" y="4754880"/>
            <a:ext cx="2148840" cy="384048"/>
          </a:xfrm>
          <a:prstGeom prst="roundRect">
            <a:avLst>
              <a:gd name="adj" fmla="val 11905"/>
            </a:avLst>
          </a:prstGeom>
          <a:solidFill>
            <a:srgbClr val="22325A"/>
          </a:solidFill>
          <a:ln w="9525">
            <a:solidFill>
              <a:srgbClr val="0E9AA7"/>
            </a:solidFill>
            <a:prstDash val="solid"/>
          </a:ln>
        </p:spPr>
      </p:sp>
      <p:sp>
        <p:nvSpPr>
          <p:cNvPr id="11" name="Text 9"/>
          <p:cNvSpPr/>
          <p:nvPr/>
        </p:nvSpPr>
        <p:spPr>
          <a:xfrm>
            <a:off x="4343400" y="4754880"/>
            <a:ext cx="2148840"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Screen-to-API mapping</a:t>
            </a:r>
            <a:endParaRPr lang="en-US" sz="1200" dirty="0"/>
          </a:p>
        </p:txBody>
      </p:sp>
      <p:sp>
        <p:nvSpPr>
          <p:cNvPr id="12" name="Shape 10"/>
          <p:cNvSpPr/>
          <p:nvPr/>
        </p:nvSpPr>
        <p:spPr>
          <a:xfrm>
            <a:off x="8138160" y="1371600"/>
            <a:ext cx="3566160" cy="3931920"/>
          </a:xfrm>
          <a:prstGeom prst="rect">
            <a:avLst/>
          </a:prstGeom>
          <a:solidFill>
            <a:srgbClr val="1B2A4E"/>
          </a:solidFill>
          <a:ln w="15875">
            <a:solidFill>
              <a:srgbClr val="3A4C78"/>
            </a:solidFill>
            <a:prstDash val="solid"/>
          </a:ln>
        </p:spPr>
      </p:sp>
      <p:sp>
        <p:nvSpPr>
          <p:cNvPr id="13" name="Shape 11"/>
          <p:cNvSpPr/>
          <p:nvPr/>
        </p:nvSpPr>
        <p:spPr>
          <a:xfrm>
            <a:off x="8138160" y="1371600"/>
            <a:ext cx="3566160" cy="274320"/>
          </a:xfrm>
          <a:prstGeom prst="rect">
            <a:avLst/>
          </a:prstGeom>
          <a:solidFill>
            <a:srgbClr val="2A3B66"/>
          </a:solidFill>
          <a:ln w="9525">
            <a:solidFill>
              <a:srgbClr val="3A4C78"/>
            </a:solidFill>
            <a:prstDash val="solid"/>
          </a:ln>
        </p:spPr>
      </p:sp>
      <p:sp>
        <p:nvSpPr>
          <p:cNvPr id="14" name="Shape 12"/>
          <p:cNvSpPr/>
          <p:nvPr/>
        </p:nvSpPr>
        <p:spPr>
          <a:xfrm>
            <a:off x="8138160" y="1645920"/>
            <a:ext cx="822960" cy="3657600"/>
          </a:xfrm>
          <a:prstGeom prst="rect">
            <a:avLst/>
          </a:prstGeom>
          <a:solidFill>
            <a:srgbClr val="22325A"/>
          </a:solidFill>
          <a:ln w="9525">
            <a:solidFill>
              <a:srgbClr val="3A4C78"/>
            </a:solidFill>
            <a:prstDash val="solid"/>
          </a:ln>
        </p:spPr>
      </p:sp>
      <p:sp>
        <p:nvSpPr>
          <p:cNvPr id="15" name="Shape 13"/>
          <p:cNvSpPr/>
          <p:nvPr/>
        </p:nvSpPr>
        <p:spPr>
          <a:xfrm>
            <a:off x="8229600" y="1828800"/>
            <a:ext cx="640080" cy="182880"/>
          </a:xfrm>
          <a:prstGeom prst="rect">
            <a:avLst/>
          </a:prstGeom>
          <a:solidFill>
            <a:srgbClr val="0E9AA7"/>
          </a:solidFill>
          <a:ln w="12700">
            <a:solidFill>
              <a:srgbClr val="0E9AA7"/>
            </a:solidFill>
            <a:prstDash val="solid"/>
          </a:ln>
        </p:spPr>
      </p:sp>
      <p:sp>
        <p:nvSpPr>
          <p:cNvPr id="16" name="Shape 14"/>
          <p:cNvSpPr/>
          <p:nvPr/>
        </p:nvSpPr>
        <p:spPr>
          <a:xfrm>
            <a:off x="8229600" y="2194560"/>
            <a:ext cx="640080" cy="182880"/>
          </a:xfrm>
          <a:prstGeom prst="rect">
            <a:avLst/>
          </a:prstGeom>
          <a:solidFill>
            <a:srgbClr val="3A4C78"/>
          </a:solidFill>
          <a:ln w="12700">
            <a:solidFill>
              <a:srgbClr val="3A4C78"/>
            </a:solidFill>
            <a:prstDash val="solid"/>
          </a:ln>
        </p:spPr>
      </p:sp>
      <p:sp>
        <p:nvSpPr>
          <p:cNvPr id="17" name="Shape 15"/>
          <p:cNvSpPr/>
          <p:nvPr/>
        </p:nvSpPr>
        <p:spPr>
          <a:xfrm>
            <a:off x="8229600" y="2560320"/>
            <a:ext cx="640080" cy="182880"/>
          </a:xfrm>
          <a:prstGeom prst="rect">
            <a:avLst/>
          </a:prstGeom>
          <a:solidFill>
            <a:srgbClr val="3A4C78"/>
          </a:solidFill>
          <a:ln w="12700">
            <a:solidFill>
              <a:srgbClr val="3A4C78"/>
            </a:solidFill>
            <a:prstDash val="solid"/>
          </a:ln>
        </p:spPr>
      </p:sp>
      <p:sp>
        <p:nvSpPr>
          <p:cNvPr id="18" name="Shape 16"/>
          <p:cNvSpPr/>
          <p:nvPr/>
        </p:nvSpPr>
        <p:spPr>
          <a:xfrm>
            <a:off x="8229600" y="2926080"/>
            <a:ext cx="640080" cy="182880"/>
          </a:xfrm>
          <a:prstGeom prst="rect">
            <a:avLst/>
          </a:prstGeom>
          <a:solidFill>
            <a:srgbClr val="3A4C78"/>
          </a:solidFill>
          <a:ln w="12700">
            <a:solidFill>
              <a:srgbClr val="3A4C78"/>
            </a:solidFill>
            <a:prstDash val="solid"/>
          </a:ln>
        </p:spPr>
      </p:sp>
      <p:sp>
        <p:nvSpPr>
          <p:cNvPr id="19" name="Shape 17"/>
          <p:cNvSpPr/>
          <p:nvPr/>
        </p:nvSpPr>
        <p:spPr>
          <a:xfrm>
            <a:off x="9098280" y="1783080"/>
            <a:ext cx="585216" cy="548640"/>
          </a:xfrm>
          <a:prstGeom prst="rect">
            <a:avLst/>
          </a:prstGeom>
          <a:solidFill>
            <a:srgbClr val="2A3B66"/>
          </a:solidFill>
          <a:ln w="9525">
            <a:solidFill>
              <a:srgbClr val="3A4C78"/>
            </a:solidFill>
            <a:prstDash val="solid"/>
          </a:ln>
        </p:spPr>
      </p:sp>
      <p:sp>
        <p:nvSpPr>
          <p:cNvPr id="20" name="Shape 18"/>
          <p:cNvSpPr/>
          <p:nvPr/>
        </p:nvSpPr>
        <p:spPr>
          <a:xfrm>
            <a:off x="9756648" y="1783080"/>
            <a:ext cx="585216" cy="548640"/>
          </a:xfrm>
          <a:prstGeom prst="rect">
            <a:avLst/>
          </a:prstGeom>
          <a:solidFill>
            <a:srgbClr val="2A3B66"/>
          </a:solidFill>
          <a:ln w="9525">
            <a:solidFill>
              <a:srgbClr val="3A4C78"/>
            </a:solidFill>
            <a:prstDash val="solid"/>
          </a:ln>
        </p:spPr>
      </p:sp>
      <p:sp>
        <p:nvSpPr>
          <p:cNvPr id="21" name="Shape 19"/>
          <p:cNvSpPr/>
          <p:nvPr/>
        </p:nvSpPr>
        <p:spPr>
          <a:xfrm>
            <a:off x="10415016" y="1783080"/>
            <a:ext cx="585216" cy="548640"/>
          </a:xfrm>
          <a:prstGeom prst="rect">
            <a:avLst/>
          </a:prstGeom>
          <a:solidFill>
            <a:srgbClr val="2A3B66"/>
          </a:solidFill>
          <a:ln w="9525">
            <a:solidFill>
              <a:srgbClr val="3A4C78"/>
            </a:solidFill>
            <a:prstDash val="solid"/>
          </a:ln>
        </p:spPr>
      </p:sp>
      <p:sp>
        <p:nvSpPr>
          <p:cNvPr id="22" name="Shape 20"/>
          <p:cNvSpPr/>
          <p:nvPr/>
        </p:nvSpPr>
        <p:spPr>
          <a:xfrm>
            <a:off x="11073384" y="1783080"/>
            <a:ext cx="585216" cy="548640"/>
          </a:xfrm>
          <a:prstGeom prst="rect">
            <a:avLst/>
          </a:prstGeom>
          <a:solidFill>
            <a:srgbClr val="2A3B66"/>
          </a:solidFill>
          <a:ln w="9525">
            <a:solidFill>
              <a:srgbClr val="3A4C78"/>
            </a:solidFill>
            <a:prstDash val="solid"/>
          </a:ln>
        </p:spPr>
      </p:sp>
      <p:sp>
        <p:nvSpPr>
          <p:cNvPr id="23" name="Shape 21"/>
          <p:cNvSpPr/>
          <p:nvPr/>
        </p:nvSpPr>
        <p:spPr>
          <a:xfrm>
            <a:off x="9098280" y="2468880"/>
            <a:ext cx="1737360" cy="1188720"/>
          </a:xfrm>
          <a:prstGeom prst="rect">
            <a:avLst/>
          </a:prstGeom>
          <a:solidFill>
            <a:srgbClr val="2A3B66"/>
          </a:solidFill>
          <a:ln w="9525">
            <a:solidFill>
              <a:srgbClr val="3A4C78"/>
            </a:solidFill>
            <a:prstDash val="solid"/>
          </a:ln>
        </p:spPr>
      </p:sp>
      <p:sp>
        <p:nvSpPr>
          <p:cNvPr id="24" name="Shape 22"/>
          <p:cNvSpPr/>
          <p:nvPr/>
        </p:nvSpPr>
        <p:spPr>
          <a:xfrm>
            <a:off x="10881360" y="2468880"/>
            <a:ext cx="713232" cy="1188720"/>
          </a:xfrm>
          <a:prstGeom prst="rect">
            <a:avLst/>
          </a:prstGeom>
          <a:solidFill>
            <a:srgbClr val="2A3B66"/>
          </a:solidFill>
          <a:ln w="9525">
            <a:solidFill>
              <a:srgbClr val="3A4C78"/>
            </a:solidFill>
            <a:prstDash val="solid"/>
          </a:ln>
        </p:spPr>
      </p:sp>
      <p:sp>
        <p:nvSpPr>
          <p:cNvPr id="25" name="Shape 23"/>
          <p:cNvSpPr/>
          <p:nvPr/>
        </p:nvSpPr>
        <p:spPr>
          <a:xfrm>
            <a:off x="9189720" y="3291840"/>
            <a:ext cx="128016" cy="274320"/>
          </a:xfrm>
          <a:prstGeom prst="rect">
            <a:avLst/>
          </a:prstGeom>
          <a:solidFill>
            <a:srgbClr val="0E9AA7"/>
          </a:solidFill>
          <a:ln w="12700">
            <a:solidFill>
              <a:srgbClr val="0E9AA7"/>
            </a:solidFill>
            <a:prstDash val="solid"/>
          </a:ln>
        </p:spPr>
      </p:sp>
      <p:sp>
        <p:nvSpPr>
          <p:cNvPr id="26" name="Shape 24"/>
          <p:cNvSpPr/>
          <p:nvPr/>
        </p:nvSpPr>
        <p:spPr>
          <a:xfrm>
            <a:off x="9372600" y="3108960"/>
            <a:ext cx="128016" cy="457200"/>
          </a:xfrm>
          <a:prstGeom prst="rect">
            <a:avLst/>
          </a:prstGeom>
          <a:solidFill>
            <a:srgbClr val="0E9AA7"/>
          </a:solidFill>
          <a:ln w="12700">
            <a:solidFill>
              <a:srgbClr val="0E9AA7"/>
            </a:solidFill>
            <a:prstDash val="solid"/>
          </a:ln>
        </p:spPr>
      </p:sp>
      <p:sp>
        <p:nvSpPr>
          <p:cNvPr id="27" name="Shape 25"/>
          <p:cNvSpPr/>
          <p:nvPr/>
        </p:nvSpPr>
        <p:spPr>
          <a:xfrm>
            <a:off x="9555480" y="3200400"/>
            <a:ext cx="128016" cy="365760"/>
          </a:xfrm>
          <a:prstGeom prst="rect">
            <a:avLst/>
          </a:prstGeom>
          <a:solidFill>
            <a:srgbClr val="0E9AA7"/>
          </a:solidFill>
          <a:ln w="12700">
            <a:solidFill>
              <a:srgbClr val="0E9AA7"/>
            </a:solidFill>
            <a:prstDash val="solid"/>
          </a:ln>
        </p:spPr>
      </p:sp>
      <p:sp>
        <p:nvSpPr>
          <p:cNvPr id="28" name="Shape 26"/>
          <p:cNvSpPr/>
          <p:nvPr/>
        </p:nvSpPr>
        <p:spPr>
          <a:xfrm>
            <a:off x="9738360" y="2926080"/>
            <a:ext cx="128016" cy="640080"/>
          </a:xfrm>
          <a:prstGeom prst="rect">
            <a:avLst/>
          </a:prstGeom>
          <a:solidFill>
            <a:srgbClr val="0E9AA7"/>
          </a:solidFill>
          <a:ln w="12700">
            <a:solidFill>
              <a:srgbClr val="0E9AA7"/>
            </a:solidFill>
            <a:prstDash val="solid"/>
          </a:ln>
        </p:spPr>
      </p:sp>
      <p:sp>
        <p:nvSpPr>
          <p:cNvPr id="29" name="Shape 27"/>
          <p:cNvSpPr/>
          <p:nvPr/>
        </p:nvSpPr>
        <p:spPr>
          <a:xfrm>
            <a:off x="9921240" y="3063240"/>
            <a:ext cx="128016" cy="502920"/>
          </a:xfrm>
          <a:prstGeom prst="rect">
            <a:avLst/>
          </a:prstGeom>
          <a:solidFill>
            <a:srgbClr val="0E9AA7"/>
          </a:solidFill>
          <a:ln w="12700">
            <a:solidFill>
              <a:srgbClr val="0E9AA7"/>
            </a:solidFill>
            <a:prstDash val="solid"/>
          </a:ln>
        </p:spPr>
      </p:sp>
      <p:sp>
        <p:nvSpPr>
          <p:cNvPr id="30" name="Shape 28"/>
          <p:cNvSpPr/>
          <p:nvPr/>
        </p:nvSpPr>
        <p:spPr>
          <a:xfrm>
            <a:off x="10104120" y="2743200"/>
            <a:ext cx="128016" cy="822960"/>
          </a:xfrm>
          <a:prstGeom prst="rect">
            <a:avLst/>
          </a:prstGeom>
          <a:solidFill>
            <a:srgbClr val="0E9AA7"/>
          </a:solidFill>
          <a:ln w="12700">
            <a:solidFill>
              <a:srgbClr val="0E9AA7"/>
            </a:solidFill>
            <a:prstDash val="solid"/>
          </a:ln>
        </p:spPr>
      </p:sp>
      <p:sp>
        <p:nvSpPr>
          <p:cNvPr id="31" name="Shape 29"/>
          <p:cNvSpPr/>
          <p:nvPr/>
        </p:nvSpPr>
        <p:spPr>
          <a:xfrm>
            <a:off x="10287000" y="3017520"/>
            <a:ext cx="128016" cy="548640"/>
          </a:xfrm>
          <a:prstGeom prst="rect">
            <a:avLst/>
          </a:prstGeom>
          <a:solidFill>
            <a:srgbClr val="0E9AA7"/>
          </a:solidFill>
          <a:ln w="12700">
            <a:solidFill>
              <a:srgbClr val="0E9AA7"/>
            </a:solidFill>
            <a:prstDash val="solid"/>
          </a:ln>
        </p:spPr>
      </p:sp>
      <p:sp>
        <p:nvSpPr>
          <p:cNvPr id="32" name="Shape 30"/>
          <p:cNvSpPr/>
          <p:nvPr/>
        </p:nvSpPr>
        <p:spPr>
          <a:xfrm>
            <a:off x="10469880" y="2834640"/>
            <a:ext cx="128016" cy="731520"/>
          </a:xfrm>
          <a:prstGeom prst="rect">
            <a:avLst/>
          </a:prstGeom>
          <a:solidFill>
            <a:srgbClr val="0E9AA7"/>
          </a:solidFill>
          <a:ln w="12700">
            <a:solidFill>
              <a:srgbClr val="0E9AA7"/>
            </a:solidFill>
            <a:prstDash val="solid"/>
          </a:ln>
        </p:spPr>
      </p:sp>
      <p:sp>
        <p:nvSpPr>
          <p:cNvPr id="33" name="Shape 31"/>
          <p:cNvSpPr/>
          <p:nvPr/>
        </p:nvSpPr>
        <p:spPr>
          <a:xfrm>
            <a:off x="10652760" y="3108960"/>
            <a:ext cx="128016" cy="457200"/>
          </a:xfrm>
          <a:prstGeom prst="rect">
            <a:avLst/>
          </a:prstGeom>
          <a:solidFill>
            <a:srgbClr val="0E9AA7"/>
          </a:solidFill>
          <a:ln w="12700">
            <a:solidFill>
              <a:srgbClr val="0E9AA7"/>
            </a:solidFill>
            <a:prstDash val="solid"/>
          </a:ln>
        </p:spPr>
      </p:sp>
      <p:sp>
        <p:nvSpPr>
          <p:cNvPr id="34" name="Shape 32"/>
          <p:cNvSpPr/>
          <p:nvPr/>
        </p:nvSpPr>
        <p:spPr>
          <a:xfrm>
            <a:off x="9098280" y="3794760"/>
            <a:ext cx="1737360" cy="1280160"/>
          </a:xfrm>
          <a:prstGeom prst="rect">
            <a:avLst/>
          </a:prstGeom>
          <a:solidFill>
            <a:srgbClr val="2A3B66"/>
          </a:solidFill>
          <a:ln w="9525">
            <a:solidFill>
              <a:srgbClr val="3A4C78"/>
            </a:solidFill>
            <a:prstDash val="solid"/>
          </a:ln>
        </p:spPr>
      </p:sp>
      <p:sp>
        <p:nvSpPr>
          <p:cNvPr id="35" name="Shape 33"/>
          <p:cNvSpPr/>
          <p:nvPr/>
        </p:nvSpPr>
        <p:spPr>
          <a:xfrm>
            <a:off x="10881360" y="3794760"/>
            <a:ext cx="713232" cy="1280160"/>
          </a:xfrm>
          <a:prstGeom prst="rect">
            <a:avLst/>
          </a:prstGeom>
          <a:solidFill>
            <a:srgbClr val="2A3B66"/>
          </a:solidFill>
          <a:ln w="9525">
            <a:solidFill>
              <a:srgbClr val="F29F05"/>
            </a:solidFill>
            <a:prstDash val="solid"/>
          </a:ln>
        </p:spPr>
      </p:sp>
      <p:sp>
        <p:nvSpPr>
          <p:cNvPr id="36" name="Shape 34"/>
          <p:cNvSpPr/>
          <p:nvPr/>
        </p:nvSpPr>
        <p:spPr>
          <a:xfrm>
            <a:off x="9006840" y="1691640"/>
            <a:ext cx="246888" cy="246888"/>
          </a:xfrm>
          <a:prstGeom prst="ellipse">
            <a:avLst/>
          </a:prstGeom>
          <a:solidFill>
            <a:srgbClr val="D1495B"/>
          </a:solidFill>
          <a:ln w="15875">
            <a:solidFill>
              <a:srgbClr val="FFFFFF"/>
            </a:solidFill>
            <a:prstDash val="solid"/>
          </a:ln>
        </p:spPr>
      </p:sp>
      <p:sp>
        <p:nvSpPr>
          <p:cNvPr id="37" name="Text 35"/>
          <p:cNvSpPr/>
          <p:nvPr/>
        </p:nvSpPr>
        <p:spPr>
          <a:xfrm>
            <a:off x="9006840" y="169164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8" name="Shape 36"/>
          <p:cNvSpPr/>
          <p:nvPr/>
        </p:nvSpPr>
        <p:spPr>
          <a:xfrm>
            <a:off x="9006840" y="2377440"/>
            <a:ext cx="246888" cy="246888"/>
          </a:xfrm>
          <a:prstGeom prst="ellipse">
            <a:avLst/>
          </a:prstGeom>
          <a:solidFill>
            <a:srgbClr val="D1495B"/>
          </a:solidFill>
          <a:ln w="15875">
            <a:solidFill>
              <a:srgbClr val="FFFFFF"/>
            </a:solidFill>
            <a:prstDash val="solid"/>
          </a:ln>
        </p:spPr>
      </p:sp>
      <p:sp>
        <p:nvSpPr>
          <p:cNvPr id="39" name="Text 37"/>
          <p:cNvSpPr/>
          <p:nvPr/>
        </p:nvSpPr>
        <p:spPr>
          <a:xfrm>
            <a:off x="9006840" y="237744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Shape 38"/>
          <p:cNvSpPr/>
          <p:nvPr/>
        </p:nvSpPr>
        <p:spPr>
          <a:xfrm>
            <a:off x="10744200" y="3703320"/>
            <a:ext cx="246888" cy="246888"/>
          </a:xfrm>
          <a:prstGeom prst="ellipse">
            <a:avLst/>
          </a:prstGeom>
          <a:solidFill>
            <a:srgbClr val="D1495B"/>
          </a:solidFill>
          <a:ln w="15875">
            <a:solidFill>
              <a:srgbClr val="FFFFFF"/>
            </a:solidFill>
            <a:prstDash val="solid"/>
          </a:ln>
        </p:spPr>
      </p:sp>
      <p:sp>
        <p:nvSpPr>
          <p:cNvPr id="41" name="Text 39"/>
          <p:cNvSpPr/>
          <p:nvPr/>
        </p:nvSpPr>
        <p:spPr>
          <a:xfrm>
            <a:off x="10744200" y="370332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A7"/>
          </a:solidFill>
          <a:ln w="12700">
            <a:solidFill>
              <a:srgbClr val="0E9AA7"/>
            </a:solidFill>
            <a:prstDash val="solid"/>
          </a:ln>
        </p:spPr>
      </p:sp>
      <p:sp>
        <p:nvSpPr>
          <p:cNvPr id="3" name="Text 1"/>
          <p:cNvSpPr/>
          <p:nvPr/>
        </p:nvSpPr>
        <p:spPr>
          <a:xfrm>
            <a:off x="548640" y="320040"/>
            <a:ext cx="10332720" cy="475488"/>
          </a:xfrm>
          <a:prstGeom prst="rect">
            <a:avLst/>
          </a:prstGeom>
          <a:noFill/>
          <a:ln/>
        </p:spPr>
        <p:txBody>
          <a:bodyPr wrap="square" lIns="0" tIns="0" rIns="0" bIns="0" rtlCol="0" anchor="ctr"/>
          <a:lstStyle/>
          <a:p>
            <a:pPr marL="0" indent="0" algn="l">
              <a:buNone/>
            </a:pPr>
            <a:r>
              <a:rPr lang="en-US" sz="2800" b="1" dirty="0">
                <a:solidFill>
                  <a:srgbClr val="14213D"/>
                </a:solidFill>
                <a:latin typeface="Calibri" pitchFamily="34" charset="0"/>
                <a:ea typeface="Calibri" pitchFamily="34" charset="-122"/>
                <a:cs typeface="Calibri" pitchFamily="34" charset="-120"/>
              </a:rPr>
              <a:t>Screen Map and Wireframe Conventions</a:t>
            </a:r>
            <a:endParaRPr lang="en-US" sz="2800" dirty="0"/>
          </a:p>
        </p:txBody>
      </p:sp>
      <p:sp>
        <p:nvSpPr>
          <p:cNvPr id="4" name="Text 2"/>
          <p:cNvSpPr/>
          <p:nvPr/>
        </p:nvSpPr>
        <p:spPr>
          <a:xfrm>
            <a:off x="548640" y="841248"/>
            <a:ext cx="10789920" cy="365760"/>
          </a:xfrm>
          <a:prstGeom prst="rect">
            <a:avLst/>
          </a:prstGeom>
          <a:noFill/>
          <a:ln/>
        </p:spPr>
        <p:txBody>
          <a:bodyPr wrap="square" lIns="0" tIns="0" rIns="0" bIns="0" rtlCol="0" anchor="ctr"/>
          <a:lstStyle/>
          <a:p>
            <a:pPr marL="0" indent="0" algn="l">
              <a:buNone/>
            </a:pPr>
            <a:r>
              <a:rPr lang="en-US" sz="1400" dirty="0">
                <a:solidFill>
                  <a:srgbClr val="5B6675"/>
                </a:solidFill>
                <a:latin typeface="Calibri" pitchFamily="34" charset="0"/>
                <a:ea typeface="Calibri" pitchFamily="34" charset="-122"/>
                <a:cs typeface="Calibri" pitchFamily="34" charset="-120"/>
              </a:rPr>
              <a:t>Five screens inside one application shell; the demo path touches three of them</a:t>
            </a:r>
            <a:endParaRPr lang="en-US" sz="1400" dirty="0"/>
          </a:p>
        </p:txBody>
      </p:sp>
      <p:sp>
        <p:nvSpPr>
          <p:cNvPr id="5" name="Text 3"/>
          <p:cNvSpPr/>
          <p:nvPr/>
        </p:nvSpPr>
        <p:spPr>
          <a:xfrm>
            <a:off x="548640" y="6446520"/>
            <a:ext cx="6400800" cy="256032"/>
          </a:xfrm>
          <a:prstGeom prst="rect">
            <a:avLst/>
          </a:prstGeom>
          <a:noFill/>
          <a:ln/>
        </p:spPr>
        <p:txBody>
          <a:bodyPr wrap="square" lIns="0" tIns="0" rIns="0" bIns="0" rtlCol="0" anchor="ctr"/>
          <a:lstStyle/>
          <a:p>
            <a:pPr marL="0" indent="0" algn="l">
              <a:buNone/>
            </a:pPr>
            <a:r>
              <a:rPr lang="en-US" sz="1000" dirty="0">
                <a:solidFill>
                  <a:srgbClr val="5B6675"/>
                </a:solidFill>
                <a:latin typeface="Calibri" pitchFamily="34" charset="0"/>
                <a:ea typeface="Calibri" pitchFamily="34" charset="-122"/>
                <a:cs typeface="Calibri" pitchFamily="34" charset="-120"/>
              </a:rPr>
              <a:t>Prototype Wireframes  |  Kafka Streams Real-Time Ingestion</a:t>
            </a:r>
            <a:endParaRPr lang="en-US" sz="1000" dirty="0"/>
          </a:p>
        </p:txBody>
      </p:sp>
      <p:sp>
        <p:nvSpPr>
          <p:cNvPr id="6" name="Text 4"/>
          <p:cNvSpPr/>
          <p:nvPr/>
        </p:nvSpPr>
        <p:spPr>
          <a:xfrm>
            <a:off x="11155680" y="6446520"/>
            <a:ext cx="548640" cy="256032"/>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2</a:t>
            </a:r>
            <a:endParaRPr lang="en-US" sz="1000" dirty="0"/>
          </a:p>
        </p:txBody>
      </p:sp>
      <p:sp>
        <p:nvSpPr>
          <p:cNvPr id="7" name="Shape 5"/>
          <p:cNvSpPr/>
          <p:nvPr/>
        </p:nvSpPr>
        <p:spPr>
          <a:xfrm>
            <a:off x="548640" y="1554480"/>
            <a:ext cx="6400800" cy="685800"/>
          </a:xfrm>
          <a:prstGeom prst="rect">
            <a:avLst/>
          </a:prstGeom>
          <a:solidFill>
            <a:srgbClr val="14213D"/>
          </a:solidFill>
          <a:ln w="9525">
            <a:solidFill>
              <a:srgbClr val="14213D"/>
            </a:solidFill>
            <a:prstDash val="solid"/>
          </a:ln>
        </p:spPr>
      </p:sp>
      <p:sp>
        <p:nvSpPr>
          <p:cNvPr id="8" name="Text 6"/>
          <p:cNvSpPr/>
          <p:nvPr/>
        </p:nvSpPr>
        <p:spPr>
          <a:xfrm>
            <a:off x="731520" y="1591056"/>
            <a:ext cx="6035040" cy="292608"/>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Application shell</a:t>
            </a:r>
            <a:endParaRPr lang="en-US" sz="1400" dirty="0"/>
          </a:p>
        </p:txBody>
      </p:sp>
      <p:sp>
        <p:nvSpPr>
          <p:cNvPr id="9" name="Text 7"/>
          <p:cNvSpPr/>
          <p:nvPr/>
        </p:nvSpPr>
        <p:spPr>
          <a:xfrm>
            <a:off x="731520" y="1892808"/>
            <a:ext cx="6035040" cy="274320"/>
          </a:xfrm>
          <a:prstGeom prst="rect">
            <a:avLst/>
          </a:prstGeom>
          <a:noFill/>
          <a:ln/>
        </p:spPr>
        <p:txBody>
          <a:bodyPr wrap="square" lIns="0" tIns="0" rIns="0" bIns="0" rtlCol="0" anchor="ctr"/>
          <a:lstStyle/>
          <a:p>
            <a:pPr marL="0" indent="0" algn="l">
              <a:buNone/>
            </a:pPr>
            <a:r>
              <a:rPr lang="en-US" sz="1100" dirty="0">
                <a:solidFill>
                  <a:srgbClr val="C9D3E3"/>
                </a:solidFill>
                <a:latin typeface="Calibri" pitchFamily="34" charset="0"/>
                <a:ea typeface="Calibri" pitchFamily="34" charset="-122"/>
                <a:cs typeface="Calibri" pitchFamily="34" charset="-120"/>
              </a:rPr>
              <a:t>Sidebar navigation  |  top bar  |  live connection indicator (SSE / WebSocket)</a:t>
            </a:r>
            <a:endParaRPr lang="en-US" sz="1100" dirty="0"/>
          </a:p>
        </p:txBody>
      </p:sp>
      <p:sp>
        <p:nvSpPr>
          <p:cNvPr id="10" name="Shape 8"/>
          <p:cNvSpPr/>
          <p:nvPr/>
        </p:nvSpPr>
        <p:spPr>
          <a:xfrm>
            <a:off x="1133856" y="2606040"/>
            <a:ext cx="5230368" cy="0"/>
          </a:xfrm>
          <a:prstGeom prst="line">
            <a:avLst/>
          </a:prstGeom>
          <a:noFill/>
          <a:ln w="19050">
            <a:solidFill>
              <a:srgbClr val="5B6675"/>
            </a:solidFill>
            <a:prstDash val="solid"/>
          </a:ln>
        </p:spPr>
      </p:sp>
      <p:sp>
        <p:nvSpPr>
          <p:cNvPr id="11" name="Shape 9"/>
          <p:cNvSpPr/>
          <p:nvPr/>
        </p:nvSpPr>
        <p:spPr>
          <a:xfrm>
            <a:off x="3749040" y="2240280"/>
            <a:ext cx="0" cy="365760"/>
          </a:xfrm>
          <a:prstGeom prst="line">
            <a:avLst/>
          </a:prstGeom>
          <a:noFill/>
          <a:ln w="19050">
            <a:solidFill>
              <a:srgbClr val="5B6675"/>
            </a:solidFill>
            <a:prstDash val="solid"/>
          </a:ln>
        </p:spPr>
      </p:sp>
      <p:sp>
        <p:nvSpPr>
          <p:cNvPr id="12" name="Shape 10"/>
          <p:cNvSpPr/>
          <p:nvPr/>
        </p:nvSpPr>
        <p:spPr>
          <a:xfrm>
            <a:off x="1133856" y="2606040"/>
            <a:ext cx="0" cy="320040"/>
          </a:xfrm>
          <a:prstGeom prst="line">
            <a:avLst/>
          </a:prstGeom>
          <a:noFill/>
          <a:ln w="19050">
            <a:solidFill>
              <a:srgbClr val="5B6675"/>
            </a:solidFill>
            <a:prstDash val="solid"/>
          </a:ln>
        </p:spPr>
      </p:sp>
      <p:sp>
        <p:nvSpPr>
          <p:cNvPr id="13" name="Shape 11"/>
          <p:cNvSpPr/>
          <p:nvPr/>
        </p:nvSpPr>
        <p:spPr>
          <a:xfrm>
            <a:off x="548640" y="2926080"/>
            <a:ext cx="1170432" cy="1143000"/>
          </a:xfrm>
          <a:prstGeom prst="rect">
            <a:avLst/>
          </a:prstGeom>
          <a:solidFill>
            <a:srgbClr val="FFFFFF"/>
          </a:solidFill>
          <a:ln w="22225">
            <a:solidFill>
              <a:srgbClr val="0E9AA7"/>
            </a:solidFill>
            <a:prstDash val="solid"/>
          </a:ln>
          <a:effectLst>
            <a:outerShdw blurRad="76200" dist="25400" dir="8100000" algn="bl" rotWithShape="0">
              <a:srgbClr val="000000">
                <a:alpha val="10000"/>
              </a:srgbClr>
            </a:outerShdw>
          </a:effectLst>
        </p:spPr>
      </p:sp>
      <p:sp>
        <p:nvSpPr>
          <p:cNvPr id="14" name="Shape 12"/>
          <p:cNvSpPr/>
          <p:nvPr/>
        </p:nvSpPr>
        <p:spPr>
          <a:xfrm>
            <a:off x="640080" y="3017520"/>
            <a:ext cx="411480" cy="237744"/>
          </a:xfrm>
          <a:prstGeom prst="roundRect">
            <a:avLst>
              <a:gd name="adj" fmla="val 30769"/>
            </a:avLst>
          </a:prstGeom>
          <a:solidFill>
            <a:srgbClr val="14213D"/>
          </a:solidFill>
          <a:ln w="12700">
            <a:solidFill>
              <a:srgbClr val="14213D"/>
            </a:solidFill>
            <a:prstDash val="solid"/>
          </a:ln>
        </p:spPr>
      </p:sp>
      <p:sp>
        <p:nvSpPr>
          <p:cNvPr id="15" name="Text 13"/>
          <p:cNvSpPr/>
          <p:nvPr/>
        </p:nvSpPr>
        <p:spPr>
          <a:xfrm>
            <a:off x="640080" y="3017520"/>
            <a:ext cx="4114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S1</a:t>
            </a:r>
            <a:endParaRPr lang="en-US" sz="1000" dirty="0"/>
          </a:p>
        </p:txBody>
      </p:sp>
      <p:sp>
        <p:nvSpPr>
          <p:cNvPr id="16" name="Text 14"/>
          <p:cNvSpPr/>
          <p:nvPr/>
        </p:nvSpPr>
        <p:spPr>
          <a:xfrm>
            <a:off x="640080" y="3310128"/>
            <a:ext cx="987552" cy="274320"/>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Live Dashboard</a:t>
            </a:r>
            <a:endParaRPr lang="en-US" sz="1150" dirty="0"/>
          </a:p>
        </p:txBody>
      </p:sp>
      <p:sp>
        <p:nvSpPr>
          <p:cNvPr id="17" name="Text 15"/>
          <p:cNvSpPr/>
          <p:nvPr/>
        </p:nvSpPr>
        <p:spPr>
          <a:xfrm>
            <a:off x="640080" y="3584448"/>
            <a:ext cx="987552" cy="457200"/>
          </a:xfrm>
          <a:prstGeom prst="rect">
            <a:avLst/>
          </a:prstGeom>
          <a:noFill/>
          <a:ln/>
        </p:spPr>
        <p:txBody>
          <a:bodyPr wrap="square" lIns="0" tIns="0" rIns="0" bIns="0" rtlCol="0" anchor="t"/>
          <a:lstStyle/>
          <a:p>
            <a:pPr marL="0" indent="0" algn="l">
              <a:buNone/>
            </a:pPr>
            <a:r>
              <a:rPr lang="en-US" sz="950" dirty="0">
                <a:solidFill>
                  <a:srgbClr val="5B6675"/>
                </a:solidFill>
                <a:latin typeface="Calibri" pitchFamily="34" charset="0"/>
                <a:ea typeface="Calibri" pitchFamily="34" charset="-122"/>
                <a:cs typeface="Calibri" pitchFamily="34" charset="-120"/>
              </a:rPr>
              <a:t>KPIs, throughput, live feed, alerts</a:t>
            </a:r>
            <a:endParaRPr lang="en-US" sz="950" dirty="0"/>
          </a:p>
        </p:txBody>
      </p:sp>
      <p:sp>
        <p:nvSpPr>
          <p:cNvPr id="18" name="Shape 16"/>
          <p:cNvSpPr/>
          <p:nvPr/>
        </p:nvSpPr>
        <p:spPr>
          <a:xfrm>
            <a:off x="2441448" y="2606040"/>
            <a:ext cx="0" cy="320040"/>
          </a:xfrm>
          <a:prstGeom prst="line">
            <a:avLst/>
          </a:prstGeom>
          <a:noFill/>
          <a:ln w="19050">
            <a:solidFill>
              <a:srgbClr val="5B6675"/>
            </a:solidFill>
            <a:prstDash val="solid"/>
          </a:ln>
        </p:spPr>
      </p:sp>
      <p:sp>
        <p:nvSpPr>
          <p:cNvPr id="19" name="Shape 17"/>
          <p:cNvSpPr/>
          <p:nvPr/>
        </p:nvSpPr>
        <p:spPr>
          <a:xfrm>
            <a:off x="1856232" y="2926080"/>
            <a:ext cx="1170432" cy="114300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20" name="Shape 18"/>
          <p:cNvSpPr/>
          <p:nvPr/>
        </p:nvSpPr>
        <p:spPr>
          <a:xfrm>
            <a:off x="1947672" y="3017520"/>
            <a:ext cx="411480" cy="237744"/>
          </a:xfrm>
          <a:prstGeom prst="roundRect">
            <a:avLst>
              <a:gd name="adj" fmla="val 30769"/>
            </a:avLst>
          </a:prstGeom>
          <a:solidFill>
            <a:srgbClr val="14213D"/>
          </a:solidFill>
          <a:ln w="12700">
            <a:solidFill>
              <a:srgbClr val="14213D"/>
            </a:solidFill>
            <a:prstDash val="solid"/>
          </a:ln>
        </p:spPr>
      </p:sp>
      <p:sp>
        <p:nvSpPr>
          <p:cNvPr id="21" name="Text 19"/>
          <p:cNvSpPr/>
          <p:nvPr/>
        </p:nvSpPr>
        <p:spPr>
          <a:xfrm>
            <a:off x="1947672" y="3017520"/>
            <a:ext cx="4114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S2</a:t>
            </a:r>
            <a:endParaRPr lang="en-US" sz="1000" dirty="0"/>
          </a:p>
        </p:txBody>
      </p:sp>
      <p:sp>
        <p:nvSpPr>
          <p:cNvPr id="22" name="Text 20"/>
          <p:cNvSpPr/>
          <p:nvPr/>
        </p:nvSpPr>
        <p:spPr>
          <a:xfrm>
            <a:off x="1947672" y="3310128"/>
            <a:ext cx="987552" cy="274320"/>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Transactions</a:t>
            </a:r>
            <a:endParaRPr lang="en-US" sz="1150" dirty="0"/>
          </a:p>
        </p:txBody>
      </p:sp>
      <p:sp>
        <p:nvSpPr>
          <p:cNvPr id="23" name="Text 21"/>
          <p:cNvSpPr/>
          <p:nvPr/>
        </p:nvSpPr>
        <p:spPr>
          <a:xfrm>
            <a:off x="1947672" y="3584448"/>
            <a:ext cx="987552" cy="457200"/>
          </a:xfrm>
          <a:prstGeom prst="rect">
            <a:avLst/>
          </a:prstGeom>
          <a:noFill/>
          <a:ln/>
        </p:spPr>
        <p:txBody>
          <a:bodyPr wrap="square" lIns="0" tIns="0" rIns="0" bIns="0" rtlCol="0" anchor="t"/>
          <a:lstStyle/>
          <a:p>
            <a:pPr marL="0" indent="0" algn="l">
              <a:buNone/>
            </a:pPr>
            <a:r>
              <a:rPr lang="en-US" sz="950" dirty="0">
                <a:solidFill>
                  <a:srgbClr val="5B6675"/>
                </a:solidFill>
                <a:latin typeface="Calibri" pitchFamily="34" charset="0"/>
                <a:ea typeface="Calibri" pitchFamily="34" charset="-122"/>
                <a:cs typeface="Calibri" pitchFamily="34" charset="-120"/>
              </a:rPr>
              <a:t>Search, filter, export</a:t>
            </a:r>
            <a:endParaRPr lang="en-US" sz="950" dirty="0"/>
          </a:p>
        </p:txBody>
      </p:sp>
      <p:sp>
        <p:nvSpPr>
          <p:cNvPr id="24" name="Shape 22"/>
          <p:cNvSpPr/>
          <p:nvPr/>
        </p:nvSpPr>
        <p:spPr>
          <a:xfrm>
            <a:off x="3749040" y="2606040"/>
            <a:ext cx="0" cy="320040"/>
          </a:xfrm>
          <a:prstGeom prst="line">
            <a:avLst/>
          </a:prstGeom>
          <a:noFill/>
          <a:ln w="19050">
            <a:solidFill>
              <a:srgbClr val="5B6675"/>
            </a:solidFill>
            <a:prstDash val="solid"/>
          </a:ln>
        </p:spPr>
      </p:sp>
      <p:sp>
        <p:nvSpPr>
          <p:cNvPr id="25" name="Shape 23"/>
          <p:cNvSpPr/>
          <p:nvPr/>
        </p:nvSpPr>
        <p:spPr>
          <a:xfrm>
            <a:off x="3163824" y="2926080"/>
            <a:ext cx="1170432" cy="1143000"/>
          </a:xfrm>
          <a:prstGeom prst="rect">
            <a:avLst/>
          </a:prstGeom>
          <a:solidFill>
            <a:srgbClr val="FFFFFF"/>
          </a:solidFill>
          <a:ln w="22225">
            <a:solidFill>
              <a:srgbClr val="0E9AA7"/>
            </a:solidFill>
            <a:prstDash val="solid"/>
          </a:ln>
          <a:effectLst>
            <a:outerShdw blurRad="76200" dist="25400" dir="8100000" algn="bl" rotWithShape="0">
              <a:srgbClr val="000000">
                <a:alpha val="10000"/>
              </a:srgbClr>
            </a:outerShdw>
          </a:effectLst>
        </p:spPr>
      </p:sp>
      <p:sp>
        <p:nvSpPr>
          <p:cNvPr id="26" name="Shape 24"/>
          <p:cNvSpPr/>
          <p:nvPr/>
        </p:nvSpPr>
        <p:spPr>
          <a:xfrm>
            <a:off x="3255264" y="3017520"/>
            <a:ext cx="411480" cy="237744"/>
          </a:xfrm>
          <a:prstGeom prst="roundRect">
            <a:avLst>
              <a:gd name="adj" fmla="val 30769"/>
            </a:avLst>
          </a:prstGeom>
          <a:solidFill>
            <a:srgbClr val="14213D"/>
          </a:solidFill>
          <a:ln w="12700">
            <a:solidFill>
              <a:srgbClr val="14213D"/>
            </a:solidFill>
            <a:prstDash val="solid"/>
          </a:ln>
        </p:spPr>
      </p:sp>
      <p:sp>
        <p:nvSpPr>
          <p:cNvPr id="27" name="Text 25"/>
          <p:cNvSpPr/>
          <p:nvPr/>
        </p:nvSpPr>
        <p:spPr>
          <a:xfrm>
            <a:off x="3255264" y="3017520"/>
            <a:ext cx="4114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S3</a:t>
            </a:r>
            <a:endParaRPr lang="en-US" sz="1000" dirty="0"/>
          </a:p>
        </p:txBody>
      </p:sp>
      <p:sp>
        <p:nvSpPr>
          <p:cNvPr id="28" name="Text 26"/>
          <p:cNvSpPr/>
          <p:nvPr/>
        </p:nvSpPr>
        <p:spPr>
          <a:xfrm>
            <a:off x="3255264" y="3310128"/>
            <a:ext cx="987552" cy="274320"/>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Alerts</a:t>
            </a:r>
            <a:endParaRPr lang="en-US" sz="1150" dirty="0"/>
          </a:p>
        </p:txBody>
      </p:sp>
      <p:sp>
        <p:nvSpPr>
          <p:cNvPr id="29" name="Text 27"/>
          <p:cNvSpPr/>
          <p:nvPr/>
        </p:nvSpPr>
        <p:spPr>
          <a:xfrm>
            <a:off x="3255264" y="3584448"/>
            <a:ext cx="987552" cy="457200"/>
          </a:xfrm>
          <a:prstGeom prst="rect">
            <a:avLst/>
          </a:prstGeom>
          <a:noFill/>
          <a:ln/>
        </p:spPr>
        <p:txBody>
          <a:bodyPr wrap="square" lIns="0" tIns="0" rIns="0" bIns="0" rtlCol="0" anchor="t"/>
          <a:lstStyle/>
          <a:p>
            <a:pPr marL="0" indent="0" algn="l">
              <a:buNone/>
            </a:pPr>
            <a:r>
              <a:rPr lang="en-US" sz="950" dirty="0">
                <a:solidFill>
                  <a:srgbClr val="5B6675"/>
                </a:solidFill>
                <a:latin typeface="Calibri" pitchFamily="34" charset="0"/>
                <a:ea typeface="Calibri" pitchFamily="34" charset="-122"/>
                <a:cs typeface="Calibri" pitchFamily="34" charset="-120"/>
              </a:rPr>
              <a:t>Alert queue and review</a:t>
            </a:r>
            <a:endParaRPr lang="en-US" sz="950" dirty="0"/>
          </a:p>
        </p:txBody>
      </p:sp>
      <p:sp>
        <p:nvSpPr>
          <p:cNvPr id="30" name="Shape 28"/>
          <p:cNvSpPr/>
          <p:nvPr/>
        </p:nvSpPr>
        <p:spPr>
          <a:xfrm>
            <a:off x="5056632" y="2606040"/>
            <a:ext cx="0" cy="320040"/>
          </a:xfrm>
          <a:prstGeom prst="line">
            <a:avLst/>
          </a:prstGeom>
          <a:noFill/>
          <a:ln w="19050">
            <a:solidFill>
              <a:srgbClr val="5B6675"/>
            </a:solidFill>
            <a:prstDash val="solid"/>
          </a:ln>
        </p:spPr>
      </p:sp>
      <p:sp>
        <p:nvSpPr>
          <p:cNvPr id="31" name="Shape 29"/>
          <p:cNvSpPr/>
          <p:nvPr/>
        </p:nvSpPr>
        <p:spPr>
          <a:xfrm>
            <a:off x="4471416" y="2926080"/>
            <a:ext cx="1170432" cy="114300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32" name="Shape 30"/>
          <p:cNvSpPr/>
          <p:nvPr/>
        </p:nvSpPr>
        <p:spPr>
          <a:xfrm>
            <a:off x="4562856" y="3017520"/>
            <a:ext cx="411480" cy="237744"/>
          </a:xfrm>
          <a:prstGeom prst="roundRect">
            <a:avLst>
              <a:gd name="adj" fmla="val 30769"/>
            </a:avLst>
          </a:prstGeom>
          <a:solidFill>
            <a:srgbClr val="14213D"/>
          </a:solidFill>
          <a:ln w="12700">
            <a:solidFill>
              <a:srgbClr val="14213D"/>
            </a:solidFill>
            <a:prstDash val="solid"/>
          </a:ln>
        </p:spPr>
      </p:sp>
      <p:sp>
        <p:nvSpPr>
          <p:cNvPr id="33" name="Text 31"/>
          <p:cNvSpPr/>
          <p:nvPr/>
        </p:nvSpPr>
        <p:spPr>
          <a:xfrm>
            <a:off x="4562856" y="3017520"/>
            <a:ext cx="4114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S4</a:t>
            </a:r>
            <a:endParaRPr lang="en-US" sz="1000" dirty="0"/>
          </a:p>
        </p:txBody>
      </p:sp>
      <p:sp>
        <p:nvSpPr>
          <p:cNvPr id="34" name="Text 32"/>
          <p:cNvSpPr/>
          <p:nvPr/>
        </p:nvSpPr>
        <p:spPr>
          <a:xfrm>
            <a:off x="4562856" y="3310128"/>
            <a:ext cx="987552" cy="274320"/>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Pipeline Health</a:t>
            </a:r>
            <a:endParaRPr lang="en-US" sz="1150" dirty="0"/>
          </a:p>
        </p:txBody>
      </p:sp>
      <p:sp>
        <p:nvSpPr>
          <p:cNvPr id="35" name="Text 33"/>
          <p:cNvSpPr/>
          <p:nvPr/>
        </p:nvSpPr>
        <p:spPr>
          <a:xfrm>
            <a:off x="4562856" y="3584448"/>
            <a:ext cx="987552" cy="457200"/>
          </a:xfrm>
          <a:prstGeom prst="rect">
            <a:avLst/>
          </a:prstGeom>
          <a:noFill/>
          <a:ln/>
        </p:spPr>
        <p:txBody>
          <a:bodyPr wrap="square" lIns="0" tIns="0" rIns="0" bIns="0" rtlCol="0" anchor="t"/>
          <a:lstStyle/>
          <a:p>
            <a:pPr marL="0" indent="0" algn="l">
              <a:buNone/>
            </a:pPr>
            <a:r>
              <a:rPr lang="en-US" sz="950" dirty="0">
                <a:solidFill>
                  <a:srgbClr val="5B6675"/>
                </a:solidFill>
                <a:latin typeface="Calibri" pitchFamily="34" charset="0"/>
                <a:ea typeface="Calibri" pitchFamily="34" charset="-122"/>
                <a:cs typeface="Calibri" pitchFamily="34" charset="-120"/>
              </a:rPr>
              <a:t>Topics, lag, stage status</a:t>
            </a:r>
            <a:endParaRPr lang="en-US" sz="950" dirty="0"/>
          </a:p>
        </p:txBody>
      </p:sp>
      <p:sp>
        <p:nvSpPr>
          <p:cNvPr id="36" name="Shape 34"/>
          <p:cNvSpPr/>
          <p:nvPr/>
        </p:nvSpPr>
        <p:spPr>
          <a:xfrm>
            <a:off x="6364224" y="2606040"/>
            <a:ext cx="0" cy="320040"/>
          </a:xfrm>
          <a:prstGeom prst="line">
            <a:avLst/>
          </a:prstGeom>
          <a:noFill/>
          <a:ln w="19050">
            <a:solidFill>
              <a:srgbClr val="5B6675"/>
            </a:solidFill>
            <a:prstDash val="solid"/>
          </a:ln>
        </p:spPr>
      </p:sp>
      <p:sp>
        <p:nvSpPr>
          <p:cNvPr id="37" name="Shape 35"/>
          <p:cNvSpPr/>
          <p:nvPr/>
        </p:nvSpPr>
        <p:spPr>
          <a:xfrm>
            <a:off x="5779008" y="2926080"/>
            <a:ext cx="1170432" cy="1143000"/>
          </a:xfrm>
          <a:prstGeom prst="rect">
            <a:avLst/>
          </a:prstGeom>
          <a:solidFill>
            <a:srgbClr val="FFFFFF"/>
          </a:solidFill>
          <a:ln w="22225">
            <a:solidFill>
              <a:srgbClr val="0E9AA7"/>
            </a:solidFill>
            <a:prstDash val="solid"/>
          </a:ln>
          <a:effectLst>
            <a:outerShdw blurRad="76200" dist="25400" dir="8100000" algn="bl" rotWithShape="0">
              <a:srgbClr val="000000">
                <a:alpha val="10000"/>
              </a:srgbClr>
            </a:outerShdw>
          </a:effectLst>
        </p:spPr>
      </p:sp>
      <p:sp>
        <p:nvSpPr>
          <p:cNvPr id="38" name="Shape 36"/>
          <p:cNvSpPr/>
          <p:nvPr/>
        </p:nvSpPr>
        <p:spPr>
          <a:xfrm>
            <a:off x="5870448" y="3017520"/>
            <a:ext cx="411480" cy="237744"/>
          </a:xfrm>
          <a:prstGeom prst="roundRect">
            <a:avLst>
              <a:gd name="adj" fmla="val 30769"/>
            </a:avLst>
          </a:prstGeom>
          <a:solidFill>
            <a:srgbClr val="14213D"/>
          </a:solidFill>
          <a:ln w="12700">
            <a:solidFill>
              <a:srgbClr val="14213D"/>
            </a:solidFill>
            <a:prstDash val="solid"/>
          </a:ln>
        </p:spPr>
      </p:sp>
      <p:sp>
        <p:nvSpPr>
          <p:cNvPr id="39" name="Text 37"/>
          <p:cNvSpPr/>
          <p:nvPr/>
        </p:nvSpPr>
        <p:spPr>
          <a:xfrm>
            <a:off x="5870448" y="3017520"/>
            <a:ext cx="4114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S5</a:t>
            </a:r>
            <a:endParaRPr lang="en-US" sz="1000" dirty="0"/>
          </a:p>
        </p:txBody>
      </p:sp>
      <p:sp>
        <p:nvSpPr>
          <p:cNvPr id="40" name="Text 38"/>
          <p:cNvSpPr/>
          <p:nvPr/>
        </p:nvSpPr>
        <p:spPr>
          <a:xfrm>
            <a:off x="5870448" y="3310128"/>
            <a:ext cx="987552" cy="274320"/>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Control Panel</a:t>
            </a:r>
            <a:endParaRPr lang="en-US" sz="1150" dirty="0"/>
          </a:p>
        </p:txBody>
      </p:sp>
      <p:sp>
        <p:nvSpPr>
          <p:cNvPr id="41" name="Text 39"/>
          <p:cNvSpPr/>
          <p:nvPr/>
        </p:nvSpPr>
        <p:spPr>
          <a:xfrm>
            <a:off x="5870448" y="3584448"/>
            <a:ext cx="987552" cy="457200"/>
          </a:xfrm>
          <a:prstGeom prst="rect">
            <a:avLst/>
          </a:prstGeom>
          <a:noFill/>
          <a:ln/>
        </p:spPr>
        <p:txBody>
          <a:bodyPr wrap="square" lIns="0" tIns="0" rIns="0" bIns="0" rtlCol="0" anchor="t"/>
          <a:lstStyle/>
          <a:p>
            <a:pPr marL="0" indent="0" algn="l">
              <a:buNone/>
            </a:pPr>
            <a:r>
              <a:rPr lang="en-US" sz="950" dirty="0">
                <a:solidFill>
                  <a:srgbClr val="5B6675"/>
                </a:solidFill>
                <a:latin typeface="Calibri" pitchFamily="34" charset="0"/>
                <a:ea typeface="Calibri" pitchFamily="34" charset="-122"/>
                <a:cs typeface="Calibri" pitchFamily="34" charset="-120"/>
              </a:rPr>
              <a:t>Simulator and injection</a:t>
            </a:r>
            <a:endParaRPr lang="en-US" sz="950" dirty="0"/>
          </a:p>
        </p:txBody>
      </p:sp>
      <p:sp>
        <p:nvSpPr>
          <p:cNvPr id="42" name="Shape 40"/>
          <p:cNvSpPr/>
          <p:nvPr/>
        </p:nvSpPr>
        <p:spPr>
          <a:xfrm>
            <a:off x="3749040" y="4069080"/>
            <a:ext cx="0" cy="228600"/>
          </a:xfrm>
          <a:prstGeom prst="line">
            <a:avLst/>
          </a:prstGeom>
          <a:noFill/>
          <a:ln w="19050">
            <a:solidFill>
              <a:srgbClr val="5B6675"/>
            </a:solidFill>
            <a:prstDash val="dash"/>
          </a:ln>
        </p:spPr>
      </p:sp>
      <p:sp>
        <p:nvSpPr>
          <p:cNvPr id="43" name="Shape 41"/>
          <p:cNvSpPr/>
          <p:nvPr/>
        </p:nvSpPr>
        <p:spPr>
          <a:xfrm>
            <a:off x="3163824" y="4297680"/>
            <a:ext cx="1170432" cy="502920"/>
          </a:xfrm>
          <a:prstGeom prst="rect">
            <a:avLst/>
          </a:prstGeom>
          <a:solidFill>
            <a:srgbClr val="FFFFFF"/>
          </a:solidFill>
          <a:ln w="9525">
            <a:solidFill>
              <a:srgbClr val="5B6675"/>
            </a:solidFill>
            <a:prstDash val="dash"/>
          </a:ln>
        </p:spPr>
      </p:sp>
      <p:sp>
        <p:nvSpPr>
          <p:cNvPr id="44" name="Text 42"/>
          <p:cNvSpPr/>
          <p:nvPr/>
        </p:nvSpPr>
        <p:spPr>
          <a:xfrm>
            <a:off x="3218688" y="4297680"/>
            <a:ext cx="1060704" cy="502920"/>
          </a:xfrm>
          <a:prstGeom prst="rect">
            <a:avLst/>
          </a:prstGeom>
          <a:noFill/>
          <a:ln/>
        </p:spPr>
        <p:txBody>
          <a:bodyPr wrap="square" lIns="0" tIns="0" rIns="0" bIns="0" rtlCol="0" anchor="ctr"/>
          <a:lstStyle/>
          <a:p>
            <a:pPr marL="0" indent="0" algn="ctr">
              <a:buNone/>
            </a:pPr>
            <a:r>
              <a:rPr lang="en-US" sz="1000" b="1" dirty="0">
                <a:solidFill>
                  <a:srgbClr val="2B3440"/>
                </a:solidFill>
                <a:latin typeface="Calibri" pitchFamily="34" charset="0"/>
                <a:ea typeface="Calibri" pitchFamily="34" charset="-122"/>
                <a:cs typeface="Calibri" pitchFamily="34" charset="-120"/>
              </a:rPr>
              <a:t>S3b  Alert detail drawer</a:t>
            </a:r>
            <a:endParaRPr lang="en-US" sz="1000" dirty="0"/>
          </a:p>
        </p:txBody>
      </p:sp>
      <p:sp>
        <p:nvSpPr>
          <p:cNvPr id="45" name="Text 43"/>
          <p:cNvSpPr/>
          <p:nvPr/>
        </p:nvSpPr>
        <p:spPr>
          <a:xfrm>
            <a:off x="548640" y="5074920"/>
            <a:ext cx="3657600" cy="256032"/>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PRIMARY DEMO PATH</a:t>
            </a:r>
            <a:endParaRPr lang="en-US" sz="1100" dirty="0"/>
          </a:p>
        </p:txBody>
      </p:sp>
      <p:sp>
        <p:nvSpPr>
          <p:cNvPr id="46" name="Shape 44"/>
          <p:cNvSpPr/>
          <p:nvPr/>
        </p:nvSpPr>
        <p:spPr>
          <a:xfrm>
            <a:off x="548640" y="5394960"/>
            <a:ext cx="1828800" cy="502920"/>
          </a:xfrm>
          <a:prstGeom prst="roundRect">
            <a:avLst>
              <a:gd name="adj" fmla="val 9091"/>
            </a:avLst>
          </a:prstGeom>
          <a:solidFill>
            <a:srgbClr val="F29F05"/>
          </a:solidFill>
          <a:ln w="12700">
            <a:solidFill>
              <a:srgbClr val="F29F05"/>
            </a:solidFill>
            <a:prstDash val="solid"/>
          </a:ln>
        </p:spPr>
      </p:sp>
      <p:sp>
        <p:nvSpPr>
          <p:cNvPr id="47" name="Text 45"/>
          <p:cNvSpPr/>
          <p:nvPr/>
        </p:nvSpPr>
        <p:spPr>
          <a:xfrm>
            <a:off x="548640" y="5394960"/>
            <a:ext cx="1828800" cy="502920"/>
          </a:xfrm>
          <a:prstGeom prst="rect">
            <a:avLst/>
          </a:prstGeom>
          <a:noFill/>
          <a:ln/>
        </p:spPr>
        <p:txBody>
          <a:bodyPr wrap="square" lIns="0" tIns="0" rIns="0" bIns="0"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S5  Inject event</a:t>
            </a:r>
            <a:endParaRPr lang="en-US" sz="1200" dirty="0"/>
          </a:p>
        </p:txBody>
      </p:sp>
      <p:sp>
        <p:nvSpPr>
          <p:cNvPr id="48" name="Shape 46"/>
          <p:cNvSpPr/>
          <p:nvPr/>
        </p:nvSpPr>
        <p:spPr>
          <a:xfrm>
            <a:off x="2423160" y="5646420"/>
            <a:ext cx="320040" cy="0"/>
          </a:xfrm>
          <a:prstGeom prst="line">
            <a:avLst/>
          </a:prstGeom>
          <a:noFill/>
          <a:ln w="19050">
            <a:solidFill>
              <a:srgbClr val="5B6675"/>
            </a:solidFill>
            <a:prstDash val="solid"/>
            <a:tailEnd type="triangle"/>
          </a:ln>
        </p:spPr>
      </p:sp>
      <p:sp>
        <p:nvSpPr>
          <p:cNvPr id="49" name="Shape 47"/>
          <p:cNvSpPr/>
          <p:nvPr/>
        </p:nvSpPr>
        <p:spPr>
          <a:xfrm>
            <a:off x="2788920" y="5394960"/>
            <a:ext cx="1828800" cy="502920"/>
          </a:xfrm>
          <a:prstGeom prst="roundRect">
            <a:avLst>
              <a:gd name="adj" fmla="val 9091"/>
            </a:avLst>
          </a:prstGeom>
          <a:solidFill>
            <a:srgbClr val="0E9AA7"/>
          </a:solidFill>
          <a:ln w="12700">
            <a:solidFill>
              <a:srgbClr val="0E9AA7"/>
            </a:solidFill>
            <a:prstDash val="solid"/>
          </a:ln>
        </p:spPr>
      </p:sp>
      <p:sp>
        <p:nvSpPr>
          <p:cNvPr id="50" name="Text 48"/>
          <p:cNvSpPr/>
          <p:nvPr/>
        </p:nvSpPr>
        <p:spPr>
          <a:xfrm>
            <a:off x="2788920" y="5394960"/>
            <a:ext cx="1828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S1  Alert appears live</a:t>
            </a:r>
            <a:endParaRPr lang="en-US" sz="1200" dirty="0"/>
          </a:p>
        </p:txBody>
      </p:sp>
      <p:sp>
        <p:nvSpPr>
          <p:cNvPr id="51" name="Shape 49"/>
          <p:cNvSpPr/>
          <p:nvPr/>
        </p:nvSpPr>
        <p:spPr>
          <a:xfrm>
            <a:off x="4663440" y="5646420"/>
            <a:ext cx="320040" cy="0"/>
          </a:xfrm>
          <a:prstGeom prst="line">
            <a:avLst/>
          </a:prstGeom>
          <a:noFill/>
          <a:ln w="19050">
            <a:solidFill>
              <a:srgbClr val="5B6675"/>
            </a:solidFill>
            <a:prstDash val="solid"/>
            <a:tailEnd type="triangle"/>
          </a:ln>
        </p:spPr>
      </p:sp>
      <p:sp>
        <p:nvSpPr>
          <p:cNvPr id="52" name="Shape 50"/>
          <p:cNvSpPr/>
          <p:nvPr/>
        </p:nvSpPr>
        <p:spPr>
          <a:xfrm>
            <a:off x="5029200" y="5394960"/>
            <a:ext cx="1828800" cy="502920"/>
          </a:xfrm>
          <a:prstGeom prst="roundRect">
            <a:avLst>
              <a:gd name="adj" fmla="val 9091"/>
            </a:avLst>
          </a:prstGeom>
          <a:solidFill>
            <a:srgbClr val="0E9AA7"/>
          </a:solidFill>
          <a:ln w="12700">
            <a:solidFill>
              <a:srgbClr val="0E9AA7"/>
            </a:solidFill>
            <a:prstDash val="solid"/>
          </a:ln>
        </p:spPr>
      </p:sp>
      <p:sp>
        <p:nvSpPr>
          <p:cNvPr id="53" name="Text 51"/>
          <p:cNvSpPr/>
          <p:nvPr/>
        </p:nvSpPr>
        <p:spPr>
          <a:xfrm>
            <a:off x="5029200" y="5394960"/>
            <a:ext cx="182880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S3  Review alert</a:t>
            </a:r>
            <a:endParaRPr lang="en-US" sz="1200" dirty="0"/>
          </a:p>
        </p:txBody>
      </p:sp>
      <p:sp>
        <p:nvSpPr>
          <p:cNvPr id="54" name="Shape 52"/>
          <p:cNvSpPr/>
          <p:nvPr/>
        </p:nvSpPr>
        <p:spPr>
          <a:xfrm>
            <a:off x="7315200" y="1554480"/>
            <a:ext cx="4325112" cy="4663440"/>
          </a:xfrm>
          <a:prstGeom prst="rect">
            <a:avLst/>
          </a:prstGeom>
          <a:solidFill>
            <a:srgbClr val="FFFFFF"/>
          </a:solidFill>
          <a:ln w="9525">
            <a:solidFill>
              <a:srgbClr val="D0D6DD"/>
            </a:solidFill>
            <a:prstDash val="solid"/>
          </a:ln>
          <a:effectLst>
            <a:outerShdw blurRad="76200" dist="25400" dir="8100000" algn="bl" rotWithShape="0">
              <a:srgbClr val="000000">
                <a:alpha val="10000"/>
              </a:srgbClr>
            </a:outerShdw>
          </a:effectLst>
        </p:spPr>
      </p:sp>
      <p:sp>
        <p:nvSpPr>
          <p:cNvPr id="55" name="Text 53"/>
          <p:cNvSpPr/>
          <p:nvPr/>
        </p:nvSpPr>
        <p:spPr>
          <a:xfrm>
            <a:off x="7543800" y="1664208"/>
            <a:ext cx="3657600" cy="274320"/>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WIREFRAME LEGEND</a:t>
            </a:r>
            <a:endParaRPr lang="en-US" sz="1100" dirty="0"/>
          </a:p>
        </p:txBody>
      </p:sp>
      <p:sp>
        <p:nvSpPr>
          <p:cNvPr id="56" name="Shape 54"/>
          <p:cNvSpPr/>
          <p:nvPr/>
        </p:nvSpPr>
        <p:spPr>
          <a:xfrm>
            <a:off x="7589520" y="2103120"/>
            <a:ext cx="246888" cy="246888"/>
          </a:xfrm>
          <a:prstGeom prst="ellipse">
            <a:avLst/>
          </a:prstGeom>
          <a:solidFill>
            <a:srgbClr val="D1495B"/>
          </a:solidFill>
          <a:ln w="15875">
            <a:solidFill>
              <a:srgbClr val="FFFFFF"/>
            </a:solidFill>
            <a:prstDash val="solid"/>
          </a:ln>
        </p:spPr>
      </p:sp>
      <p:sp>
        <p:nvSpPr>
          <p:cNvPr id="57" name="Text 55"/>
          <p:cNvSpPr/>
          <p:nvPr/>
        </p:nvSpPr>
        <p:spPr>
          <a:xfrm>
            <a:off x="7589520" y="210312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8" name="Text 56"/>
          <p:cNvSpPr/>
          <p:nvPr/>
        </p:nvSpPr>
        <p:spPr>
          <a:xfrm>
            <a:off x="8001000" y="2084832"/>
            <a:ext cx="3474720" cy="292608"/>
          </a:xfrm>
          <a:prstGeom prst="rect">
            <a:avLst/>
          </a:prstGeom>
          <a:noFill/>
          <a:ln/>
        </p:spPr>
        <p:txBody>
          <a:bodyPr wrap="square" lIns="0" tIns="0" rIns="0" bIns="0" rtlCol="0" anchor="ctr"/>
          <a:lstStyle/>
          <a:p>
            <a:pPr marL="0" indent="0" algn="l">
              <a:buNone/>
            </a:pPr>
            <a:r>
              <a:rPr lang="en-US" sz="1100" dirty="0">
                <a:solidFill>
                  <a:srgbClr val="2B3440"/>
                </a:solidFill>
                <a:latin typeface="Calibri" pitchFamily="34" charset="0"/>
                <a:ea typeface="Calibri" pitchFamily="34" charset="-122"/>
                <a:cs typeface="Calibri" pitchFamily="34" charset="-120"/>
              </a:rPr>
              <a:t>Numbered annotation, explained in the right-hand panel</a:t>
            </a:r>
            <a:endParaRPr lang="en-US" sz="1100" dirty="0"/>
          </a:p>
        </p:txBody>
      </p:sp>
      <p:sp>
        <p:nvSpPr>
          <p:cNvPr id="59" name="Shape 57"/>
          <p:cNvSpPr/>
          <p:nvPr/>
        </p:nvSpPr>
        <p:spPr>
          <a:xfrm>
            <a:off x="7589520" y="2606040"/>
            <a:ext cx="274320" cy="237744"/>
          </a:xfrm>
          <a:prstGeom prst="rect">
            <a:avLst/>
          </a:prstGeom>
          <a:solidFill>
            <a:srgbClr val="E5E8EC"/>
          </a:solidFill>
          <a:ln w="9525">
            <a:solidFill>
              <a:srgbClr val="B0B7C0"/>
            </a:solidFill>
            <a:prstDash val="solid"/>
          </a:ln>
        </p:spPr>
      </p:sp>
      <p:sp>
        <p:nvSpPr>
          <p:cNvPr id="60" name="Text 58"/>
          <p:cNvSpPr/>
          <p:nvPr/>
        </p:nvSpPr>
        <p:spPr>
          <a:xfrm>
            <a:off x="8001000" y="2578608"/>
            <a:ext cx="3474720" cy="292608"/>
          </a:xfrm>
          <a:prstGeom prst="rect">
            <a:avLst/>
          </a:prstGeom>
          <a:noFill/>
          <a:ln/>
        </p:spPr>
        <p:txBody>
          <a:bodyPr wrap="square" lIns="0" tIns="0" rIns="0" bIns="0" rtlCol="0" anchor="ctr"/>
          <a:lstStyle/>
          <a:p>
            <a:pPr marL="0" indent="0" algn="l">
              <a:buNone/>
            </a:pPr>
            <a:r>
              <a:rPr lang="en-US" sz="1100" dirty="0">
                <a:solidFill>
                  <a:srgbClr val="2B3440"/>
                </a:solidFill>
                <a:latin typeface="Calibri" pitchFamily="34" charset="0"/>
                <a:ea typeface="Calibri" pitchFamily="34" charset="-122"/>
                <a:cs typeface="Calibri" pitchFamily="34" charset="-120"/>
              </a:rPr>
              <a:t>Grey block: placeholder content or skeleton</a:t>
            </a:r>
            <a:endParaRPr lang="en-US" sz="1100" dirty="0"/>
          </a:p>
        </p:txBody>
      </p:sp>
      <p:sp>
        <p:nvSpPr>
          <p:cNvPr id="61" name="Shape 59"/>
          <p:cNvSpPr/>
          <p:nvPr/>
        </p:nvSpPr>
        <p:spPr>
          <a:xfrm>
            <a:off x="7589520" y="3108960"/>
            <a:ext cx="274320" cy="237744"/>
          </a:xfrm>
          <a:prstGeom prst="roundRect">
            <a:avLst>
              <a:gd name="adj" fmla="val 19231"/>
            </a:avLst>
          </a:prstGeom>
          <a:solidFill>
            <a:srgbClr val="0E9AA7"/>
          </a:solidFill>
          <a:ln w="12700">
            <a:solidFill>
              <a:srgbClr val="0E9AA7"/>
            </a:solidFill>
            <a:prstDash val="solid"/>
          </a:ln>
        </p:spPr>
      </p:sp>
      <p:sp>
        <p:nvSpPr>
          <p:cNvPr id="62" name="Text 60"/>
          <p:cNvSpPr/>
          <p:nvPr/>
        </p:nvSpPr>
        <p:spPr>
          <a:xfrm>
            <a:off x="8001000" y="3081528"/>
            <a:ext cx="3474720" cy="292608"/>
          </a:xfrm>
          <a:prstGeom prst="rect">
            <a:avLst/>
          </a:prstGeom>
          <a:noFill/>
          <a:ln/>
        </p:spPr>
        <p:txBody>
          <a:bodyPr wrap="square" lIns="0" tIns="0" rIns="0" bIns="0" rtlCol="0" anchor="ctr"/>
          <a:lstStyle/>
          <a:p>
            <a:pPr marL="0" indent="0" algn="l">
              <a:buNone/>
            </a:pPr>
            <a:r>
              <a:rPr lang="en-US" sz="1100" dirty="0">
                <a:solidFill>
                  <a:srgbClr val="2B3440"/>
                </a:solidFill>
                <a:latin typeface="Calibri" pitchFamily="34" charset="0"/>
                <a:ea typeface="Calibri" pitchFamily="34" charset="-122"/>
                <a:cs typeface="Calibri" pitchFamily="34" charset="-120"/>
              </a:rPr>
              <a:t>Teal: primary action or active item</a:t>
            </a:r>
            <a:endParaRPr lang="en-US" sz="1100" dirty="0"/>
          </a:p>
        </p:txBody>
      </p:sp>
      <p:sp>
        <p:nvSpPr>
          <p:cNvPr id="63" name="Shape 61"/>
          <p:cNvSpPr/>
          <p:nvPr/>
        </p:nvSpPr>
        <p:spPr>
          <a:xfrm>
            <a:off x="7589520" y="3611880"/>
            <a:ext cx="274320" cy="237744"/>
          </a:xfrm>
          <a:prstGeom prst="rect">
            <a:avLst/>
          </a:prstGeom>
          <a:solidFill>
            <a:srgbClr val="FDF0D5"/>
          </a:solidFill>
          <a:ln w="9525">
            <a:solidFill>
              <a:srgbClr val="F29F05"/>
            </a:solidFill>
            <a:prstDash val="solid"/>
          </a:ln>
        </p:spPr>
      </p:sp>
      <p:sp>
        <p:nvSpPr>
          <p:cNvPr id="64" name="Text 62"/>
          <p:cNvSpPr/>
          <p:nvPr/>
        </p:nvSpPr>
        <p:spPr>
          <a:xfrm>
            <a:off x="8001000" y="3584448"/>
            <a:ext cx="3474720" cy="292608"/>
          </a:xfrm>
          <a:prstGeom prst="rect">
            <a:avLst/>
          </a:prstGeom>
          <a:noFill/>
          <a:ln/>
        </p:spPr>
        <p:txBody>
          <a:bodyPr wrap="square" lIns="0" tIns="0" rIns="0" bIns="0" rtlCol="0" anchor="ctr"/>
          <a:lstStyle/>
          <a:p>
            <a:pPr marL="0" indent="0" algn="l">
              <a:buNone/>
            </a:pPr>
            <a:r>
              <a:rPr lang="en-US" sz="1100" dirty="0">
                <a:solidFill>
                  <a:srgbClr val="2B3440"/>
                </a:solidFill>
                <a:latin typeface="Calibri" pitchFamily="34" charset="0"/>
                <a:ea typeface="Calibri" pitchFamily="34" charset="-122"/>
                <a:cs typeface="Calibri" pitchFamily="34" charset="-120"/>
              </a:rPr>
              <a:t>Amber: flagged or high-risk transaction</a:t>
            </a:r>
            <a:endParaRPr lang="en-US" sz="1100" dirty="0"/>
          </a:p>
        </p:txBody>
      </p:sp>
      <p:sp>
        <p:nvSpPr>
          <p:cNvPr id="65" name="Shape 63"/>
          <p:cNvSpPr/>
          <p:nvPr/>
        </p:nvSpPr>
        <p:spPr>
          <a:xfrm>
            <a:off x="7543800" y="4114800"/>
            <a:ext cx="365760" cy="237744"/>
          </a:xfrm>
          <a:prstGeom prst="roundRect">
            <a:avLst>
              <a:gd name="adj" fmla="val 30769"/>
            </a:avLst>
          </a:prstGeom>
          <a:solidFill>
            <a:srgbClr val="0E9AA7"/>
          </a:solidFill>
          <a:ln w="12700">
            <a:solidFill>
              <a:srgbClr val="0E9AA7"/>
            </a:solidFill>
            <a:prstDash val="solid"/>
          </a:ln>
        </p:spPr>
      </p:sp>
      <p:sp>
        <p:nvSpPr>
          <p:cNvPr id="66" name="Text 64"/>
          <p:cNvSpPr/>
          <p:nvPr/>
        </p:nvSpPr>
        <p:spPr>
          <a:xfrm>
            <a:off x="7543800" y="4114800"/>
            <a:ext cx="36576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LIVE</a:t>
            </a:r>
            <a:endParaRPr lang="en-US" sz="800" dirty="0"/>
          </a:p>
        </p:txBody>
      </p:sp>
      <p:sp>
        <p:nvSpPr>
          <p:cNvPr id="67" name="Text 65"/>
          <p:cNvSpPr/>
          <p:nvPr/>
        </p:nvSpPr>
        <p:spPr>
          <a:xfrm>
            <a:off x="8001000" y="4087368"/>
            <a:ext cx="3474720" cy="292608"/>
          </a:xfrm>
          <a:prstGeom prst="rect">
            <a:avLst/>
          </a:prstGeom>
          <a:noFill/>
          <a:ln/>
        </p:spPr>
        <p:txBody>
          <a:bodyPr wrap="square" lIns="0" tIns="0" rIns="0" bIns="0" rtlCol="0" anchor="ctr"/>
          <a:lstStyle/>
          <a:p>
            <a:pPr marL="0" indent="0" algn="l">
              <a:buNone/>
            </a:pPr>
            <a:r>
              <a:rPr lang="en-US" sz="1100" dirty="0">
                <a:solidFill>
                  <a:srgbClr val="2B3440"/>
                </a:solidFill>
                <a:latin typeface="Calibri" pitchFamily="34" charset="0"/>
                <a:ea typeface="Calibri" pitchFamily="34" charset="-122"/>
                <a:cs typeface="Calibri" pitchFamily="34" charset="-120"/>
              </a:rPr>
              <a:t>Updated automatically over SSE / WebSocket</a:t>
            </a:r>
            <a:endParaRPr lang="en-US" sz="1100" dirty="0"/>
          </a:p>
        </p:txBody>
      </p:sp>
      <p:sp>
        <p:nvSpPr>
          <p:cNvPr id="68" name="Text 66"/>
          <p:cNvSpPr/>
          <p:nvPr/>
        </p:nvSpPr>
        <p:spPr>
          <a:xfrm>
            <a:off x="7543800" y="4572000"/>
            <a:ext cx="3657600" cy="274320"/>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GLOBAL CONVENTIONS</a:t>
            </a:r>
            <a:endParaRPr lang="en-US" sz="1100" dirty="0"/>
          </a:p>
        </p:txBody>
      </p:sp>
      <p:sp>
        <p:nvSpPr>
          <p:cNvPr id="69" name="Text 67"/>
          <p:cNvSpPr/>
          <p:nvPr/>
        </p:nvSpPr>
        <p:spPr>
          <a:xfrm>
            <a:off x="7543800" y="4864608"/>
            <a:ext cx="3931920" cy="1188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3440"/>
                </a:solidFill>
                <a:latin typeface="Calibri" pitchFamily="34" charset="0"/>
                <a:ea typeface="Calibri" pitchFamily="34" charset="-122"/>
                <a:cs typeface="Calibri" pitchFamily="34" charset="-120"/>
              </a:rPr>
              <a:t>Desktop-first, 1440 x 900 reference</a:t>
            </a:r>
            <a:endParaRPr lang="en-US" sz="1150" dirty="0"/>
          </a:p>
          <a:p>
            <a:pPr marL="342900" indent="-342900">
              <a:spcAft>
                <a:spcPts val="400"/>
              </a:spcAft>
              <a:buSzPct val="100000"/>
              <a:buChar char="•"/>
            </a:pPr>
            <a:r>
              <a:rPr lang="en-US" sz="1150" dirty="0">
                <a:solidFill>
                  <a:srgbClr val="2B3440"/>
                </a:solidFill>
                <a:latin typeface="Calibri" pitchFamily="34" charset="0"/>
                <a:ea typeface="Calibri" pitchFamily="34" charset="-122"/>
                <a:cs typeface="Calibri" pitchFamily="34" charset="-120"/>
              </a:rPr>
              <a:t>Newest-first lists, capped at 50 rows</a:t>
            </a:r>
            <a:endParaRPr lang="en-US" sz="1150" dirty="0"/>
          </a:p>
          <a:p>
            <a:pPr marL="342900" indent="-342900">
              <a:spcAft>
                <a:spcPts val="400"/>
              </a:spcAft>
              <a:buSzPct val="100000"/>
              <a:buChar char="•"/>
            </a:pPr>
            <a:r>
              <a:rPr lang="en-US" sz="1150" dirty="0">
                <a:solidFill>
                  <a:srgbClr val="2B3440"/>
                </a:solidFill>
                <a:latin typeface="Calibri" pitchFamily="34" charset="0"/>
                <a:ea typeface="Calibri" pitchFamily="34" charset="-122"/>
                <a:cs typeface="Calibri" pitchFamily="34" charset="-120"/>
              </a:rPr>
              <a:t>All values shown are sample placeholders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A7"/>
          </a:solidFill>
          <a:ln w="12700">
            <a:solidFill>
              <a:srgbClr val="0E9AA7"/>
            </a:solidFill>
            <a:prstDash val="solid"/>
          </a:ln>
        </p:spPr>
      </p:sp>
      <p:sp>
        <p:nvSpPr>
          <p:cNvPr id="3" name="Shape 1"/>
          <p:cNvSpPr/>
          <p:nvPr/>
        </p:nvSpPr>
        <p:spPr>
          <a:xfrm>
            <a:off x="548640" y="384048"/>
            <a:ext cx="566928" cy="347472"/>
          </a:xfrm>
          <a:prstGeom prst="roundRect">
            <a:avLst>
              <a:gd name="adj" fmla="val 21053"/>
            </a:avLst>
          </a:prstGeom>
          <a:solidFill>
            <a:srgbClr val="14213D"/>
          </a:solidFill>
          <a:ln w="12700">
            <a:solidFill>
              <a:srgbClr val="14213D"/>
            </a:solidFill>
            <a:prstDash val="solid"/>
          </a:ln>
        </p:spPr>
      </p:sp>
      <p:sp>
        <p:nvSpPr>
          <p:cNvPr id="4" name="Text 2"/>
          <p:cNvSpPr/>
          <p:nvPr/>
        </p:nvSpPr>
        <p:spPr>
          <a:xfrm>
            <a:off x="548640" y="384048"/>
            <a:ext cx="56692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S1</a:t>
            </a:r>
            <a:endParaRPr lang="en-US" sz="1300" dirty="0"/>
          </a:p>
        </p:txBody>
      </p:sp>
      <p:sp>
        <p:nvSpPr>
          <p:cNvPr id="5" name="Text 3"/>
          <p:cNvSpPr/>
          <p:nvPr/>
        </p:nvSpPr>
        <p:spPr>
          <a:xfrm>
            <a:off x="1280160" y="320040"/>
            <a:ext cx="10332720" cy="475488"/>
          </a:xfrm>
          <a:prstGeom prst="rect">
            <a:avLst/>
          </a:prstGeom>
          <a:noFill/>
          <a:ln/>
        </p:spPr>
        <p:txBody>
          <a:bodyPr wrap="square" lIns="0" tIns="0" rIns="0" bIns="0" rtlCol="0" anchor="ctr"/>
          <a:lstStyle/>
          <a:p>
            <a:pPr marL="0" indent="0" algn="l">
              <a:buNone/>
            </a:pPr>
            <a:r>
              <a:rPr lang="en-US" sz="2800" b="1" dirty="0">
                <a:solidFill>
                  <a:srgbClr val="14213D"/>
                </a:solidFill>
                <a:latin typeface="Calibri" pitchFamily="34" charset="0"/>
                <a:ea typeface="Calibri" pitchFamily="34" charset="-122"/>
                <a:cs typeface="Calibri" pitchFamily="34" charset="-120"/>
              </a:rPr>
              <a:t>Live Dashboard</a:t>
            </a:r>
            <a:endParaRPr lang="en-US" sz="2800" dirty="0"/>
          </a:p>
        </p:txBody>
      </p:sp>
      <p:sp>
        <p:nvSpPr>
          <p:cNvPr id="6" name="Text 4"/>
          <p:cNvSpPr/>
          <p:nvPr/>
        </p:nvSpPr>
        <p:spPr>
          <a:xfrm>
            <a:off x="1280160" y="841248"/>
            <a:ext cx="10789920" cy="365760"/>
          </a:xfrm>
          <a:prstGeom prst="rect">
            <a:avLst/>
          </a:prstGeom>
          <a:noFill/>
          <a:ln/>
        </p:spPr>
        <p:txBody>
          <a:bodyPr wrap="square" lIns="0" tIns="0" rIns="0" bIns="0" rtlCol="0" anchor="ctr"/>
          <a:lstStyle/>
          <a:p>
            <a:pPr marL="0" indent="0" algn="l">
              <a:buNone/>
            </a:pPr>
            <a:r>
              <a:rPr lang="en-US" sz="1400" dirty="0">
                <a:solidFill>
                  <a:srgbClr val="5B6675"/>
                </a:solidFill>
                <a:latin typeface="Calibri" pitchFamily="34" charset="0"/>
                <a:ea typeface="Calibri" pitchFamily="34" charset="-122"/>
                <a:cs typeface="Calibri" pitchFamily="34" charset="-120"/>
              </a:rPr>
              <a:t>Home screen: transactions flowing in, alerts appearing, no page refresh</a:t>
            </a:r>
            <a:endParaRPr lang="en-US" sz="1400" dirty="0"/>
          </a:p>
        </p:txBody>
      </p:sp>
      <p:sp>
        <p:nvSpPr>
          <p:cNvPr id="7" name="Text 5"/>
          <p:cNvSpPr/>
          <p:nvPr/>
        </p:nvSpPr>
        <p:spPr>
          <a:xfrm>
            <a:off x="548640" y="6446520"/>
            <a:ext cx="6400800" cy="256032"/>
          </a:xfrm>
          <a:prstGeom prst="rect">
            <a:avLst/>
          </a:prstGeom>
          <a:noFill/>
          <a:ln/>
        </p:spPr>
        <p:txBody>
          <a:bodyPr wrap="square" lIns="0" tIns="0" rIns="0" bIns="0" rtlCol="0" anchor="ctr"/>
          <a:lstStyle/>
          <a:p>
            <a:pPr marL="0" indent="0" algn="l">
              <a:buNone/>
            </a:pPr>
            <a:r>
              <a:rPr lang="en-US" sz="1000" dirty="0">
                <a:solidFill>
                  <a:srgbClr val="5B6675"/>
                </a:solidFill>
                <a:latin typeface="Calibri" pitchFamily="34" charset="0"/>
                <a:ea typeface="Calibri" pitchFamily="34" charset="-122"/>
                <a:cs typeface="Calibri" pitchFamily="34" charset="-120"/>
              </a:rPr>
              <a:t>Prototype Wireframes  |  Kafka Streams Real-Time Ingestion</a:t>
            </a:r>
            <a:endParaRPr lang="en-US" sz="1000" dirty="0"/>
          </a:p>
        </p:txBody>
      </p:sp>
      <p:sp>
        <p:nvSpPr>
          <p:cNvPr id="8" name="Text 6"/>
          <p:cNvSpPr/>
          <p:nvPr/>
        </p:nvSpPr>
        <p:spPr>
          <a:xfrm>
            <a:off x="11155680" y="6446520"/>
            <a:ext cx="548640" cy="256032"/>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3</a:t>
            </a:r>
            <a:endParaRPr lang="en-US" sz="1000" dirty="0"/>
          </a:p>
        </p:txBody>
      </p:sp>
      <p:sp>
        <p:nvSpPr>
          <p:cNvPr id="9" name="Shape 7"/>
          <p:cNvSpPr/>
          <p:nvPr/>
        </p:nvSpPr>
        <p:spPr>
          <a:xfrm>
            <a:off x="548640" y="1371600"/>
            <a:ext cx="7955280" cy="4892040"/>
          </a:xfrm>
          <a:prstGeom prst="rect">
            <a:avLst/>
          </a:prstGeom>
          <a:solidFill>
            <a:srgbClr val="FFFFFF"/>
          </a:solidFill>
          <a:ln w="15875">
            <a:solidFill>
              <a:srgbClr val="8A94A0"/>
            </a:solidFill>
            <a:prstDash val="solid"/>
          </a:ln>
          <a:effectLst>
            <a:outerShdw blurRad="76200" dist="25400" dir="8100000" algn="bl" rotWithShape="0">
              <a:srgbClr val="000000">
                <a:alpha val="10000"/>
              </a:srgbClr>
            </a:outerShdw>
          </a:effectLst>
        </p:spPr>
      </p:sp>
      <p:sp>
        <p:nvSpPr>
          <p:cNvPr id="10" name="Shape 8"/>
          <p:cNvSpPr/>
          <p:nvPr/>
        </p:nvSpPr>
        <p:spPr>
          <a:xfrm>
            <a:off x="548640" y="1371600"/>
            <a:ext cx="7955280" cy="292608"/>
          </a:xfrm>
          <a:prstGeom prst="rect">
            <a:avLst/>
          </a:prstGeom>
          <a:solidFill>
            <a:srgbClr val="D5DAE0"/>
          </a:solidFill>
          <a:ln w="12700">
            <a:solidFill>
              <a:srgbClr val="D5DAE0"/>
            </a:solidFill>
            <a:prstDash val="solid"/>
          </a:ln>
        </p:spPr>
      </p:sp>
      <p:sp>
        <p:nvSpPr>
          <p:cNvPr id="11" name="Shape 9"/>
          <p:cNvSpPr/>
          <p:nvPr/>
        </p:nvSpPr>
        <p:spPr>
          <a:xfrm>
            <a:off x="676656" y="1463040"/>
            <a:ext cx="109728" cy="109728"/>
          </a:xfrm>
          <a:prstGeom prst="ellipse">
            <a:avLst/>
          </a:prstGeom>
          <a:solidFill>
            <a:srgbClr val="9AA3AE"/>
          </a:solidFill>
          <a:ln w="12700">
            <a:solidFill>
              <a:srgbClr val="9AA3AE"/>
            </a:solidFill>
            <a:prstDash val="solid"/>
          </a:ln>
        </p:spPr>
      </p:sp>
      <p:sp>
        <p:nvSpPr>
          <p:cNvPr id="12" name="Shape 10"/>
          <p:cNvSpPr/>
          <p:nvPr/>
        </p:nvSpPr>
        <p:spPr>
          <a:xfrm>
            <a:off x="859536" y="1463040"/>
            <a:ext cx="109728" cy="109728"/>
          </a:xfrm>
          <a:prstGeom prst="ellipse">
            <a:avLst/>
          </a:prstGeom>
          <a:solidFill>
            <a:srgbClr val="9AA3AE"/>
          </a:solidFill>
          <a:ln w="12700">
            <a:solidFill>
              <a:srgbClr val="9AA3AE"/>
            </a:solidFill>
            <a:prstDash val="solid"/>
          </a:ln>
        </p:spPr>
      </p:sp>
      <p:sp>
        <p:nvSpPr>
          <p:cNvPr id="13" name="Shape 11"/>
          <p:cNvSpPr/>
          <p:nvPr/>
        </p:nvSpPr>
        <p:spPr>
          <a:xfrm>
            <a:off x="1042416" y="1463040"/>
            <a:ext cx="109728" cy="109728"/>
          </a:xfrm>
          <a:prstGeom prst="ellipse">
            <a:avLst/>
          </a:prstGeom>
          <a:solidFill>
            <a:srgbClr val="9AA3AE"/>
          </a:solidFill>
          <a:ln w="12700">
            <a:solidFill>
              <a:srgbClr val="9AA3AE"/>
            </a:solidFill>
            <a:prstDash val="solid"/>
          </a:ln>
        </p:spPr>
      </p:sp>
      <p:sp>
        <p:nvSpPr>
          <p:cNvPr id="14" name="Shape 12"/>
          <p:cNvSpPr/>
          <p:nvPr/>
        </p:nvSpPr>
        <p:spPr>
          <a:xfrm>
            <a:off x="1371600" y="1426464"/>
            <a:ext cx="3108960" cy="182880"/>
          </a:xfrm>
          <a:prstGeom prst="roundRect">
            <a:avLst>
              <a:gd name="adj" fmla="val 25000"/>
            </a:avLst>
          </a:prstGeom>
          <a:solidFill>
            <a:srgbClr val="FFFFFF"/>
          </a:solidFill>
          <a:ln w="12700">
            <a:solidFill>
              <a:srgbClr val="FFFFFF"/>
            </a:solidFill>
            <a:prstDash val="solid"/>
          </a:ln>
        </p:spPr>
      </p:sp>
      <p:sp>
        <p:nvSpPr>
          <p:cNvPr id="15" name="Text 13"/>
          <p:cNvSpPr/>
          <p:nvPr/>
        </p:nvSpPr>
        <p:spPr>
          <a:xfrm>
            <a:off x="1463040" y="1426464"/>
            <a:ext cx="2926080" cy="182880"/>
          </a:xfrm>
          <a:prstGeom prst="rect">
            <a:avLst/>
          </a:prstGeom>
          <a:noFill/>
          <a:ln/>
        </p:spPr>
        <p:txBody>
          <a:bodyPr wrap="square" lIns="0" tIns="0" rIns="0" bIns="0" rtlCol="0" anchor="ctr"/>
          <a:lstStyle/>
          <a:p>
            <a:pPr marL="0" indent="0" algn="l">
              <a:buNone/>
            </a:pPr>
            <a:r>
              <a:rPr lang="en-US" sz="800" dirty="0">
                <a:solidFill>
                  <a:srgbClr val="5B6675"/>
                </a:solidFill>
                <a:latin typeface="Calibri" pitchFamily="34" charset="0"/>
                <a:ea typeface="Calibri" pitchFamily="34" charset="-122"/>
                <a:cs typeface="Calibri" pitchFamily="34" charset="-120"/>
              </a:rPr>
              <a:t>localhost:3000/dashboard</a:t>
            </a:r>
            <a:endParaRPr lang="en-US" sz="800" dirty="0"/>
          </a:p>
        </p:txBody>
      </p:sp>
      <p:sp>
        <p:nvSpPr>
          <p:cNvPr id="16" name="Shape 14"/>
          <p:cNvSpPr/>
          <p:nvPr/>
        </p:nvSpPr>
        <p:spPr>
          <a:xfrm>
            <a:off x="548640" y="1664208"/>
            <a:ext cx="1371600" cy="4599432"/>
          </a:xfrm>
          <a:prstGeom prst="rect">
            <a:avLst/>
          </a:prstGeom>
          <a:solidFill>
            <a:srgbClr val="ECEFF3"/>
          </a:solidFill>
          <a:ln w="12700">
            <a:solidFill>
              <a:srgbClr val="ECEFF3"/>
            </a:solidFill>
            <a:prstDash val="solid"/>
          </a:ln>
        </p:spPr>
      </p:sp>
      <p:sp>
        <p:nvSpPr>
          <p:cNvPr id="17" name="Shape 15"/>
          <p:cNvSpPr/>
          <p:nvPr/>
        </p:nvSpPr>
        <p:spPr>
          <a:xfrm>
            <a:off x="1920240" y="1664208"/>
            <a:ext cx="0" cy="4599432"/>
          </a:xfrm>
          <a:prstGeom prst="line">
            <a:avLst/>
          </a:prstGeom>
          <a:noFill/>
          <a:ln w="9525">
            <a:solidFill>
              <a:srgbClr val="B0B7C0"/>
            </a:solidFill>
            <a:prstDash val="solid"/>
          </a:ln>
        </p:spPr>
      </p:sp>
      <p:sp>
        <p:nvSpPr>
          <p:cNvPr id="18" name="Shape 16"/>
          <p:cNvSpPr/>
          <p:nvPr/>
        </p:nvSpPr>
        <p:spPr>
          <a:xfrm>
            <a:off x="685800" y="1801368"/>
            <a:ext cx="219456" cy="219456"/>
          </a:xfrm>
          <a:prstGeom prst="rect">
            <a:avLst/>
          </a:prstGeom>
          <a:solidFill>
            <a:srgbClr val="14213D"/>
          </a:solidFill>
          <a:ln w="12700">
            <a:solidFill>
              <a:srgbClr val="14213D"/>
            </a:solidFill>
            <a:prstDash val="solid"/>
          </a:ln>
        </p:spPr>
      </p:sp>
      <p:sp>
        <p:nvSpPr>
          <p:cNvPr id="19" name="Text 17"/>
          <p:cNvSpPr/>
          <p:nvPr/>
        </p:nvSpPr>
        <p:spPr>
          <a:xfrm>
            <a:off x="978408" y="1783080"/>
            <a:ext cx="914400" cy="256032"/>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TxnWatch</a:t>
            </a:r>
            <a:endParaRPr lang="en-US" sz="1150" dirty="0"/>
          </a:p>
        </p:txBody>
      </p:sp>
      <p:sp>
        <p:nvSpPr>
          <p:cNvPr id="20" name="Shape 18"/>
          <p:cNvSpPr/>
          <p:nvPr/>
        </p:nvSpPr>
        <p:spPr>
          <a:xfrm>
            <a:off x="621792" y="2240280"/>
            <a:ext cx="1225296" cy="310896"/>
          </a:xfrm>
          <a:prstGeom prst="roundRect">
            <a:avLst>
              <a:gd name="adj" fmla="val 14706"/>
            </a:avLst>
          </a:prstGeom>
          <a:solidFill>
            <a:srgbClr val="0E9AA7"/>
          </a:solidFill>
          <a:ln w="12700">
            <a:solidFill>
              <a:srgbClr val="0E9AA7"/>
            </a:solidFill>
            <a:prstDash val="solid"/>
          </a:ln>
        </p:spPr>
      </p:sp>
      <p:sp>
        <p:nvSpPr>
          <p:cNvPr id="21" name="Text 19"/>
          <p:cNvSpPr/>
          <p:nvPr/>
        </p:nvSpPr>
        <p:spPr>
          <a:xfrm>
            <a:off x="731520" y="2240280"/>
            <a:ext cx="109728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Live Dashboard</a:t>
            </a:r>
            <a:endParaRPr lang="en-US" sz="1000" dirty="0"/>
          </a:p>
        </p:txBody>
      </p:sp>
      <p:sp>
        <p:nvSpPr>
          <p:cNvPr id="22" name="Shape 20"/>
          <p:cNvSpPr/>
          <p:nvPr/>
        </p:nvSpPr>
        <p:spPr>
          <a:xfrm>
            <a:off x="713232" y="2715768"/>
            <a:ext cx="128016" cy="128016"/>
          </a:xfrm>
          <a:prstGeom prst="rect">
            <a:avLst/>
          </a:prstGeom>
          <a:solidFill>
            <a:srgbClr val="C9CFD6"/>
          </a:solidFill>
          <a:ln w="12700">
            <a:solidFill>
              <a:srgbClr val="C9CFD6"/>
            </a:solidFill>
            <a:prstDash val="solid"/>
          </a:ln>
        </p:spPr>
      </p:sp>
      <p:sp>
        <p:nvSpPr>
          <p:cNvPr id="23" name="Text 21"/>
          <p:cNvSpPr/>
          <p:nvPr/>
        </p:nvSpPr>
        <p:spPr>
          <a:xfrm>
            <a:off x="914400" y="2624328"/>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Transactions</a:t>
            </a:r>
            <a:endParaRPr lang="en-US" sz="1000" dirty="0"/>
          </a:p>
        </p:txBody>
      </p:sp>
      <p:sp>
        <p:nvSpPr>
          <p:cNvPr id="24" name="Shape 22"/>
          <p:cNvSpPr/>
          <p:nvPr/>
        </p:nvSpPr>
        <p:spPr>
          <a:xfrm>
            <a:off x="713232" y="3099816"/>
            <a:ext cx="128016" cy="128016"/>
          </a:xfrm>
          <a:prstGeom prst="rect">
            <a:avLst/>
          </a:prstGeom>
          <a:solidFill>
            <a:srgbClr val="C9CFD6"/>
          </a:solidFill>
          <a:ln w="12700">
            <a:solidFill>
              <a:srgbClr val="C9CFD6"/>
            </a:solidFill>
            <a:prstDash val="solid"/>
          </a:ln>
        </p:spPr>
      </p:sp>
      <p:sp>
        <p:nvSpPr>
          <p:cNvPr id="25" name="Text 23"/>
          <p:cNvSpPr/>
          <p:nvPr/>
        </p:nvSpPr>
        <p:spPr>
          <a:xfrm>
            <a:off x="914400" y="3008376"/>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Alerts</a:t>
            </a:r>
            <a:endParaRPr lang="en-US" sz="1000" dirty="0"/>
          </a:p>
        </p:txBody>
      </p:sp>
      <p:sp>
        <p:nvSpPr>
          <p:cNvPr id="26" name="Shape 24"/>
          <p:cNvSpPr/>
          <p:nvPr/>
        </p:nvSpPr>
        <p:spPr>
          <a:xfrm>
            <a:off x="713232" y="3483864"/>
            <a:ext cx="128016" cy="128016"/>
          </a:xfrm>
          <a:prstGeom prst="rect">
            <a:avLst/>
          </a:prstGeom>
          <a:solidFill>
            <a:srgbClr val="C9CFD6"/>
          </a:solidFill>
          <a:ln w="12700">
            <a:solidFill>
              <a:srgbClr val="C9CFD6"/>
            </a:solidFill>
            <a:prstDash val="solid"/>
          </a:ln>
        </p:spPr>
      </p:sp>
      <p:sp>
        <p:nvSpPr>
          <p:cNvPr id="27" name="Text 25"/>
          <p:cNvSpPr/>
          <p:nvPr/>
        </p:nvSpPr>
        <p:spPr>
          <a:xfrm>
            <a:off x="914400" y="3392424"/>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Pipeline Health</a:t>
            </a:r>
            <a:endParaRPr lang="en-US" sz="1000" dirty="0"/>
          </a:p>
        </p:txBody>
      </p:sp>
      <p:sp>
        <p:nvSpPr>
          <p:cNvPr id="28" name="Shape 26"/>
          <p:cNvSpPr/>
          <p:nvPr/>
        </p:nvSpPr>
        <p:spPr>
          <a:xfrm>
            <a:off x="713232" y="3867912"/>
            <a:ext cx="128016" cy="128016"/>
          </a:xfrm>
          <a:prstGeom prst="rect">
            <a:avLst/>
          </a:prstGeom>
          <a:solidFill>
            <a:srgbClr val="C9CFD6"/>
          </a:solidFill>
          <a:ln w="12700">
            <a:solidFill>
              <a:srgbClr val="C9CFD6"/>
            </a:solidFill>
            <a:prstDash val="solid"/>
          </a:ln>
        </p:spPr>
      </p:sp>
      <p:sp>
        <p:nvSpPr>
          <p:cNvPr id="29" name="Text 27"/>
          <p:cNvSpPr/>
          <p:nvPr/>
        </p:nvSpPr>
        <p:spPr>
          <a:xfrm>
            <a:off x="914400" y="3776472"/>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Control Panel</a:t>
            </a:r>
            <a:endParaRPr lang="en-US" sz="1000" dirty="0"/>
          </a:p>
        </p:txBody>
      </p:sp>
      <p:sp>
        <p:nvSpPr>
          <p:cNvPr id="30" name="Text 28"/>
          <p:cNvSpPr/>
          <p:nvPr/>
        </p:nvSpPr>
        <p:spPr>
          <a:xfrm>
            <a:off x="685800" y="5897880"/>
            <a:ext cx="1188720" cy="228600"/>
          </a:xfrm>
          <a:prstGeom prst="rect">
            <a:avLst/>
          </a:prstGeom>
          <a:noFill/>
          <a:ln/>
        </p:spPr>
        <p:txBody>
          <a:bodyPr wrap="square" lIns="0" tIns="0" rIns="0" bIns="0" rtlCol="0" anchor="ctr"/>
          <a:lstStyle/>
          <a:p>
            <a:pPr marL="0" indent="0" algn="l">
              <a:buNone/>
            </a:pPr>
            <a:r>
              <a:rPr lang="en-US" sz="900" b="1" dirty="0">
                <a:solidFill>
                  <a:srgbClr val="2E9E5B"/>
                </a:solidFill>
                <a:latin typeface="Calibri" pitchFamily="34" charset="0"/>
                <a:ea typeface="Calibri" pitchFamily="34" charset="-122"/>
                <a:cs typeface="Calibri" pitchFamily="34" charset="-120"/>
              </a:rPr>
              <a:t>● Connected</a:t>
            </a:r>
            <a:endParaRPr lang="en-US" sz="900" dirty="0"/>
          </a:p>
        </p:txBody>
      </p:sp>
      <p:sp>
        <p:nvSpPr>
          <p:cNvPr id="31" name="Text 29"/>
          <p:cNvSpPr/>
          <p:nvPr/>
        </p:nvSpPr>
        <p:spPr>
          <a:xfrm>
            <a:off x="2057400" y="1755648"/>
            <a:ext cx="3657600" cy="310896"/>
          </a:xfrm>
          <a:prstGeom prst="rect">
            <a:avLst/>
          </a:prstGeom>
          <a:noFill/>
          <a:ln/>
        </p:spPr>
        <p:txBody>
          <a:bodyPr wrap="square" lIns="0" tIns="0" rIns="0" bIns="0" rtlCol="0" anchor="ctr"/>
          <a:lstStyle/>
          <a:p>
            <a:pPr marL="0" indent="0" algn="l">
              <a:buNone/>
            </a:pPr>
            <a:r>
              <a:rPr lang="en-US" sz="1400" b="1" dirty="0">
                <a:solidFill>
                  <a:srgbClr val="14213D"/>
                </a:solidFill>
                <a:latin typeface="Calibri" pitchFamily="34" charset="0"/>
                <a:ea typeface="Calibri" pitchFamily="34" charset="-122"/>
                <a:cs typeface="Calibri" pitchFamily="34" charset="-120"/>
              </a:rPr>
              <a:t>Real-Time Transaction Monitor</a:t>
            </a:r>
            <a:endParaRPr lang="en-US" sz="1400" dirty="0"/>
          </a:p>
        </p:txBody>
      </p:sp>
      <p:sp>
        <p:nvSpPr>
          <p:cNvPr id="32" name="Shape 30"/>
          <p:cNvSpPr/>
          <p:nvPr/>
        </p:nvSpPr>
        <p:spPr>
          <a:xfrm>
            <a:off x="5897880" y="1764792"/>
            <a:ext cx="1325880" cy="274320"/>
          </a:xfrm>
          <a:prstGeom prst="roundRect">
            <a:avLst>
              <a:gd name="adj" fmla="val 16667"/>
            </a:avLst>
          </a:prstGeom>
          <a:solidFill>
            <a:srgbClr val="FFFFFF"/>
          </a:solidFill>
          <a:ln w="9525">
            <a:solidFill>
              <a:srgbClr val="A5ADB7"/>
            </a:solidFill>
            <a:prstDash val="solid"/>
          </a:ln>
        </p:spPr>
      </p:sp>
      <p:sp>
        <p:nvSpPr>
          <p:cNvPr id="33" name="Text 31"/>
          <p:cNvSpPr/>
          <p:nvPr/>
        </p:nvSpPr>
        <p:spPr>
          <a:xfrm>
            <a:off x="5971032" y="1764792"/>
            <a:ext cx="1179576" cy="274320"/>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Last 15 min  ▾</a:t>
            </a:r>
            <a:endParaRPr lang="en-US" sz="900" dirty="0"/>
          </a:p>
        </p:txBody>
      </p:sp>
      <p:sp>
        <p:nvSpPr>
          <p:cNvPr id="34" name="Shape 32"/>
          <p:cNvSpPr/>
          <p:nvPr/>
        </p:nvSpPr>
        <p:spPr>
          <a:xfrm>
            <a:off x="7360920" y="1764792"/>
            <a:ext cx="960120" cy="274320"/>
          </a:xfrm>
          <a:prstGeom prst="roundRect">
            <a:avLst>
              <a:gd name="adj" fmla="val 26667"/>
            </a:avLst>
          </a:prstGeom>
          <a:solidFill>
            <a:srgbClr val="0E9AA7"/>
          </a:solidFill>
          <a:ln w="12700">
            <a:solidFill>
              <a:srgbClr val="0E9AA7"/>
            </a:solidFill>
            <a:prstDash val="solid"/>
          </a:ln>
        </p:spPr>
      </p:sp>
      <p:sp>
        <p:nvSpPr>
          <p:cNvPr id="35" name="Text 33"/>
          <p:cNvSpPr/>
          <p:nvPr/>
        </p:nvSpPr>
        <p:spPr>
          <a:xfrm>
            <a:off x="7360920" y="1764792"/>
            <a:ext cx="9601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LIVE</a:t>
            </a:r>
            <a:endParaRPr lang="en-US" sz="950" dirty="0"/>
          </a:p>
        </p:txBody>
      </p:sp>
      <p:sp>
        <p:nvSpPr>
          <p:cNvPr id="36" name="Shape 34"/>
          <p:cNvSpPr/>
          <p:nvPr/>
        </p:nvSpPr>
        <p:spPr>
          <a:xfrm>
            <a:off x="2057400" y="2212848"/>
            <a:ext cx="1495044" cy="749808"/>
          </a:xfrm>
          <a:prstGeom prst="rect">
            <a:avLst/>
          </a:prstGeom>
          <a:solidFill>
            <a:srgbClr val="F7F8FA"/>
          </a:solidFill>
          <a:ln w="9525">
            <a:solidFill>
              <a:srgbClr val="B0B7C0"/>
            </a:solidFill>
            <a:prstDash val="solid"/>
          </a:ln>
        </p:spPr>
      </p:sp>
      <p:sp>
        <p:nvSpPr>
          <p:cNvPr id="37" name="Text 35"/>
          <p:cNvSpPr/>
          <p:nvPr/>
        </p:nvSpPr>
        <p:spPr>
          <a:xfrm>
            <a:off x="2148840" y="2258568"/>
            <a:ext cx="1312164"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Transactions</a:t>
            </a:r>
            <a:endParaRPr lang="en-US" sz="900" dirty="0"/>
          </a:p>
        </p:txBody>
      </p:sp>
      <p:sp>
        <p:nvSpPr>
          <p:cNvPr id="38" name="Text 36"/>
          <p:cNvSpPr/>
          <p:nvPr/>
        </p:nvSpPr>
        <p:spPr>
          <a:xfrm>
            <a:off x="2148840" y="2487168"/>
            <a:ext cx="1312164" cy="411480"/>
          </a:xfrm>
          <a:prstGeom prst="rect">
            <a:avLst/>
          </a:prstGeom>
          <a:noFill/>
          <a:ln/>
        </p:spPr>
        <p:txBody>
          <a:bodyPr wrap="square" lIns="0" tIns="0" rIns="0" bIns="0" rtlCol="0" anchor="ctr"/>
          <a:lstStyle/>
          <a:p>
            <a:pPr marL="0" indent="0" algn="l">
              <a:buNone/>
            </a:pPr>
            <a:r>
              <a:rPr lang="en-US" sz="2000" b="1" dirty="0">
                <a:solidFill>
                  <a:srgbClr val="14213D"/>
                </a:solidFill>
                <a:latin typeface="Calibri" pitchFamily="34" charset="0"/>
                <a:ea typeface="Calibri" pitchFamily="34" charset="-122"/>
                <a:cs typeface="Calibri" pitchFamily="34" charset="-120"/>
              </a:rPr>
              <a:t>1,248</a:t>
            </a:r>
            <a:endParaRPr lang="en-US" sz="2000" dirty="0"/>
          </a:p>
        </p:txBody>
      </p:sp>
      <p:sp>
        <p:nvSpPr>
          <p:cNvPr id="39" name="Shape 37"/>
          <p:cNvSpPr/>
          <p:nvPr/>
        </p:nvSpPr>
        <p:spPr>
          <a:xfrm>
            <a:off x="3662172" y="2212848"/>
            <a:ext cx="1495044" cy="749808"/>
          </a:xfrm>
          <a:prstGeom prst="rect">
            <a:avLst/>
          </a:prstGeom>
          <a:solidFill>
            <a:srgbClr val="FDF0D5"/>
          </a:solidFill>
          <a:ln w="9525">
            <a:solidFill>
              <a:srgbClr val="F29F05"/>
            </a:solidFill>
            <a:prstDash val="solid"/>
          </a:ln>
        </p:spPr>
      </p:sp>
      <p:sp>
        <p:nvSpPr>
          <p:cNvPr id="40" name="Text 38"/>
          <p:cNvSpPr/>
          <p:nvPr/>
        </p:nvSpPr>
        <p:spPr>
          <a:xfrm>
            <a:off x="3753612" y="2258568"/>
            <a:ext cx="1312164"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Alerts raised</a:t>
            </a:r>
            <a:endParaRPr lang="en-US" sz="900" dirty="0"/>
          </a:p>
        </p:txBody>
      </p:sp>
      <p:sp>
        <p:nvSpPr>
          <p:cNvPr id="41" name="Text 39"/>
          <p:cNvSpPr/>
          <p:nvPr/>
        </p:nvSpPr>
        <p:spPr>
          <a:xfrm>
            <a:off x="3753612" y="2487168"/>
            <a:ext cx="1312164" cy="411480"/>
          </a:xfrm>
          <a:prstGeom prst="rect">
            <a:avLst/>
          </a:prstGeom>
          <a:noFill/>
          <a:ln/>
        </p:spPr>
        <p:txBody>
          <a:bodyPr wrap="square" lIns="0" tIns="0" rIns="0" bIns="0" rtlCol="0" anchor="ctr"/>
          <a:lstStyle/>
          <a:p>
            <a:pPr marL="0" indent="0" algn="l">
              <a:buNone/>
            </a:pPr>
            <a:r>
              <a:rPr lang="en-US" sz="2000" b="1" dirty="0">
                <a:solidFill>
                  <a:srgbClr val="14213D"/>
                </a:solidFill>
                <a:latin typeface="Calibri" pitchFamily="34" charset="0"/>
                <a:ea typeface="Calibri" pitchFamily="34" charset="-122"/>
                <a:cs typeface="Calibri" pitchFamily="34" charset="-120"/>
              </a:rPr>
              <a:t>37</a:t>
            </a:r>
            <a:endParaRPr lang="en-US" sz="2000" dirty="0"/>
          </a:p>
        </p:txBody>
      </p:sp>
      <p:sp>
        <p:nvSpPr>
          <p:cNvPr id="42" name="Shape 40"/>
          <p:cNvSpPr/>
          <p:nvPr/>
        </p:nvSpPr>
        <p:spPr>
          <a:xfrm>
            <a:off x="5266944" y="2212848"/>
            <a:ext cx="1495044" cy="749808"/>
          </a:xfrm>
          <a:prstGeom prst="rect">
            <a:avLst/>
          </a:prstGeom>
          <a:solidFill>
            <a:srgbClr val="F7F8FA"/>
          </a:solidFill>
          <a:ln w="9525">
            <a:solidFill>
              <a:srgbClr val="B0B7C0"/>
            </a:solidFill>
            <a:prstDash val="solid"/>
          </a:ln>
        </p:spPr>
      </p:sp>
      <p:sp>
        <p:nvSpPr>
          <p:cNvPr id="43" name="Text 41"/>
          <p:cNvSpPr/>
          <p:nvPr/>
        </p:nvSpPr>
        <p:spPr>
          <a:xfrm>
            <a:off x="5358384" y="2258568"/>
            <a:ext cx="1312164"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Events / sec</a:t>
            </a:r>
            <a:endParaRPr lang="en-US" sz="900" dirty="0"/>
          </a:p>
        </p:txBody>
      </p:sp>
      <p:sp>
        <p:nvSpPr>
          <p:cNvPr id="44" name="Text 42"/>
          <p:cNvSpPr/>
          <p:nvPr/>
        </p:nvSpPr>
        <p:spPr>
          <a:xfrm>
            <a:off x="5358384" y="2487168"/>
            <a:ext cx="1312164" cy="411480"/>
          </a:xfrm>
          <a:prstGeom prst="rect">
            <a:avLst/>
          </a:prstGeom>
          <a:noFill/>
          <a:ln/>
        </p:spPr>
        <p:txBody>
          <a:bodyPr wrap="square" lIns="0" tIns="0" rIns="0" bIns="0" rtlCol="0" anchor="ctr"/>
          <a:lstStyle/>
          <a:p>
            <a:pPr marL="0" indent="0" algn="l">
              <a:buNone/>
            </a:pPr>
            <a:r>
              <a:rPr lang="en-US" sz="2000" b="1" dirty="0">
                <a:solidFill>
                  <a:srgbClr val="14213D"/>
                </a:solidFill>
                <a:latin typeface="Calibri" pitchFamily="34" charset="0"/>
                <a:ea typeface="Calibri" pitchFamily="34" charset="-122"/>
                <a:cs typeface="Calibri" pitchFamily="34" charset="-120"/>
              </a:rPr>
              <a:t>12</a:t>
            </a:r>
            <a:endParaRPr lang="en-US" sz="2000" dirty="0"/>
          </a:p>
        </p:txBody>
      </p:sp>
      <p:sp>
        <p:nvSpPr>
          <p:cNvPr id="45" name="Shape 43"/>
          <p:cNvSpPr/>
          <p:nvPr/>
        </p:nvSpPr>
        <p:spPr>
          <a:xfrm>
            <a:off x="6871716" y="2212848"/>
            <a:ext cx="1495044" cy="749808"/>
          </a:xfrm>
          <a:prstGeom prst="rect">
            <a:avLst/>
          </a:prstGeom>
          <a:solidFill>
            <a:srgbClr val="F7F8FA"/>
          </a:solidFill>
          <a:ln w="9525">
            <a:solidFill>
              <a:srgbClr val="B0B7C0"/>
            </a:solidFill>
            <a:prstDash val="solid"/>
          </a:ln>
        </p:spPr>
      </p:sp>
      <p:sp>
        <p:nvSpPr>
          <p:cNvPr id="46" name="Text 44"/>
          <p:cNvSpPr/>
          <p:nvPr/>
        </p:nvSpPr>
        <p:spPr>
          <a:xfrm>
            <a:off x="6963156" y="2258568"/>
            <a:ext cx="1312164"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Avg latency</a:t>
            </a:r>
            <a:endParaRPr lang="en-US" sz="900" dirty="0"/>
          </a:p>
        </p:txBody>
      </p:sp>
      <p:sp>
        <p:nvSpPr>
          <p:cNvPr id="47" name="Text 45"/>
          <p:cNvSpPr/>
          <p:nvPr/>
        </p:nvSpPr>
        <p:spPr>
          <a:xfrm>
            <a:off x="6963156" y="2487168"/>
            <a:ext cx="1312164" cy="411480"/>
          </a:xfrm>
          <a:prstGeom prst="rect">
            <a:avLst/>
          </a:prstGeom>
          <a:noFill/>
          <a:ln/>
        </p:spPr>
        <p:txBody>
          <a:bodyPr wrap="square" lIns="0" tIns="0" rIns="0" bIns="0" rtlCol="0" anchor="ctr"/>
          <a:lstStyle/>
          <a:p>
            <a:pPr marL="0" indent="0" algn="l">
              <a:buNone/>
            </a:pPr>
            <a:r>
              <a:rPr lang="en-US" sz="2000" b="1" dirty="0">
                <a:solidFill>
                  <a:srgbClr val="14213D"/>
                </a:solidFill>
                <a:latin typeface="Calibri" pitchFamily="34" charset="0"/>
                <a:ea typeface="Calibri" pitchFamily="34" charset="-122"/>
                <a:cs typeface="Calibri" pitchFamily="34" charset="-120"/>
              </a:rPr>
              <a:t>0.9 s</a:t>
            </a:r>
            <a:endParaRPr lang="en-US" sz="2000" dirty="0"/>
          </a:p>
        </p:txBody>
      </p:sp>
      <p:sp>
        <p:nvSpPr>
          <p:cNvPr id="48" name="Shape 46"/>
          <p:cNvSpPr/>
          <p:nvPr/>
        </p:nvSpPr>
        <p:spPr>
          <a:xfrm>
            <a:off x="2057400" y="3072384"/>
            <a:ext cx="3931920" cy="1325880"/>
          </a:xfrm>
          <a:prstGeom prst="rect">
            <a:avLst/>
          </a:prstGeom>
          <a:solidFill>
            <a:srgbClr val="FFFFFF"/>
          </a:solidFill>
          <a:ln w="9525">
            <a:solidFill>
              <a:srgbClr val="B0B7C0"/>
            </a:solidFill>
            <a:prstDash val="solid"/>
          </a:ln>
        </p:spPr>
      </p:sp>
      <p:sp>
        <p:nvSpPr>
          <p:cNvPr id="49" name="Text 47"/>
          <p:cNvSpPr/>
          <p:nvPr/>
        </p:nvSpPr>
        <p:spPr>
          <a:xfrm>
            <a:off x="2148840" y="3108960"/>
            <a:ext cx="3749040"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Throughput (events / sec)</a:t>
            </a:r>
            <a:endParaRPr lang="en-US" sz="950" dirty="0"/>
          </a:p>
        </p:txBody>
      </p:sp>
      <p:sp>
        <p:nvSpPr>
          <p:cNvPr id="50" name="Shape 48"/>
          <p:cNvSpPr/>
          <p:nvPr/>
        </p:nvSpPr>
        <p:spPr>
          <a:xfrm>
            <a:off x="2240280" y="4041648"/>
            <a:ext cx="137160" cy="274320"/>
          </a:xfrm>
          <a:prstGeom prst="rect">
            <a:avLst/>
          </a:prstGeom>
          <a:solidFill>
            <a:srgbClr val="C3CBD3"/>
          </a:solidFill>
          <a:ln w="12700">
            <a:solidFill>
              <a:srgbClr val="C3CBD3"/>
            </a:solidFill>
            <a:prstDash val="solid"/>
          </a:ln>
        </p:spPr>
      </p:sp>
      <p:sp>
        <p:nvSpPr>
          <p:cNvPr id="51" name="Shape 49"/>
          <p:cNvSpPr/>
          <p:nvPr/>
        </p:nvSpPr>
        <p:spPr>
          <a:xfrm>
            <a:off x="2441448" y="3813048"/>
            <a:ext cx="137160" cy="502920"/>
          </a:xfrm>
          <a:prstGeom prst="rect">
            <a:avLst/>
          </a:prstGeom>
          <a:solidFill>
            <a:srgbClr val="C3CBD3"/>
          </a:solidFill>
          <a:ln w="12700">
            <a:solidFill>
              <a:srgbClr val="C3CBD3"/>
            </a:solidFill>
            <a:prstDash val="solid"/>
          </a:ln>
        </p:spPr>
      </p:sp>
      <p:sp>
        <p:nvSpPr>
          <p:cNvPr id="52" name="Shape 50"/>
          <p:cNvSpPr/>
          <p:nvPr/>
        </p:nvSpPr>
        <p:spPr>
          <a:xfrm>
            <a:off x="2642616" y="3950208"/>
            <a:ext cx="137160" cy="365760"/>
          </a:xfrm>
          <a:prstGeom prst="rect">
            <a:avLst/>
          </a:prstGeom>
          <a:solidFill>
            <a:srgbClr val="C3CBD3"/>
          </a:solidFill>
          <a:ln w="12700">
            <a:solidFill>
              <a:srgbClr val="C3CBD3"/>
            </a:solidFill>
            <a:prstDash val="solid"/>
          </a:ln>
        </p:spPr>
      </p:sp>
      <p:sp>
        <p:nvSpPr>
          <p:cNvPr id="53" name="Shape 51"/>
          <p:cNvSpPr/>
          <p:nvPr/>
        </p:nvSpPr>
        <p:spPr>
          <a:xfrm>
            <a:off x="2843784" y="3675888"/>
            <a:ext cx="137160" cy="640080"/>
          </a:xfrm>
          <a:prstGeom prst="rect">
            <a:avLst/>
          </a:prstGeom>
          <a:solidFill>
            <a:srgbClr val="C3CBD3"/>
          </a:solidFill>
          <a:ln w="12700">
            <a:solidFill>
              <a:srgbClr val="C3CBD3"/>
            </a:solidFill>
            <a:prstDash val="solid"/>
          </a:ln>
        </p:spPr>
      </p:sp>
      <p:sp>
        <p:nvSpPr>
          <p:cNvPr id="54" name="Shape 52"/>
          <p:cNvSpPr/>
          <p:nvPr/>
        </p:nvSpPr>
        <p:spPr>
          <a:xfrm>
            <a:off x="3044952" y="3858768"/>
            <a:ext cx="137160" cy="457200"/>
          </a:xfrm>
          <a:prstGeom prst="rect">
            <a:avLst/>
          </a:prstGeom>
          <a:solidFill>
            <a:srgbClr val="C3CBD3"/>
          </a:solidFill>
          <a:ln w="12700">
            <a:solidFill>
              <a:srgbClr val="C3CBD3"/>
            </a:solidFill>
            <a:prstDash val="solid"/>
          </a:ln>
        </p:spPr>
      </p:sp>
      <p:sp>
        <p:nvSpPr>
          <p:cNvPr id="55" name="Shape 53"/>
          <p:cNvSpPr/>
          <p:nvPr/>
        </p:nvSpPr>
        <p:spPr>
          <a:xfrm>
            <a:off x="3246120" y="3538728"/>
            <a:ext cx="137160" cy="777240"/>
          </a:xfrm>
          <a:prstGeom prst="rect">
            <a:avLst/>
          </a:prstGeom>
          <a:solidFill>
            <a:srgbClr val="C3CBD3"/>
          </a:solidFill>
          <a:ln w="12700">
            <a:solidFill>
              <a:srgbClr val="C3CBD3"/>
            </a:solidFill>
            <a:prstDash val="solid"/>
          </a:ln>
        </p:spPr>
      </p:sp>
      <p:sp>
        <p:nvSpPr>
          <p:cNvPr id="56" name="Shape 54"/>
          <p:cNvSpPr/>
          <p:nvPr/>
        </p:nvSpPr>
        <p:spPr>
          <a:xfrm>
            <a:off x="3447288" y="3767328"/>
            <a:ext cx="137160" cy="548640"/>
          </a:xfrm>
          <a:prstGeom prst="rect">
            <a:avLst/>
          </a:prstGeom>
          <a:solidFill>
            <a:srgbClr val="C3CBD3"/>
          </a:solidFill>
          <a:ln w="12700">
            <a:solidFill>
              <a:srgbClr val="C3CBD3"/>
            </a:solidFill>
            <a:prstDash val="solid"/>
          </a:ln>
        </p:spPr>
      </p:sp>
      <p:sp>
        <p:nvSpPr>
          <p:cNvPr id="57" name="Shape 55"/>
          <p:cNvSpPr/>
          <p:nvPr/>
        </p:nvSpPr>
        <p:spPr>
          <a:xfrm>
            <a:off x="3648456" y="3630168"/>
            <a:ext cx="137160" cy="685800"/>
          </a:xfrm>
          <a:prstGeom prst="rect">
            <a:avLst/>
          </a:prstGeom>
          <a:solidFill>
            <a:srgbClr val="C3CBD3"/>
          </a:solidFill>
          <a:ln w="12700">
            <a:solidFill>
              <a:srgbClr val="C3CBD3"/>
            </a:solidFill>
            <a:prstDash val="solid"/>
          </a:ln>
        </p:spPr>
      </p:sp>
      <p:sp>
        <p:nvSpPr>
          <p:cNvPr id="58" name="Shape 56"/>
          <p:cNvSpPr/>
          <p:nvPr/>
        </p:nvSpPr>
        <p:spPr>
          <a:xfrm>
            <a:off x="3849624" y="3904488"/>
            <a:ext cx="137160" cy="411480"/>
          </a:xfrm>
          <a:prstGeom prst="rect">
            <a:avLst/>
          </a:prstGeom>
          <a:solidFill>
            <a:srgbClr val="C3CBD3"/>
          </a:solidFill>
          <a:ln w="12700">
            <a:solidFill>
              <a:srgbClr val="C3CBD3"/>
            </a:solidFill>
            <a:prstDash val="solid"/>
          </a:ln>
        </p:spPr>
      </p:sp>
      <p:sp>
        <p:nvSpPr>
          <p:cNvPr id="59" name="Shape 57"/>
          <p:cNvSpPr/>
          <p:nvPr/>
        </p:nvSpPr>
        <p:spPr>
          <a:xfrm>
            <a:off x="4050792" y="3721608"/>
            <a:ext cx="137160" cy="594360"/>
          </a:xfrm>
          <a:prstGeom prst="rect">
            <a:avLst/>
          </a:prstGeom>
          <a:solidFill>
            <a:srgbClr val="C3CBD3"/>
          </a:solidFill>
          <a:ln w="12700">
            <a:solidFill>
              <a:srgbClr val="C3CBD3"/>
            </a:solidFill>
            <a:prstDash val="solid"/>
          </a:ln>
        </p:spPr>
      </p:sp>
      <p:sp>
        <p:nvSpPr>
          <p:cNvPr id="60" name="Shape 58"/>
          <p:cNvSpPr/>
          <p:nvPr/>
        </p:nvSpPr>
        <p:spPr>
          <a:xfrm>
            <a:off x="4251960" y="3493008"/>
            <a:ext cx="137160" cy="822960"/>
          </a:xfrm>
          <a:prstGeom prst="rect">
            <a:avLst/>
          </a:prstGeom>
          <a:solidFill>
            <a:srgbClr val="C3CBD3"/>
          </a:solidFill>
          <a:ln w="12700">
            <a:solidFill>
              <a:srgbClr val="C3CBD3"/>
            </a:solidFill>
            <a:prstDash val="solid"/>
          </a:ln>
        </p:spPr>
      </p:sp>
      <p:sp>
        <p:nvSpPr>
          <p:cNvPr id="61" name="Shape 59"/>
          <p:cNvSpPr/>
          <p:nvPr/>
        </p:nvSpPr>
        <p:spPr>
          <a:xfrm>
            <a:off x="4453128" y="3675888"/>
            <a:ext cx="137160" cy="640080"/>
          </a:xfrm>
          <a:prstGeom prst="rect">
            <a:avLst/>
          </a:prstGeom>
          <a:solidFill>
            <a:srgbClr val="C3CBD3"/>
          </a:solidFill>
          <a:ln w="12700">
            <a:solidFill>
              <a:srgbClr val="C3CBD3"/>
            </a:solidFill>
            <a:prstDash val="solid"/>
          </a:ln>
        </p:spPr>
      </p:sp>
      <p:sp>
        <p:nvSpPr>
          <p:cNvPr id="62" name="Shape 60"/>
          <p:cNvSpPr/>
          <p:nvPr/>
        </p:nvSpPr>
        <p:spPr>
          <a:xfrm>
            <a:off x="4654296" y="3858768"/>
            <a:ext cx="137160" cy="457200"/>
          </a:xfrm>
          <a:prstGeom prst="rect">
            <a:avLst/>
          </a:prstGeom>
          <a:solidFill>
            <a:srgbClr val="C3CBD3"/>
          </a:solidFill>
          <a:ln w="12700">
            <a:solidFill>
              <a:srgbClr val="C3CBD3"/>
            </a:solidFill>
            <a:prstDash val="solid"/>
          </a:ln>
        </p:spPr>
      </p:sp>
      <p:sp>
        <p:nvSpPr>
          <p:cNvPr id="63" name="Shape 61"/>
          <p:cNvSpPr/>
          <p:nvPr/>
        </p:nvSpPr>
        <p:spPr>
          <a:xfrm>
            <a:off x="4855464" y="3584448"/>
            <a:ext cx="137160" cy="731520"/>
          </a:xfrm>
          <a:prstGeom prst="rect">
            <a:avLst/>
          </a:prstGeom>
          <a:solidFill>
            <a:srgbClr val="C3CBD3"/>
          </a:solidFill>
          <a:ln w="12700">
            <a:solidFill>
              <a:srgbClr val="C3CBD3"/>
            </a:solidFill>
            <a:prstDash val="solid"/>
          </a:ln>
        </p:spPr>
      </p:sp>
      <p:sp>
        <p:nvSpPr>
          <p:cNvPr id="64" name="Shape 62"/>
          <p:cNvSpPr/>
          <p:nvPr/>
        </p:nvSpPr>
        <p:spPr>
          <a:xfrm>
            <a:off x="5056632" y="3767328"/>
            <a:ext cx="137160" cy="548640"/>
          </a:xfrm>
          <a:prstGeom prst="rect">
            <a:avLst/>
          </a:prstGeom>
          <a:solidFill>
            <a:srgbClr val="C3CBD3"/>
          </a:solidFill>
          <a:ln w="12700">
            <a:solidFill>
              <a:srgbClr val="C3CBD3"/>
            </a:solidFill>
            <a:prstDash val="solid"/>
          </a:ln>
        </p:spPr>
      </p:sp>
      <p:sp>
        <p:nvSpPr>
          <p:cNvPr id="65" name="Shape 63"/>
          <p:cNvSpPr/>
          <p:nvPr/>
        </p:nvSpPr>
        <p:spPr>
          <a:xfrm>
            <a:off x="5257800" y="3447288"/>
            <a:ext cx="137160" cy="868680"/>
          </a:xfrm>
          <a:prstGeom prst="rect">
            <a:avLst/>
          </a:prstGeom>
          <a:solidFill>
            <a:srgbClr val="C3CBD3"/>
          </a:solidFill>
          <a:ln w="12700">
            <a:solidFill>
              <a:srgbClr val="C3CBD3"/>
            </a:solidFill>
            <a:prstDash val="solid"/>
          </a:ln>
        </p:spPr>
      </p:sp>
      <p:sp>
        <p:nvSpPr>
          <p:cNvPr id="66" name="Shape 64"/>
          <p:cNvSpPr/>
          <p:nvPr/>
        </p:nvSpPr>
        <p:spPr>
          <a:xfrm>
            <a:off x="5458968" y="3675888"/>
            <a:ext cx="137160" cy="640080"/>
          </a:xfrm>
          <a:prstGeom prst="rect">
            <a:avLst/>
          </a:prstGeom>
          <a:solidFill>
            <a:srgbClr val="C3CBD3"/>
          </a:solidFill>
          <a:ln w="12700">
            <a:solidFill>
              <a:srgbClr val="C3CBD3"/>
            </a:solidFill>
            <a:prstDash val="solid"/>
          </a:ln>
        </p:spPr>
      </p:sp>
      <p:sp>
        <p:nvSpPr>
          <p:cNvPr id="67" name="Shape 65"/>
          <p:cNvSpPr/>
          <p:nvPr/>
        </p:nvSpPr>
        <p:spPr>
          <a:xfrm>
            <a:off x="5660136" y="3813048"/>
            <a:ext cx="137160" cy="502920"/>
          </a:xfrm>
          <a:prstGeom prst="rect">
            <a:avLst/>
          </a:prstGeom>
          <a:solidFill>
            <a:srgbClr val="C3CBD3"/>
          </a:solidFill>
          <a:ln w="12700">
            <a:solidFill>
              <a:srgbClr val="C3CBD3"/>
            </a:solidFill>
            <a:prstDash val="solid"/>
          </a:ln>
        </p:spPr>
      </p:sp>
      <p:sp>
        <p:nvSpPr>
          <p:cNvPr id="68" name="Shape 66"/>
          <p:cNvSpPr/>
          <p:nvPr/>
        </p:nvSpPr>
        <p:spPr>
          <a:xfrm>
            <a:off x="2194560" y="4315968"/>
            <a:ext cx="3657600" cy="0"/>
          </a:xfrm>
          <a:prstGeom prst="line">
            <a:avLst/>
          </a:prstGeom>
          <a:noFill/>
          <a:ln w="9525">
            <a:solidFill>
              <a:srgbClr val="B0B7C0"/>
            </a:solidFill>
            <a:prstDash val="solid"/>
          </a:ln>
        </p:spPr>
      </p:sp>
      <p:sp>
        <p:nvSpPr>
          <p:cNvPr id="69" name="Shape 67"/>
          <p:cNvSpPr/>
          <p:nvPr/>
        </p:nvSpPr>
        <p:spPr>
          <a:xfrm>
            <a:off x="6099048" y="3072384"/>
            <a:ext cx="2267712" cy="1325880"/>
          </a:xfrm>
          <a:prstGeom prst="rect">
            <a:avLst/>
          </a:prstGeom>
          <a:solidFill>
            <a:srgbClr val="FFFFFF"/>
          </a:solidFill>
          <a:ln w="9525">
            <a:solidFill>
              <a:srgbClr val="B0B7C0"/>
            </a:solidFill>
            <a:prstDash val="solid"/>
          </a:ln>
        </p:spPr>
      </p:sp>
      <p:sp>
        <p:nvSpPr>
          <p:cNvPr id="70" name="Text 68"/>
          <p:cNvSpPr/>
          <p:nvPr/>
        </p:nvSpPr>
        <p:spPr>
          <a:xfrm>
            <a:off x="6190488" y="3108960"/>
            <a:ext cx="2084832"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Alerts by rule</a:t>
            </a:r>
            <a:endParaRPr lang="en-US" sz="950" dirty="0"/>
          </a:p>
        </p:txBody>
      </p:sp>
      <p:sp>
        <p:nvSpPr>
          <p:cNvPr id="71" name="Text 69"/>
          <p:cNvSpPr/>
          <p:nvPr/>
        </p:nvSpPr>
        <p:spPr>
          <a:xfrm>
            <a:off x="6190488" y="3401568"/>
            <a:ext cx="868680" cy="219456"/>
          </a:xfrm>
          <a:prstGeom prst="rect">
            <a:avLst/>
          </a:prstGeom>
          <a:noFill/>
          <a:ln/>
        </p:spPr>
        <p:txBody>
          <a:bodyPr wrap="square" lIns="0" tIns="0" rIns="0" bIns="0" rtlCol="0" anchor="ctr"/>
          <a:lstStyle/>
          <a:p>
            <a:pPr marL="0" indent="0" algn="l">
              <a:buNone/>
            </a:pPr>
            <a:r>
              <a:rPr lang="en-US" sz="850" dirty="0">
                <a:solidFill>
                  <a:srgbClr val="5B6675"/>
                </a:solidFill>
                <a:latin typeface="Calibri" pitchFamily="34" charset="0"/>
                <a:ea typeface="Calibri" pitchFamily="34" charset="-122"/>
                <a:cs typeface="Calibri" pitchFamily="34" charset="-120"/>
              </a:rPr>
              <a:t>High value</a:t>
            </a:r>
            <a:endParaRPr lang="en-US" sz="850" dirty="0"/>
          </a:p>
        </p:txBody>
      </p:sp>
      <p:sp>
        <p:nvSpPr>
          <p:cNvPr id="72" name="Shape 70"/>
          <p:cNvSpPr/>
          <p:nvPr/>
        </p:nvSpPr>
        <p:spPr>
          <a:xfrm>
            <a:off x="7086600" y="3438144"/>
            <a:ext cx="699516" cy="146304"/>
          </a:xfrm>
          <a:prstGeom prst="rect">
            <a:avLst/>
          </a:prstGeom>
          <a:solidFill>
            <a:srgbClr val="F29F05"/>
          </a:solidFill>
          <a:ln w="12700">
            <a:solidFill>
              <a:srgbClr val="F29F05"/>
            </a:solidFill>
            <a:prstDash val="solid"/>
          </a:ln>
        </p:spPr>
      </p:sp>
      <p:sp>
        <p:nvSpPr>
          <p:cNvPr id="73" name="Text 71"/>
          <p:cNvSpPr/>
          <p:nvPr/>
        </p:nvSpPr>
        <p:spPr>
          <a:xfrm>
            <a:off x="6190488" y="3721608"/>
            <a:ext cx="868680" cy="219456"/>
          </a:xfrm>
          <a:prstGeom prst="rect">
            <a:avLst/>
          </a:prstGeom>
          <a:noFill/>
          <a:ln/>
        </p:spPr>
        <p:txBody>
          <a:bodyPr wrap="square" lIns="0" tIns="0" rIns="0" bIns="0" rtlCol="0" anchor="ctr"/>
          <a:lstStyle/>
          <a:p>
            <a:pPr marL="0" indent="0" algn="l">
              <a:buNone/>
            </a:pPr>
            <a:r>
              <a:rPr lang="en-US" sz="850" dirty="0">
                <a:solidFill>
                  <a:srgbClr val="5B6675"/>
                </a:solidFill>
                <a:latin typeface="Calibri" pitchFamily="34" charset="0"/>
                <a:ea typeface="Calibri" pitchFamily="34" charset="-122"/>
                <a:cs typeface="Calibri" pitchFamily="34" charset="-120"/>
              </a:rPr>
              <a:t>Window total</a:t>
            </a:r>
            <a:endParaRPr lang="en-US" sz="850" dirty="0"/>
          </a:p>
        </p:txBody>
      </p:sp>
      <p:sp>
        <p:nvSpPr>
          <p:cNvPr id="74" name="Shape 72"/>
          <p:cNvSpPr/>
          <p:nvPr/>
        </p:nvSpPr>
        <p:spPr>
          <a:xfrm>
            <a:off x="7086600" y="3758184"/>
            <a:ext cx="466344" cy="146304"/>
          </a:xfrm>
          <a:prstGeom prst="rect">
            <a:avLst/>
          </a:prstGeom>
          <a:solidFill>
            <a:srgbClr val="C3CBD3"/>
          </a:solidFill>
          <a:ln w="12700">
            <a:solidFill>
              <a:srgbClr val="C3CBD3"/>
            </a:solidFill>
            <a:prstDash val="solid"/>
          </a:ln>
        </p:spPr>
      </p:sp>
      <p:sp>
        <p:nvSpPr>
          <p:cNvPr id="75" name="Text 73"/>
          <p:cNvSpPr/>
          <p:nvPr/>
        </p:nvSpPr>
        <p:spPr>
          <a:xfrm>
            <a:off x="6190488" y="4041648"/>
            <a:ext cx="868680" cy="219456"/>
          </a:xfrm>
          <a:prstGeom prst="rect">
            <a:avLst/>
          </a:prstGeom>
          <a:noFill/>
          <a:ln/>
        </p:spPr>
        <p:txBody>
          <a:bodyPr wrap="square" lIns="0" tIns="0" rIns="0" bIns="0" rtlCol="0" anchor="ctr"/>
          <a:lstStyle/>
          <a:p>
            <a:pPr marL="0" indent="0" algn="l">
              <a:buNone/>
            </a:pPr>
            <a:r>
              <a:rPr lang="en-US" sz="850" dirty="0">
                <a:solidFill>
                  <a:srgbClr val="5B6675"/>
                </a:solidFill>
                <a:latin typeface="Calibri" pitchFamily="34" charset="0"/>
                <a:ea typeface="Calibri" pitchFamily="34" charset="-122"/>
                <a:cs typeface="Calibri" pitchFamily="34" charset="-120"/>
              </a:rPr>
              <a:t>Foreign benef.</a:t>
            </a:r>
            <a:endParaRPr lang="en-US" sz="850" dirty="0"/>
          </a:p>
        </p:txBody>
      </p:sp>
      <p:sp>
        <p:nvSpPr>
          <p:cNvPr id="76" name="Shape 74"/>
          <p:cNvSpPr/>
          <p:nvPr/>
        </p:nvSpPr>
        <p:spPr>
          <a:xfrm>
            <a:off x="7086600" y="4078224"/>
            <a:ext cx="233172" cy="146304"/>
          </a:xfrm>
          <a:prstGeom prst="rect">
            <a:avLst/>
          </a:prstGeom>
          <a:solidFill>
            <a:srgbClr val="C3CBD3"/>
          </a:solidFill>
          <a:ln w="12700">
            <a:solidFill>
              <a:srgbClr val="C3CBD3"/>
            </a:solidFill>
            <a:prstDash val="solid"/>
          </a:ln>
        </p:spPr>
      </p:sp>
      <p:sp>
        <p:nvSpPr>
          <p:cNvPr id="77" name="Shape 75"/>
          <p:cNvSpPr/>
          <p:nvPr/>
        </p:nvSpPr>
        <p:spPr>
          <a:xfrm>
            <a:off x="2057400" y="4507992"/>
            <a:ext cx="3931920" cy="1664208"/>
          </a:xfrm>
          <a:prstGeom prst="rect">
            <a:avLst/>
          </a:prstGeom>
          <a:solidFill>
            <a:srgbClr val="FFFFFF"/>
          </a:solidFill>
          <a:ln w="9525">
            <a:solidFill>
              <a:srgbClr val="B0B7C0"/>
            </a:solidFill>
            <a:prstDash val="solid"/>
          </a:ln>
        </p:spPr>
      </p:sp>
      <p:sp>
        <p:nvSpPr>
          <p:cNvPr id="78" name="Text 76"/>
          <p:cNvSpPr/>
          <p:nvPr/>
        </p:nvSpPr>
        <p:spPr>
          <a:xfrm>
            <a:off x="2148840" y="4544568"/>
            <a:ext cx="3749040"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Live transactions</a:t>
            </a:r>
            <a:endParaRPr lang="en-US" sz="95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2130552" y="4773168"/>
          <a:ext cx="3749040" cy="1371600"/>
        </p:xfrm>
        <a:graphic>
          <a:graphicData uri="http://schemas.openxmlformats.org/drawingml/2006/table">
            <a:tbl>
              <a:tblPr/>
              <a:tblGrid>
                <a:gridCol w="6400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228600">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Time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Customer</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Channel</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lgn="r">
                        <a:buNone/>
                      </a:pPr>
                      <a:r>
                        <a:rPr lang="en-US" sz="900" b="1" dirty="0">
                          <a:solidFill>
                            <a:srgbClr val="2B3440"/>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extLst>
                  <a:ext uri="{0D108BD9-81ED-4DB2-BD59-A6C34878D82A}">
                    <a16:rowId xmlns:a16="http://schemas.microsoft.com/office/drawing/2014/main" val="10000"/>
                  </a:ext>
                </a:extLst>
              </a:tr>
              <a:tr h="22860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12:01:15</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C101</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MOBILE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₹25,000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12:01:14</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C104</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ATM</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₹18,000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2860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12:01:12</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C177</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WEB</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₹3,50,000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b="1" dirty="0">
                          <a:solidFill>
                            <a:srgbClr val="9A5E00"/>
                          </a:solidFill>
                          <a:latin typeface="Calibri" pitchFamily="34" charset="0"/>
                          <a:ea typeface="Calibri" pitchFamily="34" charset="-122"/>
                          <a:cs typeface="Calibri" pitchFamily="34" charset="-120"/>
                        </a:rPr>
                        <a:t>FLAGGED</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extLst>
                  <a:ext uri="{0D108BD9-81ED-4DB2-BD59-A6C34878D82A}">
                    <a16:rowId xmlns:a16="http://schemas.microsoft.com/office/drawing/2014/main" val="10003"/>
                  </a:ext>
                </a:extLst>
              </a:tr>
              <a:tr h="22860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12:01:11</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C133</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MOBILE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₹42,000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22860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12:01:09</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C120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ATM</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₹9,500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0" name="Shape 77"/>
          <p:cNvSpPr/>
          <p:nvPr/>
        </p:nvSpPr>
        <p:spPr>
          <a:xfrm>
            <a:off x="6099048" y="4507992"/>
            <a:ext cx="2267712" cy="1664208"/>
          </a:xfrm>
          <a:prstGeom prst="rect">
            <a:avLst/>
          </a:prstGeom>
          <a:solidFill>
            <a:srgbClr val="FFFFFF"/>
          </a:solidFill>
          <a:ln w="9525">
            <a:solidFill>
              <a:srgbClr val="B0B7C0"/>
            </a:solidFill>
            <a:prstDash val="solid"/>
          </a:ln>
        </p:spPr>
      </p:sp>
      <p:sp>
        <p:nvSpPr>
          <p:cNvPr id="81" name="Text 78"/>
          <p:cNvSpPr/>
          <p:nvPr/>
        </p:nvSpPr>
        <p:spPr>
          <a:xfrm>
            <a:off x="6190488" y="4544568"/>
            <a:ext cx="2084832"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High-risk alerts</a:t>
            </a:r>
            <a:endParaRPr lang="en-US" sz="950" dirty="0"/>
          </a:p>
        </p:txBody>
      </p:sp>
      <p:sp>
        <p:nvSpPr>
          <p:cNvPr id="82" name="Shape 79"/>
          <p:cNvSpPr/>
          <p:nvPr/>
        </p:nvSpPr>
        <p:spPr>
          <a:xfrm>
            <a:off x="6190488" y="4800600"/>
            <a:ext cx="2084832" cy="384048"/>
          </a:xfrm>
          <a:prstGeom prst="rect">
            <a:avLst/>
          </a:prstGeom>
          <a:solidFill>
            <a:srgbClr val="FFFFFF"/>
          </a:solidFill>
          <a:ln w="9525">
            <a:solidFill>
              <a:srgbClr val="D1495B"/>
            </a:solidFill>
            <a:prstDash val="solid"/>
          </a:ln>
        </p:spPr>
      </p:sp>
      <p:sp>
        <p:nvSpPr>
          <p:cNvPr id="83" name="Shape 80"/>
          <p:cNvSpPr/>
          <p:nvPr/>
        </p:nvSpPr>
        <p:spPr>
          <a:xfrm>
            <a:off x="6190488" y="4800600"/>
            <a:ext cx="54864" cy="384048"/>
          </a:xfrm>
          <a:prstGeom prst="rect">
            <a:avLst/>
          </a:prstGeom>
          <a:solidFill>
            <a:srgbClr val="D1495B"/>
          </a:solidFill>
          <a:ln w="12700">
            <a:solidFill>
              <a:srgbClr val="D1495B"/>
            </a:solidFill>
            <a:prstDash val="solid"/>
          </a:ln>
        </p:spPr>
      </p:sp>
      <p:sp>
        <p:nvSpPr>
          <p:cNvPr id="84" name="Text 81"/>
          <p:cNvSpPr/>
          <p:nvPr/>
        </p:nvSpPr>
        <p:spPr>
          <a:xfrm>
            <a:off x="6318504" y="4818888"/>
            <a:ext cx="1920240" cy="182880"/>
          </a:xfrm>
          <a:prstGeom prst="rect">
            <a:avLst/>
          </a:prstGeom>
          <a:noFill/>
          <a:ln/>
        </p:spPr>
        <p:txBody>
          <a:bodyPr wrap="square" lIns="0" tIns="0" rIns="0" bIns="0" rtlCol="0" anchor="ctr"/>
          <a:lstStyle/>
          <a:p>
            <a:pPr marL="0" indent="0" algn="l">
              <a:buNone/>
            </a:pPr>
            <a:r>
              <a:rPr lang="en-US" sz="900" b="1" dirty="0">
                <a:solidFill>
                  <a:srgbClr val="14213D"/>
                </a:solidFill>
                <a:latin typeface="Calibri" pitchFamily="34" charset="0"/>
                <a:ea typeface="Calibri" pitchFamily="34" charset="-122"/>
                <a:cs typeface="Calibri" pitchFamily="34" charset="-120"/>
              </a:rPr>
              <a:t>C177  ₹3,50,000</a:t>
            </a:r>
            <a:endParaRPr lang="en-US" sz="900" dirty="0"/>
          </a:p>
        </p:txBody>
      </p:sp>
      <p:sp>
        <p:nvSpPr>
          <p:cNvPr id="85" name="Text 82"/>
          <p:cNvSpPr/>
          <p:nvPr/>
        </p:nvSpPr>
        <p:spPr>
          <a:xfrm>
            <a:off x="6318504" y="5001768"/>
            <a:ext cx="1920240" cy="164592"/>
          </a:xfrm>
          <a:prstGeom prst="rect">
            <a:avLst/>
          </a:prstGeom>
          <a:noFill/>
          <a:ln/>
        </p:spPr>
        <p:txBody>
          <a:bodyPr wrap="square" lIns="0" tIns="0" rIns="0" bIns="0" rtlCol="0" anchor="ctr"/>
          <a:lstStyle/>
          <a:p>
            <a:pPr marL="0" indent="0" algn="l">
              <a:buNone/>
            </a:pPr>
            <a:r>
              <a:rPr lang="en-US" sz="800" dirty="0">
                <a:solidFill>
                  <a:srgbClr val="D1495B"/>
                </a:solidFill>
                <a:latin typeface="Calibri" pitchFamily="34" charset="0"/>
                <a:ea typeface="Calibri" pitchFamily="34" charset="-122"/>
                <a:cs typeface="Calibri" pitchFamily="34" charset="-120"/>
              </a:rPr>
              <a:t>HIGH_VALUE  |  NEW</a:t>
            </a:r>
            <a:endParaRPr lang="en-US" sz="800" dirty="0"/>
          </a:p>
        </p:txBody>
      </p:sp>
      <p:sp>
        <p:nvSpPr>
          <p:cNvPr id="86" name="Shape 83"/>
          <p:cNvSpPr/>
          <p:nvPr/>
        </p:nvSpPr>
        <p:spPr>
          <a:xfrm>
            <a:off x="6190488" y="5239512"/>
            <a:ext cx="2084832" cy="384048"/>
          </a:xfrm>
          <a:prstGeom prst="rect">
            <a:avLst/>
          </a:prstGeom>
          <a:solidFill>
            <a:srgbClr val="FFFFFF"/>
          </a:solidFill>
          <a:ln w="9525">
            <a:solidFill>
              <a:srgbClr val="D1495B"/>
            </a:solidFill>
            <a:prstDash val="solid"/>
          </a:ln>
        </p:spPr>
      </p:sp>
      <p:sp>
        <p:nvSpPr>
          <p:cNvPr id="87" name="Shape 84"/>
          <p:cNvSpPr/>
          <p:nvPr/>
        </p:nvSpPr>
        <p:spPr>
          <a:xfrm>
            <a:off x="6190488" y="5239512"/>
            <a:ext cx="54864" cy="384048"/>
          </a:xfrm>
          <a:prstGeom prst="rect">
            <a:avLst/>
          </a:prstGeom>
          <a:solidFill>
            <a:srgbClr val="D1495B"/>
          </a:solidFill>
          <a:ln w="12700">
            <a:solidFill>
              <a:srgbClr val="D1495B"/>
            </a:solidFill>
            <a:prstDash val="solid"/>
          </a:ln>
        </p:spPr>
      </p:sp>
      <p:sp>
        <p:nvSpPr>
          <p:cNvPr id="88" name="Text 85"/>
          <p:cNvSpPr/>
          <p:nvPr/>
        </p:nvSpPr>
        <p:spPr>
          <a:xfrm>
            <a:off x="6318504" y="5257800"/>
            <a:ext cx="1920240" cy="182880"/>
          </a:xfrm>
          <a:prstGeom prst="rect">
            <a:avLst/>
          </a:prstGeom>
          <a:noFill/>
          <a:ln/>
        </p:spPr>
        <p:txBody>
          <a:bodyPr wrap="square" lIns="0" tIns="0" rIns="0" bIns="0" rtlCol="0" anchor="ctr"/>
          <a:lstStyle/>
          <a:p>
            <a:pPr marL="0" indent="0" algn="l">
              <a:buNone/>
            </a:pPr>
            <a:r>
              <a:rPr lang="en-US" sz="900" b="1" dirty="0">
                <a:solidFill>
                  <a:srgbClr val="14213D"/>
                </a:solidFill>
                <a:latin typeface="Calibri" pitchFamily="34" charset="0"/>
                <a:ea typeface="Calibri" pitchFamily="34" charset="-122"/>
                <a:cs typeface="Calibri" pitchFamily="34" charset="-120"/>
              </a:rPr>
              <a:t>C201  ₹2,80,000</a:t>
            </a:r>
            <a:endParaRPr lang="en-US" sz="900" dirty="0"/>
          </a:p>
        </p:txBody>
      </p:sp>
      <p:sp>
        <p:nvSpPr>
          <p:cNvPr id="89" name="Text 86"/>
          <p:cNvSpPr/>
          <p:nvPr/>
        </p:nvSpPr>
        <p:spPr>
          <a:xfrm>
            <a:off x="6318504" y="5440680"/>
            <a:ext cx="1920240" cy="164592"/>
          </a:xfrm>
          <a:prstGeom prst="rect">
            <a:avLst/>
          </a:prstGeom>
          <a:noFill/>
          <a:ln/>
        </p:spPr>
        <p:txBody>
          <a:bodyPr wrap="square" lIns="0" tIns="0" rIns="0" bIns="0" rtlCol="0" anchor="ctr"/>
          <a:lstStyle/>
          <a:p>
            <a:pPr marL="0" indent="0" algn="l">
              <a:buNone/>
            </a:pPr>
            <a:r>
              <a:rPr lang="en-US" sz="800" dirty="0">
                <a:solidFill>
                  <a:srgbClr val="D1495B"/>
                </a:solidFill>
                <a:latin typeface="Calibri" pitchFamily="34" charset="0"/>
                <a:ea typeface="Calibri" pitchFamily="34" charset="-122"/>
                <a:cs typeface="Calibri" pitchFamily="34" charset="-120"/>
              </a:rPr>
              <a:t>HIGH_VALUE  |  NEW</a:t>
            </a:r>
            <a:endParaRPr lang="en-US" sz="800" dirty="0"/>
          </a:p>
        </p:txBody>
      </p:sp>
      <p:sp>
        <p:nvSpPr>
          <p:cNvPr id="90" name="Shape 87"/>
          <p:cNvSpPr/>
          <p:nvPr/>
        </p:nvSpPr>
        <p:spPr>
          <a:xfrm>
            <a:off x="6190488" y="5678424"/>
            <a:ext cx="2084832" cy="384048"/>
          </a:xfrm>
          <a:prstGeom prst="rect">
            <a:avLst/>
          </a:prstGeom>
          <a:solidFill>
            <a:srgbClr val="FFFFFF"/>
          </a:solidFill>
          <a:ln w="9525">
            <a:solidFill>
              <a:srgbClr val="D1495B"/>
            </a:solidFill>
            <a:prstDash val="solid"/>
          </a:ln>
        </p:spPr>
      </p:sp>
      <p:sp>
        <p:nvSpPr>
          <p:cNvPr id="91" name="Shape 88"/>
          <p:cNvSpPr/>
          <p:nvPr/>
        </p:nvSpPr>
        <p:spPr>
          <a:xfrm>
            <a:off x="6190488" y="5678424"/>
            <a:ext cx="54864" cy="384048"/>
          </a:xfrm>
          <a:prstGeom prst="rect">
            <a:avLst/>
          </a:prstGeom>
          <a:solidFill>
            <a:srgbClr val="D1495B"/>
          </a:solidFill>
          <a:ln w="12700">
            <a:solidFill>
              <a:srgbClr val="D1495B"/>
            </a:solidFill>
            <a:prstDash val="solid"/>
          </a:ln>
        </p:spPr>
      </p:sp>
      <p:sp>
        <p:nvSpPr>
          <p:cNvPr id="92" name="Text 89"/>
          <p:cNvSpPr/>
          <p:nvPr/>
        </p:nvSpPr>
        <p:spPr>
          <a:xfrm>
            <a:off x="6318504" y="5696712"/>
            <a:ext cx="1920240" cy="182880"/>
          </a:xfrm>
          <a:prstGeom prst="rect">
            <a:avLst/>
          </a:prstGeom>
          <a:noFill/>
          <a:ln/>
        </p:spPr>
        <p:txBody>
          <a:bodyPr wrap="square" lIns="0" tIns="0" rIns="0" bIns="0" rtlCol="0" anchor="ctr"/>
          <a:lstStyle/>
          <a:p>
            <a:pPr marL="0" indent="0" algn="l">
              <a:buNone/>
            </a:pPr>
            <a:r>
              <a:rPr lang="en-US" sz="900" b="1" dirty="0">
                <a:solidFill>
                  <a:srgbClr val="14213D"/>
                </a:solidFill>
                <a:latin typeface="Calibri" pitchFamily="34" charset="0"/>
                <a:ea typeface="Calibri" pitchFamily="34" charset="-122"/>
                <a:cs typeface="Calibri" pitchFamily="34" charset="-120"/>
              </a:rPr>
              <a:t>C066  ₹2,20,000</a:t>
            </a:r>
            <a:endParaRPr lang="en-US" sz="900" dirty="0"/>
          </a:p>
        </p:txBody>
      </p:sp>
      <p:sp>
        <p:nvSpPr>
          <p:cNvPr id="93" name="Text 90"/>
          <p:cNvSpPr/>
          <p:nvPr/>
        </p:nvSpPr>
        <p:spPr>
          <a:xfrm>
            <a:off x="6318504" y="5879592"/>
            <a:ext cx="1920240" cy="164592"/>
          </a:xfrm>
          <a:prstGeom prst="rect">
            <a:avLst/>
          </a:prstGeom>
          <a:noFill/>
          <a:ln/>
        </p:spPr>
        <p:txBody>
          <a:bodyPr wrap="square" lIns="0" tIns="0" rIns="0" bIns="0" rtlCol="0" anchor="ctr"/>
          <a:lstStyle/>
          <a:p>
            <a:pPr marL="0" indent="0" algn="l">
              <a:buNone/>
            </a:pPr>
            <a:r>
              <a:rPr lang="en-US" sz="800" dirty="0">
                <a:solidFill>
                  <a:srgbClr val="D1495B"/>
                </a:solidFill>
                <a:latin typeface="Calibri" pitchFamily="34" charset="0"/>
                <a:ea typeface="Calibri" pitchFamily="34" charset="-122"/>
                <a:cs typeface="Calibri" pitchFamily="34" charset="-120"/>
              </a:rPr>
              <a:t>WINDOW_TOTAL  |  NEW</a:t>
            </a:r>
            <a:endParaRPr lang="en-US" sz="800" dirty="0"/>
          </a:p>
        </p:txBody>
      </p:sp>
      <p:sp>
        <p:nvSpPr>
          <p:cNvPr id="94" name="Shape 91"/>
          <p:cNvSpPr/>
          <p:nvPr/>
        </p:nvSpPr>
        <p:spPr>
          <a:xfrm>
            <a:off x="1883664" y="2139696"/>
            <a:ext cx="246888" cy="246888"/>
          </a:xfrm>
          <a:prstGeom prst="ellipse">
            <a:avLst/>
          </a:prstGeom>
          <a:solidFill>
            <a:srgbClr val="D1495B"/>
          </a:solidFill>
          <a:ln w="15875">
            <a:solidFill>
              <a:srgbClr val="FFFFFF"/>
            </a:solidFill>
            <a:prstDash val="solid"/>
          </a:ln>
        </p:spPr>
      </p:sp>
      <p:sp>
        <p:nvSpPr>
          <p:cNvPr id="95" name="Text 92"/>
          <p:cNvSpPr/>
          <p:nvPr/>
        </p:nvSpPr>
        <p:spPr>
          <a:xfrm>
            <a:off x="1883664" y="213969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6" name="Shape 93"/>
          <p:cNvSpPr/>
          <p:nvPr/>
        </p:nvSpPr>
        <p:spPr>
          <a:xfrm>
            <a:off x="5897880" y="2999232"/>
            <a:ext cx="246888" cy="246888"/>
          </a:xfrm>
          <a:prstGeom prst="ellipse">
            <a:avLst/>
          </a:prstGeom>
          <a:solidFill>
            <a:srgbClr val="D1495B"/>
          </a:solidFill>
          <a:ln w="15875">
            <a:solidFill>
              <a:srgbClr val="FFFFFF"/>
            </a:solidFill>
            <a:prstDash val="solid"/>
          </a:ln>
        </p:spPr>
      </p:sp>
      <p:sp>
        <p:nvSpPr>
          <p:cNvPr id="97" name="Text 94"/>
          <p:cNvSpPr/>
          <p:nvPr/>
        </p:nvSpPr>
        <p:spPr>
          <a:xfrm>
            <a:off x="5897880" y="299923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8" name="Shape 95"/>
          <p:cNvSpPr/>
          <p:nvPr/>
        </p:nvSpPr>
        <p:spPr>
          <a:xfrm>
            <a:off x="1883664" y="4434840"/>
            <a:ext cx="246888" cy="246888"/>
          </a:xfrm>
          <a:prstGeom prst="ellipse">
            <a:avLst/>
          </a:prstGeom>
          <a:solidFill>
            <a:srgbClr val="D1495B"/>
          </a:solidFill>
          <a:ln w="15875">
            <a:solidFill>
              <a:srgbClr val="FFFFFF"/>
            </a:solidFill>
            <a:prstDash val="solid"/>
          </a:ln>
        </p:spPr>
      </p:sp>
      <p:sp>
        <p:nvSpPr>
          <p:cNvPr id="99" name="Text 96"/>
          <p:cNvSpPr/>
          <p:nvPr/>
        </p:nvSpPr>
        <p:spPr>
          <a:xfrm>
            <a:off x="1883664" y="443484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0" name="Shape 97"/>
          <p:cNvSpPr/>
          <p:nvPr/>
        </p:nvSpPr>
        <p:spPr>
          <a:xfrm>
            <a:off x="8183880" y="4434840"/>
            <a:ext cx="246888" cy="246888"/>
          </a:xfrm>
          <a:prstGeom prst="ellipse">
            <a:avLst/>
          </a:prstGeom>
          <a:solidFill>
            <a:srgbClr val="D1495B"/>
          </a:solidFill>
          <a:ln w="15875">
            <a:solidFill>
              <a:srgbClr val="FFFFFF"/>
            </a:solidFill>
            <a:prstDash val="solid"/>
          </a:ln>
        </p:spPr>
      </p:sp>
      <p:sp>
        <p:nvSpPr>
          <p:cNvPr id="101" name="Text 98"/>
          <p:cNvSpPr/>
          <p:nvPr/>
        </p:nvSpPr>
        <p:spPr>
          <a:xfrm>
            <a:off x="8183880" y="443484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02" name="Shape 99"/>
          <p:cNvSpPr/>
          <p:nvPr/>
        </p:nvSpPr>
        <p:spPr>
          <a:xfrm>
            <a:off x="8183880" y="1664208"/>
            <a:ext cx="246888" cy="246888"/>
          </a:xfrm>
          <a:prstGeom prst="ellipse">
            <a:avLst/>
          </a:prstGeom>
          <a:solidFill>
            <a:srgbClr val="D1495B"/>
          </a:solidFill>
          <a:ln w="15875">
            <a:solidFill>
              <a:srgbClr val="FFFFFF"/>
            </a:solidFill>
            <a:prstDash val="solid"/>
          </a:ln>
        </p:spPr>
      </p:sp>
      <p:sp>
        <p:nvSpPr>
          <p:cNvPr id="103" name="Text 100"/>
          <p:cNvSpPr/>
          <p:nvPr/>
        </p:nvSpPr>
        <p:spPr>
          <a:xfrm>
            <a:off x="8183880" y="16642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04" name="Shape 101"/>
          <p:cNvSpPr/>
          <p:nvPr/>
        </p:nvSpPr>
        <p:spPr>
          <a:xfrm>
            <a:off x="8778240" y="1371600"/>
            <a:ext cx="2862072" cy="4892040"/>
          </a:xfrm>
          <a:prstGeom prst="rect">
            <a:avLst/>
          </a:prstGeom>
          <a:solidFill>
            <a:srgbClr val="FFFFFF"/>
          </a:solidFill>
          <a:ln w="9525">
            <a:solidFill>
              <a:srgbClr val="D0D6DD"/>
            </a:solidFill>
            <a:prstDash val="solid"/>
          </a:ln>
          <a:effectLst>
            <a:outerShdw blurRad="76200" dist="25400" dir="8100000" algn="bl" rotWithShape="0">
              <a:srgbClr val="000000">
                <a:alpha val="10000"/>
              </a:srgbClr>
            </a:outerShdw>
          </a:effectLst>
        </p:spPr>
      </p:sp>
      <p:sp>
        <p:nvSpPr>
          <p:cNvPr id="105" name="Text 102"/>
          <p:cNvSpPr/>
          <p:nvPr/>
        </p:nvSpPr>
        <p:spPr>
          <a:xfrm>
            <a:off x="8961120" y="1481328"/>
            <a:ext cx="2496312" cy="274320"/>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ANNOTATIONS</a:t>
            </a:r>
            <a:endParaRPr lang="en-US" sz="1100" dirty="0"/>
          </a:p>
        </p:txBody>
      </p:sp>
      <p:sp>
        <p:nvSpPr>
          <p:cNvPr id="106" name="Shape 103"/>
          <p:cNvSpPr/>
          <p:nvPr/>
        </p:nvSpPr>
        <p:spPr>
          <a:xfrm>
            <a:off x="8942832" y="1892808"/>
            <a:ext cx="246888" cy="246888"/>
          </a:xfrm>
          <a:prstGeom prst="ellipse">
            <a:avLst/>
          </a:prstGeom>
          <a:solidFill>
            <a:srgbClr val="D1495B"/>
          </a:solidFill>
          <a:ln w="15875">
            <a:solidFill>
              <a:srgbClr val="FFFFFF"/>
            </a:solidFill>
            <a:prstDash val="solid"/>
          </a:ln>
        </p:spPr>
      </p:sp>
      <p:sp>
        <p:nvSpPr>
          <p:cNvPr id="107" name="Text 104"/>
          <p:cNvSpPr/>
          <p:nvPr/>
        </p:nvSpPr>
        <p:spPr>
          <a:xfrm>
            <a:off x="8942832" y="18928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8" name="Text 105"/>
          <p:cNvSpPr/>
          <p:nvPr/>
        </p:nvSpPr>
        <p:spPr>
          <a:xfrm>
            <a:off x="9308592" y="1874520"/>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KPI tiles</a:t>
            </a:r>
            <a:endParaRPr lang="en-US" sz="1150" dirty="0"/>
          </a:p>
        </p:txBody>
      </p:sp>
      <p:sp>
        <p:nvSpPr>
          <p:cNvPr id="109" name="Text 106"/>
          <p:cNvSpPr/>
          <p:nvPr/>
        </p:nvSpPr>
        <p:spPr>
          <a:xfrm>
            <a:off x="9308592" y="2121408"/>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Volume, alerts, rate and latency. Refreshed about every 2 s from GET /api/metrics.</a:t>
            </a:r>
            <a:endParaRPr lang="en-US" sz="1000" dirty="0"/>
          </a:p>
        </p:txBody>
      </p:sp>
      <p:sp>
        <p:nvSpPr>
          <p:cNvPr id="110" name="Shape 107"/>
          <p:cNvSpPr/>
          <p:nvPr/>
        </p:nvSpPr>
        <p:spPr>
          <a:xfrm>
            <a:off x="8942832" y="2770632"/>
            <a:ext cx="246888" cy="246888"/>
          </a:xfrm>
          <a:prstGeom prst="ellipse">
            <a:avLst/>
          </a:prstGeom>
          <a:solidFill>
            <a:srgbClr val="D1495B"/>
          </a:solidFill>
          <a:ln w="15875">
            <a:solidFill>
              <a:srgbClr val="FFFFFF"/>
            </a:solidFill>
            <a:prstDash val="solid"/>
          </a:ln>
        </p:spPr>
      </p:sp>
      <p:sp>
        <p:nvSpPr>
          <p:cNvPr id="111" name="Text 108"/>
          <p:cNvSpPr/>
          <p:nvPr/>
        </p:nvSpPr>
        <p:spPr>
          <a:xfrm>
            <a:off x="8942832" y="277063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2" name="Text 109"/>
          <p:cNvSpPr/>
          <p:nvPr/>
        </p:nvSpPr>
        <p:spPr>
          <a:xfrm>
            <a:off x="9308592" y="2752344"/>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Throughput chart</a:t>
            </a:r>
            <a:endParaRPr lang="en-US" sz="1150" dirty="0"/>
          </a:p>
        </p:txBody>
      </p:sp>
      <p:sp>
        <p:nvSpPr>
          <p:cNvPr id="113" name="Text 110"/>
          <p:cNvSpPr/>
          <p:nvPr/>
        </p:nvSpPr>
        <p:spPr>
          <a:xfrm>
            <a:off x="9308592" y="2999232"/>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Events per second over the selected window, based on processed-topic counts.</a:t>
            </a:r>
            <a:endParaRPr lang="en-US" sz="1000" dirty="0"/>
          </a:p>
        </p:txBody>
      </p:sp>
      <p:sp>
        <p:nvSpPr>
          <p:cNvPr id="114" name="Shape 111"/>
          <p:cNvSpPr/>
          <p:nvPr/>
        </p:nvSpPr>
        <p:spPr>
          <a:xfrm>
            <a:off x="8942832" y="3648456"/>
            <a:ext cx="246888" cy="246888"/>
          </a:xfrm>
          <a:prstGeom prst="ellipse">
            <a:avLst/>
          </a:prstGeom>
          <a:solidFill>
            <a:srgbClr val="D1495B"/>
          </a:solidFill>
          <a:ln w="15875">
            <a:solidFill>
              <a:srgbClr val="FFFFFF"/>
            </a:solidFill>
            <a:prstDash val="solid"/>
          </a:ln>
        </p:spPr>
      </p:sp>
      <p:sp>
        <p:nvSpPr>
          <p:cNvPr id="115" name="Text 112"/>
          <p:cNvSpPr/>
          <p:nvPr/>
        </p:nvSpPr>
        <p:spPr>
          <a:xfrm>
            <a:off x="8942832" y="364845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6" name="Text 113"/>
          <p:cNvSpPr/>
          <p:nvPr/>
        </p:nvSpPr>
        <p:spPr>
          <a:xfrm>
            <a:off x="9308592" y="3630168"/>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Live transaction feed</a:t>
            </a:r>
            <a:endParaRPr lang="en-US" sz="1150" dirty="0"/>
          </a:p>
        </p:txBody>
      </p:sp>
      <p:sp>
        <p:nvSpPr>
          <p:cNvPr id="117" name="Text 114"/>
          <p:cNvSpPr/>
          <p:nvPr/>
        </p:nvSpPr>
        <p:spPr>
          <a:xfrm>
            <a:off x="9308592" y="3877056"/>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Newest first, max 50 rows. Flagged rows highlighted amber.</a:t>
            </a:r>
            <a:endParaRPr lang="en-US" sz="1000" dirty="0"/>
          </a:p>
        </p:txBody>
      </p:sp>
      <p:sp>
        <p:nvSpPr>
          <p:cNvPr id="118" name="Shape 115"/>
          <p:cNvSpPr/>
          <p:nvPr/>
        </p:nvSpPr>
        <p:spPr>
          <a:xfrm>
            <a:off x="8942832" y="4526280"/>
            <a:ext cx="246888" cy="246888"/>
          </a:xfrm>
          <a:prstGeom prst="ellipse">
            <a:avLst/>
          </a:prstGeom>
          <a:solidFill>
            <a:srgbClr val="D1495B"/>
          </a:solidFill>
          <a:ln w="15875">
            <a:solidFill>
              <a:srgbClr val="FFFFFF"/>
            </a:solidFill>
            <a:prstDash val="solid"/>
          </a:ln>
        </p:spPr>
      </p:sp>
      <p:sp>
        <p:nvSpPr>
          <p:cNvPr id="119" name="Text 116"/>
          <p:cNvSpPr/>
          <p:nvPr/>
        </p:nvSpPr>
        <p:spPr>
          <a:xfrm>
            <a:off x="8942832" y="452628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0" name="Text 117"/>
          <p:cNvSpPr/>
          <p:nvPr/>
        </p:nvSpPr>
        <p:spPr>
          <a:xfrm>
            <a:off x="9308592" y="4507992"/>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High-risk alerts</a:t>
            </a:r>
            <a:endParaRPr lang="en-US" sz="1150" dirty="0"/>
          </a:p>
        </p:txBody>
      </p:sp>
      <p:sp>
        <p:nvSpPr>
          <p:cNvPr id="121" name="Text 118"/>
          <p:cNvSpPr/>
          <p:nvPr/>
        </p:nvSpPr>
        <p:spPr>
          <a:xfrm>
            <a:off x="9308592" y="4754880"/>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From alerts.high-risk. Click an alert to open the detail drawer (S3b).</a:t>
            </a:r>
            <a:endParaRPr lang="en-US" sz="1000" dirty="0"/>
          </a:p>
        </p:txBody>
      </p:sp>
      <p:sp>
        <p:nvSpPr>
          <p:cNvPr id="122" name="Shape 119"/>
          <p:cNvSpPr/>
          <p:nvPr/>
        </p:nvSpPr>
        <p:spPr>
          <a:xfrm>
            <a:off x="8942832" y="5404104"/>
            <a:ext cx="246888" cy="246888"/>
          </a:xfrm>
          <a:prstGeom prst="ellipse">
            <a:avLst/>
          </a:prstGeom>
          <a:solidFill>
            <a:srgbClr val="D1495B"/>
          </a:solidFill>
          <a:ln w="15875">
            <a:solidFill>
              <a:srgbClr val="FFFFFF"/>
            </a:solidFill>
            <a:prstDash val="solid"/>
          </a:ln>
        </p:spPr>
      </p:sp>
      <p:sp>
        <p:nvSpPr>
          <p:cNvPr id="123" name="Text 120"/>
          <p:cNvSpPr/>
          <p:nvPr/>
        </p:nvSpPr>
        <p:spPr>
          <a:xfrm>
            <a:off x="8942832" y="5404104"/>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24" name="Text 121"/>
          <p:cNvSpPr/>
          <p:nvPr/>
        </p:nvSpPr>
        <p:spPr>
          <a:xfrm>
            <a:off x="9308592" y="5385816"/>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Time range and LIVE badge</a:t>
            </a:r>
            <a:endParaRPr lang="en-US" sz="1150" dirty="0"/>
          </a:p>
        </p:txBody>
      </p:sp>
      <p:sp>
        <p:nvSpPr>
          <p:cNvPr id="125" name="Text 122"/>
          <p:cNvSpPr/>
          <p:nvPr/>
        </p:nvSpPr>
        <p:spPr>
          <a:xfrm>
            <a:off x="9308592" y="5632704"/>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Switch window; click LIVE to pause or resume the stream.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A7"/>
          </a:solidFill>
          <a:ln w="12700">
            <a:solidFill>
              <a:srgbClr val="0E9AA7"/>
            </a:solidFill>
            <a:prstDash val="solid"/>
          </a:ln>
        </p:spPr>
      </p:sp>
      <p:sp>
        <p:nvSpPr>
          <p:cNvPr id="3" name="Shape 1"/>
          <p:cNvSpPr/>
          <p:nvPr/>
        </p:nvSpPr>
        <p:spPr>
          <a:xfrm>
            <a:off x="548640" y="384048"/>
            <a:ext cx="566928" cy="347472"/>
          </a:xfrm>
          <a:prstGeom prst="roundRect">
            <a:avLst>
              <a:gd name="adj" fmla="val 21053"/>
            </a:avLst>
          </a:prstGeom>
          <a:solidFill>
            <a:srgbClr val="14213D"/>
          </a:solidFill>
          <a:ln w="12700">
            <a:solidFill>
              <a:srgbClr val="14213D"/>
            </a:solidFill>
            <a:prstDash val="solid"/>
          </a:ln>
        </p:spPr>
      </p:sp>
      <p:sp>
        <p:nvSpPr>
          <p:cNvPr id="4" name="Text 2"/>
          <p:cNvSpPr/>
          <p:nvPr/>
        </p:nvSpPr>
        <p:spPr>
          <a:xfrm>
            <a:off x="548640" y="384048"/>
            <a:ext cx="56692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S2</a:t>
            </a:r>
            <a:endParaRPr lang="en-US" sz="1300" dirty="0"/>
          </a:p>
        </p:txBody>
      </p:sp>
      <p:sp>
        <p:nvSpPr>
          <p:cNvPr id="5" name="Text 3"/>
          <p:cNvSpPr/>
          <p:nvPr/>
        </p:nvSpPr>
        <p:spPr>
          <a:xfrm>
            <a:off x="1280160" y="320040"/>
            <a:ext cx="10332720" cy="475488"/>
          </a:xfrm>
          <a:prstGeom prst="rect">
            <a:avLst/>
          </a:prstGeom>
          <a:noFill/>
          <a:ln/>
        </p:spPr>
        <p:txBody>
          <a:bodyPr wrap="square" lIns="0" tIns="0" rIns="0" bIns="0" rtlCol="0" anchor="ctr"/>
          <a:lstStyle/>
          <a:p>
            <a:pPr marL="0" indent="0" algn="l">
              <a:buNone/>
            </a:pPr>
            <a:r>
              <a:rPr lang="en-US" sz="2800" b="1" dirty="0">
                <a:solidFill>
                  <a:srgbClr val="14213D"/>
                </a:solidFill>
                <a:latin typeface="Calibri" pitchFamily="34" charset="0"/>
                <a:ea typeface="Calibri" pitchFamily="34" charset="-122"/>
                <a:cs typeface="Calibri" pitchFamily="34" charset="-120"/>
              </a:rPr>
              <a:t>Transactions Explorer</a:t>
            </a:r>
            <a:endParaRPr lang="en-US" sz="2800" dirty="0"/>
          </a:p>
        </p:txBody>
      </p:sp>
      <p:sp>
        <p:nvSpPr>
          <p:cNvPr id="6" name="Text 4"/>
          <p:cNvSpPr/>
          <p:nvPr/>
        </p:nvSpPr>
        <p:spPr>
          <a:xfrm>
            <a:off x="1280160" y="841248"/>
            <a:ext cx="10789920" cy="365760"/>
          </a:xfrm>
          <a:prstGeom prst="rect">
            <a:avLst/>
          </a:prstGeom>
          <a:noFill/>
          <a:ln/>
        </p:spPr>
        <p:txBody>
          <a:bodyPr wrap="square" lIns="0" tIns="0" rIns="0" bIns="0" rtlCol="0" anchor="ctr"/>
          <a:lstStyle/>
          <a:p>
            <a:pPr marL="0" indent="0" algn="l">
              <a:buNone/>
            </a:pPr>
            <a:r>
              <a:rPr lang="en-US" sz="1400" dirty="0">
                <a:solidFill>
                  <a:srgbClr val="5B6675"/>
                </a:solidFill>
                <a:latin typeface="Calibri" pitchFamily="34" charset="0"/>
                <a:ea typeface="Calibri" pitchFamily="34" charset="-122"/>
                <a:cs typeface="Calibri" pitchFamily="34" charset="-120"/>
              </a:rPr>
              <a:t>Search and filter processed transactions stored in PostgreSQL</a:t>
            </a:r>
            <a:endParaRPr lang="en-US" sz="1400" dirty="0"/>
          </a:p>
        </p:txBody>
      </p:sp>
      <p:sp>
        <p:nvSpPr>
          <p:cNvPr id="7" name="Text 5"/>
          <p:cNvSpPr/>
          <p:nvPr/>
        </p:nvSpPr>
        <p:spPr>
          <a:xfrm>
            <a:off x="548640" y="6446520"/>
            <a:ext cx="6400800" cy="256032"/>
          </a:xfrm>
          <a:prstGeom prst="rect">
            <a:avLst/>
          </a:prstGeom>
          <a:noFill/>
          <a:ln/>
        </p:spPr>
        <p:txBody>
          <a:bodyPr wrap="square" lIns="0" tIns="0" rIns="0" bIns="0" rtlCol="0" anchor="ctr"/>
          <a:lstStyle/>
          <a:p>
            <a:pPr marL="0" indent="0" algn="l">
              <a:buNone/>
            </a:pPr>
            <a:r>
              <a:rPr lang="en-US" sz="1000" dirty="0">
                <a:solidFill>
                  <a:srgbClr val="5B6675"/>
                </a:solidFill>
                <a:latin typeface="Calibri" pitchFamily="34" charset="0"/>
                <a:ea typeface="Calibri" pitchFamily="34" charset="-122"/>
                <a:cs typeface="Calibri" pitchFamily="34" charset="-120"/>
              </a:rPr>
              <a:t>Prototype Wireframes  |  Kafka Streams Real-Time Ingestion</a:t>
            </a:r>
            <a:endParaRPr lang="en-US" sz="1000" dirty="0"/>
          </a:p>
        </p:txBody>
      </p:sp>
      <p:sp>
        <p:nvSpPr>
          <p:cNvPr id="8" name="Text 6"/>
          <p:cNvSpPr/>
          <p:nvPr/>
        </p:nvSpPr>
        <p:spPr>
          <a:xfrm>
            <a:off x="11155680" y="6446520"/>
            <a:ext cx="548640" cy="256032"/>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4</a:t>
            </a:r>
            <a:endParaRPr lang="en-US" sz="1000" dirty="0"/>
          </a:p>
        </p:txBody>
      </p:sp>
      <p:sp>
        <p:nvSpPr>
          <p:cNvPr id="9" name="Shape 7"/>
          <p:cNvSpPr/>
          <p:nvPr/>
        </p:nvSpPr>
        <p:spPr>
          <a:xfrm>
            <a:off x="548640" y="1371600"/>
            <a:ext cx="7955280" cy="4892040"/>
          </a:xfrm>
          <a:prstGeom prst="rect">
            <a:avLst/>
          </a:prstGeom>
          <a:solidFill>
            <a:srgbClr val="FFFFFF"/>
          </a:solidFill>
          <a:ln w="15875">
            <a:solidFill>
              <a:srgbClr val="8A94A0"/>
            </a:solidFill>
            <a:prstDash val="solid"/>
          </a:ln>
          <a:effectLst>
            <a:outerShdw blurRad="76200" dist="25400" dir="8100000" algn="bl" rotWithShape="0">
              <a:srgbClr val="000000">
                <a:alpha val="10000"/>
              </a:srgbClr>
            </a:outerShdw>
          </a:effectLst>
        </p:spPr>
      </p:sp>
      <p:sp>
        <p:nvSpPr>
          <p:cNvPr id="10" name="Shape 8"/>
          <p:cNvSpPr/>
          <p:nvPr/>
        </p:nvSpPr>
        <p:spPr>
          <a:xfrm>
            <a:off x="548640" y="1371600"/>
            <a:ext cx="7955280" cy="292608"/>
          </a:xfrm>
          <a:prstGeom prst="rect">
            <a:avLst/>
          </a:prstGeom>
          <a:solidFill>
            <a:srgbClr val="D5DAE0"/>
          </a:solidFill>
          <a:ln w="12700">
            <a:solidFill>
              <a:srgbClr val="D5DAE0"/>
            </a:solidFill>
            <a:prstDash val="solid"/>
          </a:ln>
        </p:spPr>
      </p:sp>
      <p:sp>
        <p:nvSpPr>
          <p:cNvPr id="11" name="Shape 9"/>
          <p:cNvSpPr/>
          <p:nvPr/>
        </p:nvSpPr>
        <p:spPr>
          <a:xfrm>
            <a:off x="676656" y="1463040"/>
            <a:ext cx="109728" cy="109728"/>
          </a:xfrm>
          <a:prstGeom prst="ellipse">
            <a:avLst/>
          </a:prstGeom>
          <a:solidFill>
            <a:srgbClr val="9AA3AE"/>
          </a:solidFill>
          <a:ln w="12700">
            <a:solidFill>
              <a:srgbClr val="9AA3AE"/>
            </a:solidFill>
            <a:prstDash val="solid"/>
          </a:ln>
        </p:spPr>
      </p:sp>
      <p:sp>
        <p:nvSpPr>
          <p:cNvPr id="12" name="Shape 10"/>
          <p:cNvSpPr/>
          <p:nvPr/>
        </p:nvSpPr>
        <p:spPr>
          <a:xfrm>
            <a:off x="859536" y="1463040"/>
            <a:ext cx="109728" cy="109728"/>
          </a:xfrm>
          <a:prstGeom prst="ellipse">
            <a:avLst/>
          </a:prstGeom>
          <a:solidFill>
            <a:srgbClr val="9AA3AE"/>
          </a:solidFill>
          <a:ln w="12700">
            <a:solidFill>
              <a:srgbClr val="9AA3AE"/>
            </a:solidFill>
            <a:prstDash val="solid"/>
          </a:ln>
        </p:spPr>
      </p:sp>
      <p:sp>
        <p:nvSpPr>
          <p:cNvPr id="13" name="Shape 11"/>
          <p:cNvSpPr/>
          <p:nvPr/>
        </p:nvSpPr>
        <p:spPr>
          <a:xfrm>
            <a:off x="1042416" y="1463040"/>
            <a:ext cx="109728" cy="109728"/>
          </a:xfrm>
          <a:prstGeom prst="ellipse">
            <a:avLst/>
          </a:prstGeom>
          <a:solidFill>
            <a:srgbClr val="9AA3AE"/>
          </a:solidFill>
          <a:ln w="12700">
            <a:solidFill>
              <a:srgbClr val="9AA3AE"/>
            </a:solidFill>
            <a:prstDash val="solid"/>
          </a:ln>
        </p:spPr>
      </p:sp>
      <p:sp>
        <p:nvSpPr>
          <p:cNvPr id="14" name="Shape 12"/>
          <p:cNvSpPr/>
          <p:nvPr/>
        </p:nvSpPr>
        <p:spPr>
          <a:xfrm>
            <a:off x="1371600" y="1426464"/>
            <a:ext cx="3108960" cy="182880"/>
          </a:xfrm>
          <a:prstGeom prst="roundRect">
            <a:avLst>
              <a:gd name="adj" fmla="val 25000"/>
            </a:avLst>
          </a:prstGeom>
          <a:solidFill>
            <a:srgbClr val="FFFFFF"/>
          </a:solidFill>
          <a:ln w="12700">
            <a:solidFill>
              <a:srgbClr val="FFFFFF"/>
            </a:solidFill>
            <a:prstDash val="solid"/>
          </a:ln>
        </p:spPr>
      </p:sp>
      <p:sp>
        <p:nvSpPr>
          <p:cNvPr id="15" name="Text 13"/>
          <p:cNvSpPr/>
          <p:nvPr/>
        </p:nvSpPr>
        <p:spPr>
          <a:xfrm>
            <a:off x="1463040" y="1426464"/>
            <a:ext cx="2926080" cy="182880"/>
          </a:xfrm>
          <a:prstGeom prst="rect">
            <a:avLst/>
          </a:prstGeom>
          <a:noFill/>
          <a:ln/>
        </p:spPr>
        <p:txBody>
          <a:bodyPr wrap="square" lIns="0" tIns="0" rIns="0" bIns="0" rtlCol="0" anchor="ctr"/>
          <a:lstStyle/>
          <a:p>
            <a:pPr marL="0" indent="0" algn="l">
              <a:buNone/>
            </a:pPr>
            <a:r>
              <a:rPr lang="en-US" sz="800" dirty="0">
                <a:solidFill>
                  <a:srgbClr val="5B6675"/>
                </a:solidFill>
                <a:latin typeface="Calibri" pitchFamily="34" charset="0"/>
                <a:ea typeface="Calibri" pitchFamily="34" charset="-122"/>
                <a:cs typeface="Calibri" pitchFamily="34" charset="-120"/>
              </a:rPr>
              <a:t>localhost:3000/transactions</a:t>
            </a:r>
            <a:endParaRPr lang="en-US" sz="800" dirty="0"/>
          </a:p>
        </p:txBody>
      </p:sp>
      <p:sp>
        <p:nvSpPr>
          <p:cNvPr id="16" name="Shape 14"/>
          <p:cNvSpPr/>
          <p:nvPr/>
        </p:nvSpPr>
        <p:spPr>
          <a:xfrm>
            <a:off x="548640" y="1664208"/>
            <a:ext cx="1371600" cy="4599432"/>
          </a:xfrm>
          <a:prstGeom prst="rect">
            <a:avLst/>
          </a:prstGeom>
          <a:solidFill>
            <a:srgbClr val="ECEFF3"/>
          </a:solidFill>
          <a:ln w="12700">
            <a:solidFill>
              <a:srgbClr val="ECEFF3"/>
            </a:solidFill>
            <a:prstDash val="solid"/>
          </a:ln>
        </p:spPr>
      </p:sp>
      <p:sp>
        <p:nvSpPr>
          <p:cNvPr id="17" name="Shape 15"/>
          <p:cNvSpPr/>
          <p:nvPr/>
        </p:nvSpPr>
        <p:spPr>
          <a:xfrm>
            <a:off x="1920240" y="1664208"/>
            <a:ext cx="0" cy="4599432"/>
          </a:xfrm>
          <a:prstGeom prst="line">
            <a:avLst/>
          </a:prstGeom>
          <a:noFill/>
          <a:ln w="9525">
            <a:solidFill>
              <a:srgbClr val="B0B7C0"/>
            </a:solidFill>
            <a:prstDash val="solid"/>
          </a:ln>
        </p:spPr>
      </p:sp>
      <p:sp>
        <p:nvSpPr>
          <p:cNvPr id="18" name="Shape 16"/>
          <p:cNvSpPr/>
          <p:nvPr/>
        </p:nvSpPr>
        <p:spPr>
          <a:xfrm>
            <a:off x="685800" y="1801368"/>
            <a:ext cx="219456" cy="219456"/>
          </a:xfrm>
          <a:prstGeom prst="rect">
            <a:avLst/>
          </a:prstGeom>
          <a:solidFill>
            <a:srgbClr val="14213D"/>
          </a:solidFill>
          <a:ln w="12700">
            <a:solidFill>
              <a:srgbClr val="14213D"/>
            </a:solidFill>
            <a:prstDash val="solid"/>
          </a:ln>
        </p:spPr>
      </p:sp>
      <p:sp>
        <p:nvSpPr>
          <p:cNvPr id="19" name="Text 17"/>
          <p:cNvSpPr/>
          <p:nvPr/>
        </p:nvSpPr>
        <p:spPr>
          <a:xfrm>
            <a:off x="978408" y="1783080"/>
            <a:ext cx="914400" cy="256032"/>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TxnWatch</a:t>
            </a:r>
            <a:endParaRPr lang="en-US" sz="1150" dirty="0"/>
          </a:p>
        </p:txBody>
      </p:sp>
      <p:sp>
        <p:nvSpPr>
          <p:cNvPr id="20" name="Shape 18"/>
          <p:cNvSpPr/>
          <p:nvPr/>
        </p:nvSpPr>
        <p:spPr>
          <a:xfrm>
            <a:off x="713232" y="2331720"/>
            <a:ext cx="128016" cy="128016"/>
          </a:xfrm>
          <a:prstGeom prst="rect">
            <a:avLst/>
          </a:prstGeom>
          <a:solidFill>
            <a:srgbClr val="C9CFD6"/>
          </a:solidFill>
          <a:ln w="12700">
            <a:solidFill>
              <a:srgbClr val="C9CFD6"/>
            </a:solidFill>
            <a:prstDash val="solid"/>
          </a:ln>
        </p:spPr>
      </p:sp>
      <p:sp>
        <p:nvSpPr>
          <p:cNvPr id="21" name="Text 19"/>
          <p:cNvSpPr/>
          <p:nvPr/>
        </p:nvSpPr>
        <p:spPr>
          <a:xfrm>
            <a:off x="914400" y="2240280"/>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Live Dashboard</a:t>
            </a:r>
            <a:endParaRPr lang="en-US" sz="1000" dirty="0"/>
          </a:p>
        </p:txBody>
      </p:sp>
      <p:sp>
        <p:nvSpPr>
          <p:cNvPr id="22" name="Shape 20"/>
          <p:cNvSpPr/>
          <p:nvPr/>
        </p:nvSpPr>
        <p:spPr>
          <a:xfrm>
            <a:off x="621792" y="2624328"/>
            <a:ext cx="1225296" cy="310896"/>
          </a:xfrm>
          <a:prstGeom prst="roundRect">
            <a:avLst>
              <a:gd name="adj" fmla="val 14706"/>
            </a:avLst>
          </a:prstGeom>
          <a:solidFill>
            <a:srgbClr val="0E9AA7"/>
          </a:solidFill>
          <a:ln w="12700">
            <a:solidFill>
              <a:srgbClr val="0E9AA7"/>
            </a:solidFill>
            <a:prstDash val="solid"/>
          </a:ln>
        </p:spPr>
      </p:sp>
      <p:sp>
        <p:nvSpPr>
          <p:cNvPr id="23" name="Text 21"/>
          <p:cNvSpPr/>
          <p:nvPr/>
        </p:nvSpPr>
        <p:spPr>
          <a:xfrm>
            <a:off x="731520" y="2624328"/>
            <a:ext cx="109728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Transactions</a:t>
            </a:r>
            <a:endParaRPr lang="en-US" sz="1000" dirty="0"/>
          </a:p>
        </p:txBody>
      </p:sp>
      <p:sp>
        <p:nvSpPr>
          <p:cNvPr id="24" name="Shape 22"/>
          <p:cNvSpPr/>
          <p:nvPr/>
        </p:nvSpPr>
        <p:spPr>
          <a:xfrm>
            <a:off x="713232" y="3099816"/>
            <a:ext cx="128016" cy="128016"/>
          </a:xfrm>
          <a:prstGeom prst="rect">
            <a:avLst/>
          </a:prstGeom>
          <a:solidFill>
            <a:srgbClr val="C9CFD6"/>
          </a:solidFill>
          <a:ln w="12700">
            <a:solidFill>
              <a:srgbClr val="C9CFD6"/>
            </a:solidFill>
            <a:prstDash val="solid"/>
          </a:ln>
        </p:spPr>
      </p:sp>
      <p:sp>
        <p:nvSpPr>
          <p:cNvPr id="25" name="Text 23"/>
          <p:cNvSpPr/>
          <p:nvPr/>
        </p:nvSpPr>
        <p:spPr>
          <a:xfrm>
            <a:off x="914400" y="3008376"/>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Alerts</a:t>
            </a:r>
            <a:endParaRPr lang="en-US" sz="1000" dirty="0"/>
          </a:p>
        </p:txBody>
      </p:sp>
      <p:sp>
        <p:nvSpPr>
          <p:cNvPr id="26" name="Shape 24"/>
          <p:cNvSpPr/>
          <p:nvPr/>
        </p:nvSpPr>
        <p:spPr>
          <a:xfrm>
            <a:off x="713232" y="3483864"/>
            <a:ext cx="128016" cy="128016"/>
          </a:xfrm>
          <a:prstGeom prst="rect">
            <a:avLst/>
          </a:prstGeom>
          <a:solidFill>
            <a:srgbClr val="C9CFD6"/>
          </a:solidFill>
          <a:ln w="12700">
            <a:solidFill>
              <a:srgbClr val="C9CFD6"/>
            </a:solidFill>
            <a:prstDash val="solid"/>
          </a:ln>
        </p:spPr>
      </p:sp>
      <p:sp>
        <p:nvSpPr>
          <p:cNvPr id="27" name="Text 25"/>
          <p:cNvSpPr/>
          <p:nvPr/>
        </p:nvSpPr>
        <p:spPr>
          <a:xfrm>
            <a:off x="914400" y="3392424"/>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Pipeline Health</a:t>
            </a:r>
            <a:endParaRPr lang="en-US" sz="1000" dirty="0"/>
          </a:p>
        </p:txBody>
      </p:sp>
      <p:sp>
        <p:nvSpPr>
          <p:cNvPr id="28" name="Shape 26"/>
          <p:cNvSpPr/>
          <p:nvPr/>
        </p:nvSpPr>
        <p:spPr>
          <a:xfrm>
            <a:off x="713232" y="3867912"/>
            <a:ext cx="128016" cy="128016"/>
          </a:xfrm>
          <a:prstGeom prst="rect">
            <a:avLst/>
          </a:prstGeom>
          <a:solidFill>
            <a:srgbClr val="C9CFD6"/>
          </a:solidFill>
          <a:ln w="12700">
            <a:solidFill>
              <a:srgbClr val="C9CFD6"/>
            </a:solidFill>
            <a:prstDash val="solid"/>
          </a:ln>
        </p:spPr>
      </p:sp>
      <p:sp>
        <p:nvSpPr>
          <p:cNvPr id="29" name="Text 27"/>
          <p:cNvSpPr/>
          <p:nvPr/>
        </p:nvSpPr>
        <p:spPr>
          <a:xfrm>
            <a:off x="914400" y="3776472"/>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Control Panel</a:t>
            </a:r>
            <a:endParaRPr lang="en-US" sz="1000" dirty="0"/>
          </a:p>
        </p:txBody>
      </p:sp>
      <p:sp>
        <p:nvSpPr>
          <p:cNvPr id="30" name="Text 28"/>
          <p:cNvSpPr/>
          <p:nvPr/>
        </p:nvSpPr>
        <p:spPr>
          <a:xfrm>
            <a:off x="685800" y="5897880"/>
            <a:ext cx="1188720" cy="228600"/>
          </a:xfrm>
          <a:prstGeom prst="rect">
            <a:avLst/>
          </a:prstGeom>
          <a:noFill/>
          <a:ln/>
        </p:spPr>
        <p:txBody>
          <a:bodyPr wrap="square" lIns="0" tIns="0" rIns="0" bIns="0" rtlCol="0" anchor="ctr"/>
          <a:lstStyle/>
          <a:p>
            <a:pPr marL="0" indent="0" algn="l">
              <a:buNone/>
            </a:pPr>
            <a:r>
              <a:rPr lang="en-US" sz="900" b="1" dirty="0">
                <a:solidFill>
                  <a:srgbClr val="2E9E5B"/>
                </a:solidFill>
                <a:latin typeface="Calibri" pitchFamily="34" charset="0"/>
                <a:ea typeface="Calibri" pitchFamily="34" charset="-122"/>
                <a:cs typeface="Calibri" pitchFamily="34" charset="-120"/>
              </a:rPr>
              <a:t>● Connected</a:t>
            </a:r>
            <a:endParaRPr lang="en-US" sz="900" dirty="0"/>
          </a:p>
        </p:txBody>
      </p:sp>
      <p:sp>
        <p:nvSpPr>
          <p:cNvPr id="31" name="Text 29"/>
          <p:cNvSpPr/>
          <p:nvPr/>
        </p:nvSpPr>
        <p:spPr>
          <a:xfrm>
            <a:off x="2057400" y="1755648"/>
            <a:ext cx="2743200" cy="310896"/>
          </a:xfrm>
          <a:prstGeom prst="rect">
            <a:avLst/>
          </a:prstGeom>
          <a:noFill/>
          <a:ln/>
        </p:spPr>
        <p:txBody>
          <a:bodyPr wrap="square" lIns="0" tIns="0" rIns="0" bIns="0" rtlCol="0" anchor="ctr"/>
          <a:lstStyle/>
          <a:p>
            <a:pPr marL="0" indent="0" algn="l">
              <a:buNone/>
            </a:pPr>
            <a:r>
              <a:rPr lang="en-US" sz="1400" b="1" dirty="0">
                <a:solidFill>
                  <a:srgbClr val="14213D"/>
                </a:solidFill>
                <a:latin typeface="Calibri" pitchFamily="34" charset="0"/>
                <a:ea typeface="Calibri" pitchFamily="34" charset="-122"/>
                <a:cs typeface="Calibri" pitchFamily="34" charset="-120"/>
              </a:rPr>
              <a:t>Transactions</a:t>
            </a:r>
            <a:endParaRPr lang="en-US" sz="1400" dirty="0"/>
          </a:p>
        </p:txBody>
      </p:sp>
      <p:sp>
        <p:nvSpPr>
          <p:cNvPr id="32" name="Shape 30"/>
          <p:cNvSpPr/>
          <p:nvPr/>
        </p:nvSpPr>
        <p:spPr>
          <a:xfrm>
            <a:off x="7269480" y="1764792"/>
            <a:ext cx="1097280" cy="274320"/>
          </a:xfrm>
          <a:prstGeom prst="roundRect">
            <a:avLst>
              <a:gd name="adj" fmla="val 16667"/>
            </a:avLst>
          </a:prstGeom>
          <a:solidFill>
            <a:srgbClr val="FFFFFF"/>
          </a:solidFill>
          <a:ln w="12700">
            <a:solidFill>
              <a:srgbClr val="8A94A0"/>
            </a:solidFill>
            <a:prstDash val="solid"/>
          </a:ln>
        </p:spPr>
      </p:sp>
      <p:sp>
        <p:nvSpPr>
          <p:cNvPr id="33" name="Text 31"/>
          <p:cNvSpPr/>
          <p:nvPr/>
        </p:nvSpPr>
        <p:spPr>
          <a:xfrm>
            <a:off x="7269480" y="1764792"/>
            <a:ext cx="1097280" cy="274320"/>
          </a:xfrm>
          <a:prstGeom prst="rect">
            <a:avLst/>
          </a:prstGeom>
          <a:noFill/>
          <a:ln/>
        </p:spPr>
        <p:txBody>
          <a:bodyPr wrap="square" lIns="0" tIns="0" rIns="0" bIns="0" rtlCol="0" anchor="ctr"/>
          <a:lstStyle/>
          <a:p>
            <a:pPr marL="0" indent="0" algn="ctr">
              <a:buNone/>
            </a:pPr>
            <a:r>
              <a:rPr lang="en-US" sz="950" b="1" dirty="0">
                <a:solidFill>
                  <a:srgbClr val="2B3440"/>
                </a:solidFill>
                <a:latin typeface="Calibri" pitchFamily="34" charset="0"/>
                <a:ea typeface="Calibri" pitchFamily="34" charset="-122"/>
                <a:cs typeface="Calibri" pitchFamily="34" charset="-120"/>
              </a:rPr>
              <a:t>Export CSV</a:t>
            </a:r>
            <a:endParaRPr lang="en-US" sz="950" dirty="0"/>
          </a:p>
        </p:txBody>
      </p:sp>
      <p:sp>
        <p:nvSpPr>
          <p:cNvPr id="34" name="Shape 32"/>
          <p:cNvSpPr/>
          <p:nvPr/>
        </p:nvSpPr>
        <p:spPr>
          <a:xfrm>
            <a:off x="2057400" y="2212848"/>
            <a:ext cx="6309360" cy="566928"/>
          </a:xfrm>
          <a:prstGeom prst="rect">
            <a:avLst/>
          </a:prstGeom>
          <a:solidFill>
            <a:srgbClr val="FFFFFF"/>
          </a:solidFill>
          <a:ln w="9525">
            <a:solidFill>
              <a:srgbClr val="B0B7C0"/>
            </a:solidFill>
            <a:prstDash val="solid"/>
          </a:ln>
        </p:spPr>
      </p:sp>
      <p:sp>
        <p:nvSpPr>
          <p:cNvPr id="35" name="Shape 33"/>
          <p:cNvSpPr/>
          <p:nvPr/>
        </p:nvSpPr>
        <p:spPr>
          <a:xfrm>
            <a:off x="2148840" y="2350008"/>
            <a:ext cx="1828800" cy="292608"/>
          </a:xfrm>
          <a:prstGeom prst="roundRect">
            <a:avLst>
              <a:gd name="adj" fmla="val 15625"/>
            </a:avLst>
          </a:prstGeom>
          <a:solidFill>
            <a:srgbClr val="FFFFFF"/>
          </a:solidFill>
          <a:ln w="9525">
            <a:solidFill>
              <a:srgbClr val="A5ADB7"/>
            </a:solidFill>
            <a:prstDash val="solid"/>
          </a:ln>
        </p:spPr>
      </p:sp>
      <p:sp>
        <p:nvSpPr>
          <p:cNvPr id="36" name="Text 34"/>
          <p:cNvSpPr/>
          <p:nvPr/>
        </p:nvSpPr>
        <p:spPr>
          <a:xfrm>
            <a:off x="2221992" y="2350008"/>
            <a:ext cx="1682496" cy="292608"/>
          </a:xfrm>
          <a:prstGeom prst="rect">
            <a:avLst/>
          </a:prstGeom>
          <a:noFill/>
          <a:ln/>
        </p:spPr>
        <p:txBody>
          <a:bodyPr wrap="square" lIns="0" tIns="0" rIns="0" bIns="0" rtlCol="0" anchor="ctr"/>
          <a:lstStyle/>
          <a:p>
            <a:pPr marL="0" indent="0" algn="l">
              <a:buNone/>
            </a:pPr>
            <a:r>
              <a:rPr lang="en-US" sz="900" dirty="0">
                <a:solidFill>
                  <a:srgbClr val="9AA3AE"/>
                </a:solidFill>
                <a:latin typeface="Calibri" pitchFamily="34" charset="0"/>
                <a:ea typeface="Calibri" pitchFamily="34" charset="-122"/>
                <a:cs typeface="Calibri" pitchFamily="34" charset="-120"/>
              </a:rPr>
              <a:t>Search txn ID / customer</a:t>
            </a:r>
            <a:endParaRPr lang="en-US" sz="900" dirty="0"/>
          </a:p>
        </p:txBody>
      </p:sp>
      <p:sp>
        <p:nvSpPr>
          <p:cNvPr id="37" name="Shape 35"/>
          <p:cNvSpPr/>
          <p:nvPr/>
        </p:nvSpPr>
        <p:spPr>
          <a:xfrm>
            <a:off x="4069080" y="2350008"/>
            <a:ext cx="914400" cy="292608"/>
          </a:xfrm>
          <a:prstGeom prst="roundRect">
            <a:avLst>
              <a:gd name="adj" fmla="val 15625"/>
            </a:avLst>
          </a:prstGeom>
          <a:solidFill>
            <a:srgbClr val="FFFFFF"/>
          </a:solidFill>
          <a:ln w="9525">
            <a:solidFill>
              <a:srgbClr val="A5ADB7"/>
            </a:solidFill>
            <a:prstDash val="solid"/>
          </a:ln>
        </p:spPr>
      </p:sp>
      <p:sp>
        <p:nvSpPr>
          <p:cNvPr id="38" name="Text 36"/>
          <p:cNvSpPr/>
          <p:nvPr/>
        </p:nvSpPr>
        <p:spPr>
          <a:xfrm>
            <a:off x="4142232" y="2350008"/>
            <a:ext cx="768096" cy="292608"/>
          </a:xfrm>
          <a:prstGeom prst="rect">
            <a:avLst/>
          </a:prstGeom>
          <a:noFill/>
          <a:ln/>
        </p:spPr>
        <p:txBody>
          <a:bodyPr wrap="square" lIns="0" tIns="0" rIns="0" bIns="0" rtlCol="0" anchor="ctr"/>
          <a:lstStyle/>
          <a:p>
            <a:pPr marL="0" indent="0" algn="l">
              <a:buNone/>
            </a:pPr>
            <a:r>
              <a:rPr lang="en-US" sz="900" dirty="0">
                <a:solidFill>
                  <a:srgbClr val="9AA3AE"/>
                </a:solidFill>
                <a:latin typeface="Calibri" pitchFamily="34" charset="0"/>
                <a:ea typeface="Calibri" pitchFamily="34" charset="-122"/>
                <a:cs typeface="Calibri" pitchFamily="34" charset="-120"/>
              </a:rPr>
              <a:t>Channel  ▾</a:t>
            </a:r>
            <a:endParaRPr lang="en-US" sz="900" dirty="0"/>
          </a:p>
        </p:txBody>
      </p:sp>
      <p:sp>
        <p:nvSpPr>
          <p:cNvPr id="39" name="Shape 37"/>
          <p:cNvSpPr/>
          <p:nvPr/>
        </p:nvSpPr>
        <p:spPr>
          <a:xfrm>
            <a:off x="5074920" y="2350008"/>
            <a:ext cx="914400" cy="292608"/>
          </a:xfrm>
          <a:prstGeom prst="roundRect">
            <a:avLst>
              <a:gd name="adj" fmla="val 15625"/>
            </a:avLst>
          </a:prstGeom>
          <a:solidFill>
            <a:srgbClr val="FFFFFF"/>
          </a:solidFill>
          <a:ln w="9525">
            <a:solidFill>
              <a:srgbClr val="A5ADB7"/>
            </a:solidFill>
            <a:prstDash val="solid"/>
          </a:ln>
        </p:spPr>
      </p:sp>
      <p:sp>
        <p:nvSpPr>
          <p:cNvPr id="40" name="Text 38"/>
          <p:cNvSpPr/>
          <p:nvPr/>
        </p:nvSpPr>
        <p:spPr>
          <a:xfrm>
            <a:off x="5148072" y="2350008"/>
            <a:ext cx="768096" cy="292608"/>
          </a:xfrm>
          <a:prstGeom prst="rect">
            <a:avLst/>
          </a:prstGeom>
          <a:noFill/>
          <a:ln/>
        </p:spPr>
        <p:txBody>
          <a:bodyPr wrap="square" lIns="0" tIns="0" rIns="0" bIns="0" rtlCol="0" anchor="ctr"/>
          <a:lstStyle/>
          <a:p>
            <a:pPr marL="0" indent="0" algn="l">
              <a:buNone/>
            </a:pPr>
            <a:r>
              <a:rPr lang="en-US" sz="900" dirty="0">
                <a:solidFill>
                  <a:srgbClr val="9AA3AE"/>
                </a:solidFill>
                <a:latin typeface="Calibri" pitchFamily="34" charset="0"/>
                <a:ea typeface="Calibri" pitchFamily="34" charset="-122"/>
                <a:cs typeface="Calibri" pitchFamily="34" charset="-120"/>
              </a:rPr>
              <a:t>Status  ▾</a:t>
            </a:r>
            <a:endParaRPr lang="en-US" sz="900" dirty="0"/>
          </a:p>
        </p:txBody>
      </p:sp>
      <p:sp>
        <p:nvSpPr>
          <p:cNvPr id="41" name="Shape 39"/>
          <p:cNvSpPr/>
          <p:nvPr/>
        </p:nvSpPr>
        <p:spPr>
          <a:xfrm>
            <a:off x="6080760" y="2350008"/>
            <a:ext cx="1234440" cy="292608"/>
          </a:xfrm>
          <a:prstGeom prst="roundRect">
            <a:avLst>
              <a:gd name="adj" fmla="val 15625"/>
            </a:avLst>
          </a:prstGeom>
          <a:solidFill>
            <a:srgbClr val="FFFFFF"/>
          </a:solidFill>
          <a:ln w="9525">
            <a:solidFill>
              <a:srgbClr val="A5ADB7"/>
            </a:solidFill>
            <a:prstDash val="solid"/>
          </a:ln>
        </p:spPr>
      </p:sp>
      <p:sp>
        <p:nvSpPr>
          <p:cNvPr id="42" name="Text 40"/>
          <p:cNvSpPr/>
          <p:nvPr/>
        </p:nvSpPr>
        <p:spPr>
          <a:xfrm>
            <a:off x="6153912" y="2350008"/>
            <a:ext cx="1088136" cy="292608"/>
          </a:xfrm>
          <a:prstGeom prst="rect">
            <a:avLst/>
          </a:prstGeom>
          <a:noFill/>
          <a:ln/>
        </p:spPr>
        <p:txBody>
          <a:bodyPr wrap="square" lIns="0" tIns="0" rIns="0" bIns="0" rtlCol="0" anchor="ctr"/>
          <a:lstStyle/>
          <a:p>
            <a:pPr marL="0" indent="0" algn="l">
              <a:buNone/>
            </a:pPr>
            <a:r>
              <a:rPr lang="en-US" sz="900" dirty="0">
                <a:solidFill>
                  <a:srgbClr val="9AA3AE"/>
                </a:solidFill>
                <a:latin typeface="Calibri" pitchFamily="34" charset="0"/>
                <a:ea typeface="Calibri" pitchFamily="34" charset="-122"/>
                <a:cs typeface="Calibri" pitchFamily="34" charset="-120"/>
              </a:rPr>
              <a:t>Amount min – max</a:t>
            </a:r>
            <a:endParaRPr lang="en-US" sz="900" dirty="0"/>
          </a:p>
        </p:txBody>
      </p:sp>
      <p:sp>
        <p:nvSpPr>
          <p:cNvPr id="43" name="Shape 41"/>
          <p:cNvSpPr/>
          <p:nvPr/>
        </p:nvSpPr>
        <p:spPr>
          <a:xfrm>
            <a:off x="7406640" y="2350008"/>
            <a:ext cx="868680" cy="292608"/>
          </a:xfrm>
          <a:prstGeom prst="roundRect">
            <a:avLst>
              <a:gd name="adj" fmla="val 15625"/>
            </a:avLst>
          </a:prstGeom>
          <a:solidFill>
            <a:srgbClr val="0E9AA7"/>
          </a:solidFill>
          <a:ln w="12700">
            <a:solidFill>
              <a:srgbClr val="0E9AA7"/>
            </a:solidFill>
            <a:prstDash val="solid"/>
          </a:ln>
        </p:spPr>
      </p:sp>
      <p:sp>
        <p:nvSpPr>
          <p:cNvPr id="44" name="Text 42"/>
          <p:cNvSpPr/>
          <p:nvPr/>
        </p:nvSpPr>
        <p:spPr>
          <a:xfrm>
            <a:off x="7406640" y="2350008"/>
            <a:ext cx="8686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Apply</a:t>
            </a:r>
            <a:endParaRPr lang="en-US" sz="950" dirty="0"/>
          </a:p>
        </p:txBody>
      </p:sp>
      <p:sp>
        <p:nvSpPr>
          <p:cNvPr id="45" name="Shape 43"/>
          <p:cNvSpPr/>
          <p:nvPr/>
        </p:nvSpPr>
        <p:spPr>
          <a:xfrm>
            <a:off x="2057400" y="2889504"/>
            <a:ext cx="6309360" cy="3282696"/>
          </a:xfrm>
          <a:prstGeom prst="rect">
            <a:avLst/>
          </a:prstGeom>
          <a:solidFill>
            <a:srgbClr val="FFFFFF"/>
          </a:solidFill>
          <a:ln w="9525">
            <a:solidFill>
              <a:srgbClr val="B0B7C0"/>
            </a:solidFill>
            <a:prstDash val="solid"/>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2130552" y="2962656"/>
          <a:ext cx="6172200" cy="2468880"/>
        </p:xfrm>
        <a:graphic>
          <a:graphicData uri="http://schemas.openxmlformats.org/drawingml/2006/table">
            <a:tbl>
              <a:tblPr/>
              <a:tblGrid>
                <a:gridCol w="9601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274320">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Txn ID</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Time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Customer</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Channel</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lgn="r">
                        <a:buNone/>
                      </a:pPr>
                      <a:r>
                        <a:rPr lang="en-US" sz="900" b="1" dirty="0">
                          <a:solidFill>
                            <a:srgbClr val="2B3440"/>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TXN-100042</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12:01:15</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CUS-00921</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MOBILE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TRANSFER</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₹1,85,000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TXN-100041</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12:01:14</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CUS-00104</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ATM</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WITHDRAWAL</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₹18,000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TXN-100040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12:01:12</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CUS-00177</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WEB</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TRANSFER</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₹3,50,000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tc>
                  <a:txBody>
                    <a:bodyPr/>
                    <a:lstStyle/>
                    <a:p>
                      <a:pPr marL="0" indent="0">
                        <a:buNone/>
                      </a:pPr>
                      <a:r>
                        <a:rPr lang="en-US" sz="900" b="1" dirty="0">
                          <a:solidFill>
                            <a:srgbClr val="9A5E00"/>
                          </a:solidFill>
                          <a:latin typeface="Calibri" pitchFamily="34" charset="0"/>
                          <a:ea typeface="Calibri" pitchFamily="34" charset="-122"/>
                          <a:cs typeface="Calibri" pitchFamily="34" charset="-120"/>
                        </a:rPr>
                        <a:t>FLAGGED</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DF0D5"/>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TXN-100039</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12:01:11</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CUS-00133</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MOBILE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PAYMENT</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₹42,000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TXN-100038</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12:01:09</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CUS-00120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ATM</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WITHDRAWAL</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₹9,500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TXN-100037</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12:01:07</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CUS-00066</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WEB</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TRANSFER</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TXN-100036</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12:01:05</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CUS-00066</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WEB</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TRANSFER</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₹80,000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TXN-100035</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12:01:02</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CUS-00208</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MOBILE</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PAYMENT</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₹12,200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buNone/>
                      </a:pPr>
                      <a:r>
                        <a:rPr lang="en-US" sz="900" b="1" dirty="0">
                          <a:solidFill>
                            <a:srgbClr val="2E9E5B"/>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47" name="Text 44"/>
          <p:cNvSpPr/>
          <p:nvPr/>
        </p:nvSpPr>
        <p:spPr>
          <a:xfrm>
            <a:off x="2194560" y="5797296"/>
            <a:ext cx="2286000" cy="274320"/>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Showing 1–25 of 1,248</a:t>
            </a:r>
            <a:endParaRPr lang="en-US" sz="950" dirty="0"/>
          </a:p>
        </p:txBody>
      </p:sp>
      <p:sp>
        <p:nvSpPr>
          <p:cNvPr id="48" name="Shape 45"/>
          <p:cNvSpPr/>
          <p:nvPr/>
        </p:nvSpPr>
        <p:spPr>
          <a:xfrm>
            <a:off x="6675120" y="5806440"/>
            <a:ext cx="256032" cy="256032"/>
          </a:xfrm>
          <a:prstGeom prst="roundRect">
            <a:avLst>
              <a:gd name="adj" fmla="val 17857"/>
            </a:avLst>
          </a:prstGeom>
          <a:solidFill>
            <a:srgbClr val="FFFFFF"/>
          </a:solidFill>
          <a:ln w="9525">
            <a:solidFill>
              <a:srgbClr val="A5ADB7"/>
            </a:solidFill>
            <a:prstDash val="solid"/>
          </a:ln>
        </p:spPr>
      </p:sp>
      <p:sp>
        <p:nvSpPr>
          <p:cNvPr id="49" name="Text 46"/>
          <p:cNvSpPr/>
          <p:nvPr/>
        </p:nvSpPr>
        <p:spPr>
          <a:xfrm>
            <a:off x="6675120" y="5806440"/>
            <a:ext cx="256032" cy="256032"/>
          </a:xfrm>
          <a:prstGeom prst="rect">
            <a:avLst/>
          </a:prstGeom>
          <a:noFill/>
          <a:ln/>
        </p:spPr>
        <p:txBody>
          <a:bodyPr wrap="square" lIns="0" tIns="0" rIns="0" bIns="0" rtlCol="0" anchor="ctr"/>
          <a:lstStyle/>
          <a:p>
            <a:pPr marL="0" indent="0" algn="ctr">
              <a:buNone/>
            </a:pPr>
            <a:r>
              <a:rPr lang="en-US" sz="950" b="1" dirty="0">
                <a:solidFill>
                  <a:srgbClr val="2B3440"/>
                </a:solidFill>
                <a:latin typeface="Calibri" pitchFamily="34" charset="0"/>
                <a:ea typeface="Calibri" pitchFamily="34" charset="-122"/>
                <a:cs typeface="Calibri" pitchFamily="34" charset="-120"/>
              </a:rPr>
              <a:t>‹</a:t>
            </a:r>
            <a:endParaRPr lang="en-US" sz="950" dirty="0"/>
          </a:p>
        </p:txBody>
      </p:sp>
      <p:sp>
        <p:nvSpPr>
          <p:cNvPr id="50" name="Shape 47"/>
          <p:cNvSpPr/>
          <p:nvPr/>
        </p:nvSpPr>
        <p:spPr>
          <a:xfrm>
            <a:off x="6995160" y="5806440"/>
            <a:ext cx="256032" cy="256032"/>
          </a:xfrm>
          <a:prstGeom prst="roundRect">
            <a:avLst>
              <a:gd name="adj" fmla="val 17857"/>
            </a:avLst>
          </a:prstGeom>
          <a:solidFill>
            <a:srgbClr val="0E9AA7"/>
          </a:solidFill>
          <a:ln w="9525">
            <a:solidFill>
              <a:srgbClr val="0E9AA7"/>
            </a:solidFill>
            <a:prstDash val="solid"/>
          </a:ln>
        </p:spPr>
      </p:sp>
      <p:sp>
        <p:nvSpPr>
          <p:cNvPr id="51" name="Text 48"/>
          <p:cNvSpPr/>
          <p:nvPr/>
        </p:nvSpPr>
        <p:spPr>
          <a:xfrm>
            <a:off x="6995160" y="5806440"/>
            <a:ext cx="256032"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52" name="Shape 49"/>
          <p:cNvSpPr/>
          <p:nvPr/>
        </p:nvSpPr>
        <p:spPr>
          <a:xfrm>
            <a:off x="7315200" y="5806440"/>
            <a:ext cx="256032" cy="256032"/>
          </a:xfrm>
          <a:prstGeom prst="roundRect">
            <a:avLst>
              <a:gd name="adj" fmla="val 17857"/>
            </a:avLst>
          </a:prstGeom>
          <a:solidFill>
            <a:srgbClr val="FFFFFF"/>
          </a:solidFill>
          <a:ln w="9525">
            <a:solidFill>
              <a:srgbClr val="A5ADB7"/>
            </a:solidFill>
            <a:prstDash val="solid"/>
          </a:ln>
        </p:spPr>
      </p:sp>
      <p:sp>
        <p:nvSpPr>
          <p:cNvPr id="53" name="Text 50"/>
          <p:cNvSpPr/>
          <p:nvPr/>
        </p:nvSpPr>
        <p:spPr>
          <a:xfrm>
            <a:off x="7315200" y="5806440"/>
            <a:ext cx="256032" cy="256032"/>
          </a:xfrm>
          <a:prstGeom prst="rect">
            <a:avLst/>
          </a:prstGeom>
          <a:noFill/>
          <a:ln/>
        </p:spPr>
        <p:txBody>
          <a:bodyPr wrap="square" lIns="0" tIns="0" rIns="0" bIns="0" rtlCol="0" anchor="ctr"/>
          <a:lstStyle/>
          <a:p>
            <a:pPr marL="0" indent="0" algn="ctr">
              <a:buNone/>
            </a:pPr>
            <a:r>
              <a:rPr lang="en-US" sz="950" b="1" dirty="0">
                <a:solidFill>
                  <a:srgbClr val="2B3440"/>
                </a:solidFill>
                <a:latin typeface="Calibri" pitchFamily="34" charset="0"/>
                <a:ea typeface="Calibri" pitchFamily="34" charset="-122"/>
                <a:cs typeface="Calibri" pitchFamily="34" charset="-120"/>
              </a:rPr>
              <a:t>2</a:t>
            </a:r>
            <a:endParaRPr lang="en-US" sz="950" dirty="0"/>
          </a:p>
        </p:txBody>
      </p:sp>
      <p:sp>
        <p:nvSpPr>
          <p:cNvPr id="54" name="Shape 51"/>
          <p:cNvSpPr/>
          <p:nvPr/>
        </p:nvSpPr>
        <p:spPr>
          <a:xfrm>
            <a:off x="7635240" y="5806440"/>
            <a:ext cx="256032" cy="256032"/>
          </a:xfrm>
          <a:prstGeom prst="roundRect">
            <a:avLst>
              <a:gd name="adj" fmla="val 17857"/>
            </a:avLst>
          </a:prstGeom>
          <a:solidFill>
            <a:srgbClr val="FFFFFF"/>
          </a:solidFill>
          <a:ln w="9525">
            <a:solidFill>
              <a:srgbClr val="A5ADB7"/>
            </a:solidFill>
            <a:prstDash val="solid"/>
          </a:ln>
        </p:spPr>
      </p:sp>
      <p:sp>
        <p:nvSpPr>
          <p:cNvPr id="55" name="Text 52"/>
          <p:cNvSpPr/>
          <p:nvPr/>
        </p:nvSpPr>
        <p:spPr>
          <a:xfrm>
            <a:off x="7635240" y="5806440"/>
            <a:ext cx="256032" cy="256032"/>
          </a:xfrm>
          <a:prstGeom prst="rect">
            <a:avLst/>
          </a:prstGeom>
          <a:noFill/>
          <a:ln/>
        </p:spPr>
        <p:txBody>
          <a:bodyPr wrap="square" lIns="0" tIns="0" rIns="0" bIns="0" rtlCol="0" anchor="ctr"/>
          <a:lstStyle/>
          <a:p>
            <a:pPr marL="0" indent="0" algn="ctr">
              <a:buNone/>
            </a:pPr>
            <a:r>
              <a:rPr lang="en-US" sz="950" b="1" dirty="0">
                <a:solidFill>
                  <a:srgbClr val="2B3440"/>
                </a:solidFill>
                <a:latin typeface="Calibri" pitchFamily="34" charset="0"/>
                <a:ea typeface="Calibri" pitchFamily="34" charset="-122"/>
                <a:cs typeface="Calibri" pitchFamily="34" charset="-120"/>
              </a:rPr>
              <a:t>3</a:t>
            </a:r>
            <a:endParaRPr lang="en-US" sz="950" dirty="0"/>
          </a:p>
        </p:txBody>
      </p:sp>
      <p:sp>
        <p:nvSpPr>
          <p:cNvPr id="56" name="Shape 53"/>
          <p:cNvSpPr/>
          <p:nvPr/>
        </p:nvSpPr>
        <p:spPr>
          <a:xfrm>
            <a:off x="7955280" y="5806440"/>
            <a:ext cx="256032" cy="256032"/>
          </a:xfrm>
          <a:prstGeom prst="roundRect">
            <a:avLst>
              <a:gd name="adj" fmla="val 17857"/>
            </a:avLst>
          </a:prstGeom>
          <a:solidFill>
            <a:srgbClr val="FFFFFF"/>
          </a:solidFill>
          <a:ln w="9525">
            <a:solidFill>
              <a:srgbClr val="A5ADB7"/>
            </a:solidFill>
            <a:prstDash val="solid"/>
          </a:ln>
        </p:spPr>
      </p:sp>
      <p:sp>
        <p:nvSpPr>
          <p:cNvPr id="57" name="Text 54"/>
          <p:cNvSpPr/>
          <p:nvPr/>
        </p:nvSpPr>
        <p:spPr>
          <a:xfrm>
            <a:off x="7955280" y="5806440"/>
            <a:ext cx="256032" cy="256032"/>
          </a:xfrm>
          <a:prstGeom prst="rect">
            <a:avLst/>
          </a:prstGeom>
          <a:noFill/>
          <a:ln/>
        </p:spPr>
        <p:txBody>
          <a:bodyPr wrap="square" lIns="0" tIns="0" rIns="0" bIns="0" rtlCol="0" anchor="ctr"/>
          <a:lstStyle/>
          <a:p>
            <a:pPr marL="0" indent="0" algn="ctr">
              <a:buNone/>
            </a:pPr>
            <a:r>
              <a:rPr lang="en-US" sz="950" b="1" dirty="0">
                <a:solidFill>
                  <a:srgbClr val="2B3440"/>
                </a:solidFill>
                <a:latin typeface="Calibri" pitchFamily="34" charset="0"/>
                <a:ea typeface="Calibri" pitchFamily="34" charset="-122"/>
                <a:cs typeface="Calibri" pitchFamily="34" charset="-120"/>
              </a:rPr>
              <a:t>›</a:t>
            </a:r>
            <a:endParaRPr lang="en-US" sz="950" dirty="0"/>
          </a:p>
        </p:txBody>
      </p:sp>
      <p:sp>
        <p:nvSpPr>
          <p:cNvPr id="58" name="Shape 55"/>
          <p:cNvSpPr/>
          <p:nvPr/>
        </p:nvSpPr>
        <p:spPr>
          <a:xfrm>
            <a:off x="1883664" y="2148840"/>
            <a:ext cx="246888" cy="246888"/>
          </a:xfrm>
          <a:prstGeom prst="ellipse">
            <a:avLst/>
          </a:prstGeom>
          <a:solidFill>
            <a:srgbClr val="D1495B"/>
          </a:solidFill>
          <a:ln w="15875">
            <a:solidFill>
              <a:srgbClr val="FFFFFF"/>
            </a:solidFill>
            <a:prstDash val="solid"/>
          </a:ln>
        </p:spPr>
      </p:sp>
      <p:sp>
        <p:nvSpPr>
          <p:cNvPr id="59" name="Text 56"/>
          <p:cNvSpPr/>
          <p:nvPr/>
        </p:nvSpPr>
        <p:spPr>
          <a:xfrm>
            <a:off x="1883664" y="214884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0" name="Shape 57"/>
          <p:cNvSpPr/>
          <p:nvPr/>
        </p:nvSpPr>
        <p:spPr>
          <a:xfrm>
            <a:off x="1883664" y="2816352"/>
            <a:ext cx="246888" cy="246888"/>
          </a:xfrm>
          <a:prstGeom prst="ellipse">
            <a:avLst/>
          </a:prstGeom>
          <a:solidFill>
            <a:srgbClr val="D1495B"/>
          </a:solidFill>
          <a:ln w="15875">
            <a:solidFill>
              <a:srgbClr val="FFFFFF"/>
            </a:solidFill>
            <a:prstDash val="solid"/>
          </a:ln>
        </p:spPr>
      </p:sp>
      <p:sp>
        <p:nvSpPr>
          <p:cNvPr id="61" name="Text 58"/>
          <p:cNvSpPr/>
          <p:nvPr/>
        </p:nvSpPr>
        <p:spPr>
          <a:xfrm>
            <a:off x="1883664" y="281635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2" name="Shape 59"/>
          <p:cNvSpPr/>
          <p:nvPr/>
        </p:nvSpPr>
        <p:spPr>
          <a:xfrm>
            <a:off x="7086600" y="2816352"/>
            <a:ext cx="246888" cy="246888"/>
          </a:xfrm>
          <a:prstGeom prst="ellipse">
            <a:avLst/>
          </a:prstGeom>
          <a:solidFill>
            <a:srgbClr val="D1495B"/>
          </a:solidFill>
          <a:ln w="15875">
            <a:solidFill>
              <a:srgbClr val="FFFFFF"/>
            </a:solidFill>
            <a:prstDash val="solid"/>
          </a:ln>
        </p:spPr>
      </p:sp>
      <p:sp>
        <p:nvSpPr>
          <p:cNvPr id="63" name="Text 60"/>
          <p:cNvSpPr/>
          <p:nvPr/>
        </p:nvSpPr>
        <p:spPr>
          <a:xfrm>
            <a:off x="7086600" y="281635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4" name="Shape 61"/>
          <p:cNvSpPr/>
          <p:nvPr/>
        </p:nvSpPr>
        <p:spPr>
          <a:xfrm>
            <a:off x="6537960" y="5687568"/>
            <a:ext cx="246888" cy="246888"/>
          </a:xfrm>
          <a:prstGeom prst="ellipse">
            <a:avLst/>
          </a:prstGeom>
          <a:solidFill>
            <a:srgbClr val="D1495B"/>
          </a:solidFill>
          <a:ln w="15875">
            <a:solidFill>
              <a:srgbClr val="FFFFFF"/>
            </a:solidFill>
            <a:prstDash val="solid"/>
          </a:ln>
        </p:spPr>
      </p:sp>
      <p:sp>
        <p:nvSpPr>
          <p:cNvPr id="65" name="Text 62"/>
          <p:cNvSpPr/>
          <p:nvPr/>
        </p:nvSpPr>
        <p:spPr>
          <a:xfrm>
            <a:off x="6537960" y="568756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66" name="Shape 63"/>
          <p:cNvSpPr/>
          <p:nvPr/>
        </p:nvSpPr>
        <p:spPr>
          <a:xfrm>
            <a:off x="8183880" y="1664208"/>
            <a:ext cx="246888" cy="246888"/>
          </a:xfrm>
          <a:prstGeom prst="ellipse">
            <a:avLst/>
          </a:prstGeom>
          <a:solidFill>
            <a:srgbClr val="D1495B"/>
          </a:solidFill>
          <a:ln w="15875">
            <a:solidFill>
              <a:srgbClr val="FFFFFF"/>
            </a:solidFill>
            <a:prstDash val="solid"/>
          </a:ln>
        </p:spPr>
      </p:sp>
      <p:sp>
        <p:nvSpPr>
          <p:cNvPr id="67" name="Text 64"/>
          <p:cNvSpPr/>
          <p:nvPr/>
        </p:nvSpPr>
        <p:spPr>
          <a:xfrm>
            <a:off x="8183880" y="16642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68" name="Shape 65"/>
          <p:cNvSpPr/>
          <p:nvPr/>
        </p:nvSpPr>
        <p:spPr>
          <a:xfrm>
            <a:off x="8778240" y="1371600"/>
            <a:ext cx="2862072" cy="4892040"/>
          </a:xfrm>
          <a:prstGeom prst="rect">
            <a:avLst/>
          </a:prstGeom>
          <a:solidFill>
            <a:srgbClr val="FFFFFF"/>
          </a:solidFill>
          <a:ln w="9525">
            <a:solidFill>
              <a:srgbClr val="D0D6DD"/>
            </a:solidFill>
            <a:prstDash val="solid"/>
          </a:ln>
          <a:effectLst>
            <a:outerShdw blurRad="76200" dist="25400" dir="8100000" algn="bl" rotWithShape="0">
              <a:srgbClr val="000000">
                <a:alpha val="10000"/>
              </a:srgbClr>
            </a:outerShdw>
          </a:effectLst>
        </p:spPr>
      </p:sp>
      <p:sp>
        <p:nvSpPr>
          <p:cNvPr id="69" name="Text 66"/>
          <p:cNvSpPr/>
          <p:nvPr/>
        </p:nvSpPr>
        <p:spPr>
          <a:xfrm>
            <a:off x="8961120" y="1481328"/>
            <a:ext cx="2496312" cy="274320"/>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ANNOTATIONS</a:t>
            </a:r>
            <a:endParaRPr lang="en-US" sz="1100" dirty="0"/>
          </a:p>
        </p:txBody>
      </p:sp>
      <p:sp>
        <p:nvSpPr>
          <p:cNvPr id="70" name="Shape 67"/>
          <p:cNvSpPr/>
          <p:nvPr/>
        </p:nvSpPr>
        <p:spPr>
          <a:xfrm>
            <a:off x="8942832" y="1892808"/>
            <a:ext cx="246888" cy="246888"/>
          </a:xfrm>
          <a:prstGeom prst="ellipse">
            <a:avLst/>
          </a:prstGeom>
          <a:solidFill>
            <a:srgbClr val="D1495B"/>
          </a:solidFill>
          <a:ln w="15875">
            <a:solidFill>
              <a:srgbClr val="FFFFFF"/>
            </a:solidFill>
            <a:prstDash val="solid"/>
          </a:ln>
        </p:spPr>
      </p:sp>
      <p:sp>
        <p:nvSpPr>
          <p:cNvPr id="71" name="Text 68"/>
          <p:cNvSpPr/>
          <p:nvPr/>
        </p:nvSpPr>
        <p:spPr>
          <a:xfrm>
            <a:off x="8942832" y="18928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2" name="Text 69"/>
          <p:cNvSpPr/>
          <p:nvPr/>
        </p:nvSpPr>
        <p:spPr>
          <a:xfrm>
            <a:off x="9308592" y="1874520"/>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Filter bar</a:t>
            </a:r>
            <a:endParaRPr lang="en-US" sz="1150" dirty="0"/>
          </a:p>
        </p:txBody>
      </p:sp>
      <p:sp>
        <p:nvSpPr>
          <p:cNvPr id="73" name="Text 70"/>
          <p:cNvSpPr/>
          <p:nvPr/>
        </p:nvSpPr>
        <p:spPr>
          <a:xfrm>
            <a:off x="9308592" y="2121408"/>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Free text, channel, status and amount range. Applied as query parameters on GET /api/transactions.</a:t>
            </a:r>
            <a:endParaRPr lang="en-US" sz="1000" dirty="0"/>
          </a:p>
        </p:txBody>
      </p:sp>
      <p:sp>
        <p:nvSpPr>
          <p:cNvPr id="74" name="Shape 71"/>
          <p:cNvSpPr/>
          <p:nvPr/>
        </p:nvSpPr>
        <p:spPr>
          <a:xfrm>
            <a:off x="8942832" y="2770632"/>
            <a:ext cx="246888" cy="246888"/>
          </a:xfrm>
          <a:prstGeom prst="ellipse">
            <a:avLst/>
          </a:prstGeom>
          <a:solidFill>
            <a:srgbClr val="D1495B"/>
          </a:solidFill>
          <a:ln w="15875">
            <a:solidFill>
              <a:srgbClr val="FFFFFF"/>
            </a:solidFill>
            <a:prstDash val="solid"/>
          </a:ln>
        </p:spPr>
      </p:sp>
      <p:sp>
        <p:nvSpPr>
          <p:cNvPr id="75" name="Text 72"/>
          <p:cNvSpPr/>
          <p:nvPr/>
        </p:nvSpPr>
        <p:spPr>
          <a:xfrm>
            <a:off x="8942832" y="277063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6" name="Text 73"/>
          <p:cNvSpPr/>
          <p:nvPr/>
        </p:nvSpPr>
        <p:spPr>
          <a:xfrm>
            <a:off x="9308592" y="2752344"/>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Results table</a:t>
            </a:r>
            <a:endParaRPr lang="en-US" sz="1150" dirty="0"/>
          </a:p>
        </p:txBody>
      </p:sp>
      <p:sp>
        <p:nvSpPr>
          <p:cNvPr id="77" name="Text 74"/>
          <p:cNvSpPr/>
          <p:nvPr/>
        </p:nvSpPr>
        <p:spPr>
          <a:xfrm>
            <a:off x="9308592" y="2999232"/>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Sorted by time, newest first. Amber row = transaction that raised an alert.</a:t>
            </a:r>
            <a:endParaRPr lang="en-US" sz="1000" dirty="0"/>
          </a:p>
        </p:txBody>
      </p:sp>
      <p:sp>
        <p:nvSpPr>
          <p:cNvPr id="78" name="Shape 75"/>
          <p:cNvSpPr/>
          <p:nvPr/>
        </p:nvSpPr>
        <p:spPr>
          <a:xfrm>
            <a:off x="8942832" y="3648456"/>
            <a:ext cx="246888" cy="246888"/>
          </a:xfrm>
          <a:prstGeom prst="ellipse">
            <a:avLst/>
          </a:prstGeom>
          <a:solidFill>
            <a:srgbClr val="D1495B"/>
          </a:solidFill>
          <a:ln w="15875">
            <a:solidFill>
              <a:srgbClr val="FFFFFF"/>
            </a:solidFill>
            <a:prstDash val="solid"/>
          </a:ln>
        </p:spPr>
      </p:sp>
      <p:sp>
        <p:nvSpPr>
          <p:cNvPr id="79" name="Text 76"/>
          <p:cNvSpPr/>
          <p:nvPr/>
        </p:nvSpPr>
        <p:spPr>
          <a:xfrm>
            <a:off x="8942832" y="364845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80" name="Text 77"/>
          <p:cNvSpPr/>
          <p:nvPr/>
        </p:nvSpPr>
        <p:spPr>
          <a:xfrm>
            <a:off x="9308592" y="3630168"/>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Status column</a:t>
            </a:r>
            <a:endParaRPr lang="en-US" sz="1150" dirty="0"/>
          </a:p>
        </p:txBody>
      </p:sp>
      <p:sp>
        <p:nvSpPr>
          <p:cNvPr id="81" name="Text 78"/>
          <p:cNvSpPr/>
          <p:nvPr/>
        </p:nvSpPr>
        <p:spPr>
          <a:xfrm>
            <a:off x="9308592" y="3877056"/>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OK or FLAGGED. Flagged rows link to the related alert in S3.</a:t>
            </a:r>
            <a:endParaRPr lang="en-US" sz="1000" dirty="0"/>
          </a:p>
        </p:txBody>
      </p:sp>
      <p:sp>
        <p:nvSpPr>
          <p:cNvPr id="82" name="Shape 79"/>
          <p:cNvSpPr/>
          <p:nvPr/>
        </p:nvSpPr>
        <p:spPr>
          <a:xfrm>
            <a:off x="8942832" y="4526280"/>
            <a:ext cx="246888" cy="246888"/>
          </a:xfrm>
          <a:prstGeom prst="ellipse">
            <a:avLst/>
          </a:prstGeom>
          <a:solidFill>
            <a:srgbClr val="D1495B"/>
          </a:solidFill>
          <a:ln w="15875">
            <a:solidFill>
              <a:srgbClr val="FFFFFF"/>
            </a:solidFill>
            <a:prstDash val="solid"/>
          </a:ln>
        </p:spPr>
      </p:sp>
      <p:sp>
        <p:nvSpPr>
          <p:cNvPr id="83" name="Text 80"/>
          <p:cNvSpPr/>
          <p:nvPr/>
        </p:nvSpPr>
        <p:spPr>
          <a:xfrm>
            <a:off x="8942832" y="452628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84" name="Text 81"/>
          <p:cNvSpPr/>
          <p:nvPr/>
        </p:nvSpPr>
        <p:spPr>
          <a:xfrm>
            <a:off x="9308592" y="4507992"/>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Pagination</a:t>
            </a:r>
            <a:endParaRPr lang="en-US" sz="1150" dirty="0"/>
          </a:p>
        </p:txBody>
      </p:sp>
      <p:sp>
        <p:nvSpPr>
          <p:cNvPr id="85" name="Text 82"/>
          <p:cNvSpPr/>
          <p:nvPr/>
        </p:nvSpPr>
        <p:spPr>
          <a:xfrm>
            <a:off x="9308592" y="4754880"/>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Server-side paging, 25 rows per page, so the table stays fast.</a:t>
            </a:r>
            <a:endParaRPr lang="en-US" sz="1000" dirty="0"/>
          </a:p>
        </p:txBody>
      </p:sp>
      <p:sp>
        <p:nvSpPr>
          <p:cNvPr id="86" name="Shape 83"/>
          <p:cNvSpPr/>
          <p:nvPr/>
        </p:nvSpPr>
        <p:spPr>
          <a:xfrm>
            <a:off x="8942832" y="5404104"/>
            <a:ext cx="246888" cy="246888"/>
          </a:xfrm>
          <a:prstGeom prst="ellipse">
            <a:avLst/>
          </a:prstGeom>
          <a:solidFill>
            <a:srgbClr val="D1495B"/>
          </a:solidFill>
          <a:ln w="15875">
            <a:solidFill>
              <a:srgbClr val="FFFFFF"/>
            </a:solidFill>
            <a:prstDash val="solid"/>
          </a:ln>
        </p:spPr>
      </p:sp>
      <p:sp>
        <p:nvSpPr>
          <p:cNvPr id="87" name="Text 84"/>
          <p:cNvSpPr/>
          <p:nvPr/>
        </p:nvSpPr>
        <p:spPr>
          <a:xfrm>
            <a:off x="8942832" y="5404104"/>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88" name="Text 85"/>
          <p:cNvSpPr/>
          <p:nvPr/>
        </p:nvSpPr>
        <p:spPr>
          <a:xfrm>
            <a:off x="9308592" y="5385816"/>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Export CSV</a:t>
            </a:r>
            <a:endParaRPr lang="en-US" sz="1150" dirty="0"/>
          </a:p>
        </p:txBody>
      </p:sp>
      <p:sp>
        <p:nvSpPr>
          <p:cNvPr id="89" name="Text 86"/>
          <p:cNvSpPr/>
          <p:nvPr/>
        </p:nvSpPr>
        <p:spPr>
          <a:xfrm>
            <a:off x="9308592" y="5632704"/>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Downloads the current filtered result set.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A7"/>
          </a:solidFill>
          <a:ln w="12700">
            <a:solidFill>
              <a:srgbClr val="0E9AA7"/>
            </a:solidFill>
            <a:prstDash val="solid"/>
          </a:ln>
        </p:spPr>
      </p:sp>
      <p:sp>
        <p:nvSpPr>
          <p:cNvPr id="3" name="Shape 1"/>
          <p:cNvSpPr/>
          <p:nvPr/>
        </p:nvSpPr>
        <p:spPr>
          <a:xfrm>
            <a:off x="548640" y="384048"/>
            <a:ext cx="566928" cy="347472"/>
          </a:xfrm>
          <a:prstGeom prst="roundRect">
            <a:avLst>
              <a:gd name="adj" fmla="val 21053"/>
            </a:avLst>
          </a:prstGeom>
          <a:solidFill>
            <a:srgbClr val="14213D"/>
          </a:solidFill>
          <a:ln w="12700">
            <a:solidFill>
              <a:srgbClr val="14213D"/>
            </a:solidFill>
            <a:prstDash val="solid"/>
          </a:ln>
        </p:spPr>
      </p:sp>
      <p:sp>
        <p:nvSpPr>
          <p:cNvPr id="4" name="Text 2"/>
          <p:cNvSpPr/>
          <p:nvPr/>
        </p:nvSpPr>
        <p:spPr>
          <a:xfrm>
            <a:off x="548640" y="384048"/>
            <a:ext cx="56692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S3</a:t>
            </a:r>
            <a:endParaRPr lang="en-US" sz="1300" dirty="0"/>
          </a:p>
        </p:txBody>
      </p:sp>
      <p:sp>
        <p:nvSpPr>
          <p:cNvPr id="5" name="Text 3"/>
          <p:cNvSpPr/>
          <p:nvPr/>
        </p:nvSpPr>
        <p:spPr>
          <a:xfrm>
            <a:off x="1280160" y="320040"/>
            <a:ext cx="10332720" cy="475488"/>
          </a:xfrm>
          <a:prstGeom prst="rect">
            <a:avLst/>
          </a:prstGeom>
          <a:noFill/>
          <a:ln/>
        </p:spPr>
        <p:txBody>
          <a:bodyPr wrap="square" lIns="0" tIns="0" rIns="0" bIns="0" rtlCol="0" anchor="ctr"/>
          <a:lstStyle/>
          <a:p>
            <a:pPr marL="0" indent="0" algn="l">
              <a:buNone/>
            </a:pPr>
            <a:r>
              <a:rPr lang="en-US" sz="2800" b="1" dirty="0">
                <a:solidFill>
                  <a:srgbClr val="14213D"/>
                </a:solidFill>
                <a:latin typeface="Calibri" pitchFamily="34" charset="0"/>
                <a:ea typeface="Calibri" pitchFamily="34" charset="-122"/>
                <a:cs typeface="Calibri" pitchFamily="34" charset="-120"/>
              </a:rPr>
              <a:t>Alerts Queue and Detail Drawer</a:t>
            </a:r>
            <a:endParaRPr lang="en-US" sz="2800" dirty="0"/>
          </a:p>
        </p:txBody>
      </p:sp>
      <p:sp>
        <p:nvSpPr>
          <p:cNvPr id="6" name="Text 4"/>
          <p:cNvSpPr/>
          <p:nvPr/>
        </p:nvSpPr>
        <p:spPr>
          <a:xfrm>
            <a:off x="1280160" y="841248"/>
            <a:ext cx="10789920" cy="365760"/>
          </a:xfrm>
          <a:prstGeom prst="rect">
            <a:avLst/>
          </a:prstGeom>
          <a:noFill/>
          <a:ln/>
        </p:spPr>
        <p:txBody>
          <a:bodyPr wrap="square" lIns="0" tIns="0" rIns="0" bIns="0" rtlCol="0" anchor="ctr"/>
          <a:lstStyle/>
          <a:p>
            <a:pPr marL="0" indent="0" algn="l">
              <a:buNone/>
            </a:pPr>
            <a:r>
              <a:rPr lang="en-US" sz="1400" dirty="0">
                <a:solidFill>
                  <a:srgbClr val="5B6675"/>
                </a:solidFill>
                <a:latin typeface="Calibri" pitchFamily="34" charset="0"/>
                <a:ea typeface="Calibri" pitchFamily="34" charset="-122"/>
                <a:cs typeface="Calibri" pitchFamily="34" charset="-120"/>
              </a:rPr>
              <a:t>Review a high-risk alert and see why the stream processor flagged it</a:t>
            </a:r>
            <a:endParaRPr lang="en-US" sz="1400" dirty="0"/>
          </a:p>
        </p:txBody>
      </p:sp>
      <p:sp>
        <p:nvSpPr>
          <p:cNvPr id="7" name="Text 5"/>
          <p:cNvSpPr/>
          <p:nvPr/>
        </p:nvSpPr>
        <p:spPr>
          <a:xfrm>
            <a:off x="548640" y="6446520"/>
            <a:ext cx="6400800" cy="256032"/>
          </a:xfrm>
          <a:prstGeom prst="rect">
            <a:avLst/>
          </a:prstGeom>
          <a:noFill/>
          <a:ln/>
        </p:spPr>
        <p:txBody>
          <a:bodyPr wrap="square" lIns="0" tIns="0" rIns="0" bIns="0" rtlCol="0" anchor="ctr"/>
          <a:lstStyle/>
          <a:p>
            <a:pPr marL="0" indent="0" algn="l">
              <a:buNone/>
            </a:pPr>
            <a:r>
              <a:rPr lang="en-US" sz="1000" dirty="0">
                <a:solidFill>
                  <a:srgbClr val="5B6675"/>
                </a:solidFill>
                <a:latin typeface="Calibri" pitchFamily="34" charset="0"/>
                <a:ea typeface="Calibri" pitchFamily="34" charset="-122"/>
                <a:cs typeface="Calibri" pitchFamily="34" charset="-120"/>
              </a:rPr>
              <a:t>Prototype Wireframes  |  Kafka Streams Real-Time Ingestion</a:t>
            </a:r>
            <a:endParaRPr lang="en-US" sz="1000" dirty="0"/>
          </a:p>
        </p:txBody>
      </p:sp>
      <p:sp>
        <p:nvSpPr>
          <p:cNvPr id="8" name="Text 6"/>
          <p:cNvSpPr/>
          <p:nvPr/>
        </p:nvSpPr>
        <p:spPr>
          <a:xfrm>
            <a:off x="11155680" y="6446520"/>
            <a:ext cx="548640" cy="256032"/>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5</a:t>
            </a:r>
            <a:endParaRPr lang="en-US" sz="1000" dirty="0"/>
          </a:p>
        </p:txBody>
      </p:sp>
      <p:sp>
        <p:nvSpPr>
          <p:cNvPr id="9" name="Shape 7"/>
          <p:cNvSpPr/>
          <p:nvPr/>
        </p:nvSpPr>
        <p:spPr>
          <a:xfrm>
            <a:off x="548640" y="1371600"/>
            <a:ext cx="7955280" cy="4892040"/>
          </a:xfrm>
          <a:prstGeom prst="rect">
            <a:avLst/>
          </a:prstGeom>
          <a:solidFill>
            <a:srgbClr val="FFFFFF"/>
          </a:solidFill>
          <a:ln w="15875">
            <a:solidFill>
              <a:srgbClr val="8A94A0"/>
            </a:solidFill>
            <a:prstDash val="solid"/>
          </a:ln>
          <a:effectLst>
            <a:outerShdw blurRad="76200" dist="25400" dir="8100000" algn="bl" rotWithShape="0">
              <a:srgbClr val="000000">
                <a:alpha val="10000"/>
              </a:srgbClr>
            </a:outerShdw>
          </a:effectLst>
        </p:spPr>
      </p:sp>
      <p:sp>
        <p:nvSpPr>
          <p:cNvPr id="10" name="Shape 8"/>
          <p:cNvSpPr/>
          <p:nvPr/>
        </p:nvSpPr>
        <p:spPr>
          <a:xfrm>
            <a:off x="548640" y="1371600"/>
            <a:ext cx="7955280" cy="292608"/>
          </a:xfrm>
          <a:prstGeom prst="rect">
            <a:avLst/>
          </a:prstGeom>
          <a:solidFill>
            <a:srgbClr val="D5DAE0"/>
          </a:solidFill>
          <a:ln w="12700">
            <a:solidFill>
              <a:srgbClr val="D5DAE0"/>
            </a:solidFill>
            <a:prstDash val="solid"/>
          </a:ln>
        </p:spPr>
      </p:sp>
      <p:sp>
        <p:nvSpPr>
          <p:cNvPr id="11" name="Shape 9"/>
          <p:cNvSpPr/>
          <p:nvPr/>
        </p:nvSpPr>
        <p:spPr>
          <a:xfrm>
            <a:off x="676656" y="1463040"/>
            <a:ext cx="109728" cy="109728"/>
          </a:xfrm>
          <a:prstGeom prst="ellipse">
            <a:avLst/>
          </a:prstGeom>
          <a:solidFill>
            <a:srgbClr val="9AA3AE"/>
          </a:solidFill>
          <a:ln w="12700">
            <a:solidFill>
              <a:srgbClr val="9AA3AE"/>
            </a:solidFill>
            <a:prstDash val="solid"/>
          </a:ln>
        </p:spPr>
      </p:sp>
      <p:sp>
        <p:nvSpPr>
          <p:cNvPr id="12" name="Shape 10"/>
          <p:cNvSpPr/>
          <p:nvPr/>
        </p:nvSpPr>
        <p:spPr>
          <a:xfrm>
            <a:off x="859536" y="1463040"/>
            <a:ext cx="109728" cy="109728"/>
          </a:xfrm>
          <a:prstGeom prst="ellipse">
            <a:avLst/>
          </a:prstGeom>
          <a:solidFill>
            <a:srgbClr val="9AA3AE"/>
          </a:solidFill>
          <a:ln w="12700">
            <a:solidFill>
              <a:srgbClr val="9AA3AE"/>
            </a:solidFill>
            <a:prstDash val="solid"/>
          </a:ln>
        </p:spPr>
      </p:sp>
      <p:sp>
        <p:nvSpPr>
          <p:cNvPr id="13" name="Shape 11"/>
          <p:cNvSpPr/>
          <p:nvPr/>
        </p:nvSpPr>
        <p:spPr>
          <a:xfrm>
            <a:off x="1042416" y="1463040"/>
            <a:ext cx="109728" cy="109728"/>
          </a:xfrm>
          <a:prstGeom prst="ellipse">
            <a:avLst/>
          </a:prstGeom>
          <a:solidFill>
            <a:srgbClr val="9AA3AE"/>
          </a:solidFill>
          <a:ln w="12700">
            <a:solidFill>
              <a:srgbClr val="9AA3AE"/>
            </a:solidFill>
            <a:prstDash val="solid"/>
          </a:ln>
        </p:spPr>
      </p:sp>
      <p:sp>
        <p:nvSpPr>
          <p:cNvPr id="14" name="Shape 12"/>
          <p:cNvSpPr/>
          <p:nvPr/>
        </p:nvSpPr>
        <p:spPr>
          <a:xfrm>
            <a:off x="1371600" y="1426464"/>
            <a:ext cx="3108960" cy="182880"/>
          </a:xfrm>
          <a:prstGeom prst="roundRect">
            <a:avLst>
              <a:gd name="adj" fmla="val 25000"/>
            </a:avLst>
          </a:prstGeom>
          <a:solidFill>
            <a:srgbClr val="FFFFFF"/>
          </a:solidFill>
          <a:ln w="12700">
            <a:solidFill>
              <a:srgbClr val="FFFFFF"/>
            </a:solidFill>
            <a:prstDash val="solid"/>
          </a:ln>
        </p:spPr>
      </p:sp>
      <p:sp>
        <p:nvSpPr>
          <p:cNvPr id="15" name="Text 13"/>
          <p:cNvSpPr/>
          <p:nvPr/>
        </p:nvSpPr>
        <p:spPr>
          <a:xfrm>
            <a:off x="1463040" y="1426464"/>
            <a:ext cx="2926080" cy="182880"/>
          </a:xfrm>
          <a:prstGeom prst="rect">
            <a:avLst/>
          </a:prstGeom>
          <a:noFill/>
          <a:ln/>
        </p:spPr>
        <p:txBody>
          <a:bodyPr wrap="square" lIns="0" tIns="0" rIns="0" bIns="0" rtlCol="0" anchor="ctr"/>
          <a:lstStyle/>
          <a:p>
            <a:pPr marL="0" indent="0" algn="l">
              <a:buNone/>
            </a:pPr>
            <a:r>
              <a:rPr lang="en-US" sz="800" dirty="0">
                <a:solidFill>
                  <a:srgbClr val="5B6675"/>
                </a:solidFill>
                <a:latin typeface="Calibri" pitchFamily="34" charset="0"/>
                <a:ea typeface="Calibri" pitchFamily="34" charset="-122"/>
                <a:cs typeface="Calibri" pitchFamily="34" charset="-120"/>
              </a:rPr>
              <a:t>localhost:3000/alerts</a:t>
            </a:r>
            <a:endParaRPr lang="en-US" sz="800" dirty="0"/>
          </a:p>
        </p:txBody>
      </p:sp>
      <p:sp>
        <p:nvSpPr>
          <p:cNvPr id="16" name="Shape 14"/>
          <p:cNvSpPr/>
          <p:nvPr/>
        </p:nvSpPr>
        <p:spPr>
          <a:xfrm>
            <a:off x="548640" y="1664208"/>
            <a:ext cx="1371600" cy="4599432"/>
          </a:xfrm>
          <a:prstGeom prst="rect">
            <a:avLst/>
          </a:prstGeom>
          <a:solidFill>
            <a:srgbClr val="ECEFF3"/>
          </a:solidFill>
          <a:ln w="12700">
            <a:solidFill>
              <a:srgbClr val="ECEFF3"/>
            </a:solidFill>
            <a:prstDash val="solid"/>
          </a:ln>
        </p:spPr>
      </p:sp>
      <p:sp>
        <p:nvSpPr>
          <p:cNvPr id="17" name="Shape 15"/>
          <p:cNvSpPr/>
          <p:nvPr/>
        </p:nvSpPr>
        <p:spPr>
          <a:xfrm>
            <a:off x="1920240" y="1664208"/>
            <a:ext cx="0" cy="4599432"/>
          </a:xfrm>
          <a:prstGeom prst="line">
            <a:avLst/>
          </a:prstGeom>
          <a:noFill/>
          <a:ln w="9525">
            <a:solidFill>
              <a:srgbClr val="B0B7C0"/>
            </a:solidFill>
            <a:prstDash val="solid"/>
          </a:ln>
        </p:spPr>
      </p:sp>
      <p:sp>
        <p:nvSpPr>
          <p:cNvPr id="18" name="Shape 16"/>
          <p:cNvSpPr/>
          <p:nvPr/>
        </p:nvSpPr>
        <p:spPr>
          <a:xfrm>
            <a:off x="685800" y="1801368"/>
            <a:ext cx="219456" cy="219456"/>
          </a:xfrm>
          <a:prstGeom prst="rect">
            <a:avLst/>
          </a:prstGeom>
          <a:solidFill>
            <a:srgbClr val="14213D"/>
          </a:solidFill>
          <a:ln w="12700">
            <a:solidFill>
              <a:srgbClr val="14213D"/>
            </a:solidFill>
            <a:prstDash val="solid"/>
          </a:ln>
        </p:spPr>
      </p:sp>
      <p:sp>
        <p:nvSpPr>
          <p:cNvPr id="19" name="Text 17"/>
          <p:cNvSpPr/>
          <p:nvPr/>
        </p:nvSpPr>
        <p:spPr>
          <a:xfrm>
            <a:off x="978408" y="1783080"/>
            <a:ext cx="914400" cy="256032"/>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TxnWatch</a:t>
            </a:r>
            <a:endParaRPr lang="en-US" sz="1150" dirty="0"/>
          </a:p>
        </p:txBody>
      </p:sp>
      <p:sp>
        <p:nvSpPr>
          <p:cNvPr id="20" name="Shape 18"/>
          <p:cNvSpPr/>
          <p:nvPr/>
        </p:nvSpPr>
        <p:spPr>
          <a:xfrm>
            <a:off x="713232" y="2331720"/>
            <a:ext cx="128016" cy="128016"/>
          </a:xfrm>
          <a:prstGeom prst="rect">
            <a:avLst/>
          </a:prstGeom>
          <a:solidFill>
            <a:srgbClr val="C9CFD6"/>
          </a:solidFill>
          <a:ln w="12700">
            <a:solidFill>
              <a:srgbClr val="C9CFD6"/>
            </a:solidFill>
            <a:prstDash val="solid"/>
          </a:ln>
        </p:spPr>
      </p:sp>
      <p:sp>
        <p:nvSpPr>
          <p:cNvPr id="21" name="Text 19"/>
          <p:cNvSpPr/>
          <p:nvPr/>
        </p:nvSpPr>
        <p:spPr>
          <a:xfrm>
            <a:off x="914400" y="2240280"/>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Live Dashboard</a:t>
            </a:r>
            <a:endParaRPr lang="en-US" sz="1000" dirty="0"/>
          </a:p>
        </p:txBody>
      </p:sp>
      <p:sp>
        <p:nvSpPr>
          <p:cNvPr id="22" name="Shape 20"/>
          <p:cNvSpPr/>
          <p:nvPr/>
        </p:nvSpPr>
        <p:spPr>
          <a:xfrm>
            <a:off x="713232" y="2715768"/>
            <a:ext cx="128016" cy="128016"/>
          </a:xfrm>
          <a:prstGeom prst="rect">
            <a:avLst/>
          </a:prstGeom>
          <a:solidFill>
            <a:srgbClr val="C9CFD6"/>
          </a:solidFill>
          <a:ln w="12700">
            <a:solidFill>
              <a:srgbClr val="C9CFD6"/>
            </a:solidFill>
            <a:prstDash val="solid"/>
          </a:ln>
        </p:spPr>
      </p:sp>
      <p:sp>
        <p:nvSpPr>
          <p:cNvPr id="23" name="Text 21"/>
          <p:cNvSpPr/>
          <p:nvPr/>
        </p:nvSpPr>
        <p:spPr>
          <a:xfrm>
            <a:off x="914400" y="2624328"/>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Transactions</a:t>
            </a:r>
            <a:endParaRPr lang="en-US" sz="1000" dirty="0"/>
          </a:p>
        </p:txBody>
      </p:sp>
      <p:sp>
        <p:nvSpPr>
          <p:cNvPr id="24" name="Shape 22"/>
          <p:cNvSpPr/>
          <p:nvPr/>
        </p:nvSpPr>
        <p:spPr>
          <a:xfrm>
            <a:off x="621792" y="3008376"/>
            <a:ext cx="1225296" cy="310896"/>
          </a:xfrm>
          <a:prstGeom prst="roundRect">
            <a:avLst>
              <a:gd name="adj" fmla="val 14706"/>
            </a:avLst>
          </a:prstGeom>
          <a:solidFill>
            <a:srgbClr val="0E9AA7"/>
          </a:solidFill>
          <a:ln w="12700">
            <a:solidFill>
              <a:srgbClr val="0E9AA7"/>
            </a:solidFill>
            <a:prstDash val="solid"/>
          </a:ln>
        </p:spPr>
      </p:sp>
      <p:sp>
        <p:nvSpPr>
          <p:cNvPr id="25" name="Text 23"/>
          <p:cNvSpPr/>
          <p:nvPr/>
        </p:nvSpPr>
        <p:spPr>
          <a:xfrm>
            <a:off x="731520" y="3008376"/>
            <a:ext cx="109728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Alerts</a:t>
            </a:r>
            <a:endParaRPr lang="en-US" sz="1000" dirty="0"/>
          </a:p>
        </p:txBody>
      </p:sp>
      <p:sp>
        <p:nvSpPr>
          <p:cNvPr id="26" name="Shape 24"/>
          <p:cNvSpPr/>
          <p:nvPr/>
        </p:nvSpPr>
        <p:spPr>
          <a:xfrm>
            <a:off x="713232" y="3483864"/>
            <a:ext cx="128016" cy="128016"/>
          </a:xfrm>
          <a:prstGeom prst="rect">
            <a:avLst/>
          </a:prstGeom>
          <a:solidFill>
            <a:srgbClr val="C9CFD6"/>
          </a:solidFill>
          <a:ln w="12700">
            <a:solidFill>
              <a:srgbClr val="C9CFD6"/>
            </a:solidFill>
            <a:prstDash val="solid"/>
          </a:ln>
        </p:spPr>
      </p:sp>
      <p:sp>
        <p:nvSpPr>
          <p:cNvPr id="27" name="Text 25"/>
          <p:cNvSpPr/>
          <p:nvPr/>
        </p:nvSpPr>
        <p:spPr>
          <a:xfrm>
            <a:off x="914400" y="3392424"/>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Pipeline Health</a:t>
            </a:r>
            <a:endParaRPr lang="en-US" sz="1000" dirty="0"/>
          </a:p>
        </p:txBody>
      </p:sp>
      <p:sp>
        <p:nvSpPr>
          <p:cNvPr id="28" name="Shape 26"/>
          <p:cNvSpPr/>
          <p:nvPr/>
        </p:nvSpPr>
        <p:spPr>
          <a:xfrm>
            <a:off x="713232" y="3867912"/>
            <a:ext cx="128016" cy="128016"/>
          </a:xfrm>
          <a:prstGeom prst="rect">
            <a:avLst/>
          </a:prstGeom>
          <a:solidFill>
            <a:srgbClr val="C9CFD6"/>
          </a:solidFill>
          <a:ln w="12700">
            <a:solidFill>
              <a:srgbClr val="C9CFD6"/>
            </a:solidFill>
            <a:prstDash val="solid"/>
          </a:ln>
        </p:spPr>
      </p:sp>
      <p:sp>
        <p:nvSpPr>
          <p:cNvPr id="29" name="Text 27"/>
          <p:cNvSpPr/>
          <p:nvPr/>
        </p:nvSpPr>
        <p:spPr>
          <a:xfrm>
            <a:off x="914400" y="3776472"/>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Control Panel</a:t>
            </a:r>
            <a:endParaRPr lang="en-US" sz="1000" dirty="0"/>
          </a:p>
        </p:txBody>
      </p:sp>
      <p:sp>
        <p:nvSpPr>
          <p:cNvPr id="30" name="Text 28"/>
          <p:cNvSpPr/>
          <p:nvPr/>
        </p:nvSpPr>
        <p:spPr>
          <a:xfrm>
            <a:off x="685800" y="5897880"/>
            <a:ext cx="1188720" cy="228600"/>
          </a:xfrm>
          <a:prstGeom prst="rect">
            <a:avLst/>
          </a:prstGeom>
          <a:noFill/>
          <a:ln/>
        </p:spPr>
        <p:txBody>
          <a:bodyPr wrap="square" lIns="0" tIns="0" rIns="0" bIns="0" rtlCol="0" anchor="ctr"/>
          <a:lstStyle/>
          <a:p>
            <a:pPr marL="0" indent="0" algn="l">
              <a:buNone/>
            </a:pPr>
            <a:r>
              <a:rPr lang="en-US" sz="900" b="1" dirty="0">
                <a:solidFill>
                  <a:srgbClr val="2E9E5B"/>
                </a:solidFill>
                <a:latin typeface="Calibri" pitchFamily="34" charset="0"/>
                <a:ea typeface="Calibri" pitchFamily="34" charset="-122"/>
                <a:cs typeface="Calibri" pitchFamily="34" charset="-120"/>
              </a:rPr>
              <a:t>● Connected</a:t>
            </a:r>
            <a:endParaRPr lang="en-US" sz="900" dirty="0"/>
          </a:p>
        </p:txBody>
      </p:sp>
      <p:sp>
        <p:nvSpPr>
          <p:cNvPr id="31" name="Text 29"/>
          <p:cNvSpPr/>
          <p:nvPr/>
        </p:nvSpPr>
        <p:spPr>
          <a:xfrm>
            <a:off x="2057400" y="1755648"/>
            <a:ext cx="1828800" cy="310896"/>
          </a:xfrm>
          <a:prstGeom prst="rect">
            <a:avLst/>
          </a:prstGeom>
          <a:noFill/>
          <a:ln/>
        </p:spPr>
        <p:txBody>
          <a:bodyPr wrap="square" lIns="0" tIns="0" rIns="0" bIns="0" rtlCol="0" anchor="ctr"/>
          <a:lstStyle/>
          <a:p>
            <a:pPr marL="0" indent="0" algn="l">
              <a:buNone/>
            </a:pPr>
            <a:r>
              <a:rPr lang="en-US" sz="1400" b="1" dirty="0">
                <a:solidFill>
                  <a:srgbClr val="14213D"/>
                </a:solidFill>
                <a:latin typeface="Calibri" pitchFamily="34" charset="0"/>
                <a:ea typeface="Calibri" pitchFamily="34" charset="-122"/>
                <a:cs typeface="Calibri" pitchFamily="34" charset="-120"/>
              </a:rPr>
              <a:t>Alerts</a:t>
            </a:r>
            <a:endParaRPr lang="en-US" sz="1400" dirty="0"/>
          </a:p>
        </p:txBody>
      </p:sp>
      <p:sp>
        <p:nvSpPr>
          <p:cNvPr id="32" name="Shape 30"/>
          <p:cNvSpPr/>
          <p:nvPr/>
        </p:nvSpPr>
        <p:spPr>
          <a:xfrm>
            <a:off x="3063240" y="1783080"/>
            <a:ext cx="411480" cy="246888"/>
          </a:xfrm>
          <a:prstGeom prst="roundRect">
            <a:avLst>
              <a:gd name="adj" fmla="val 29630"/>
            </a:avLst>
          </a:prstGeom>
          <a:solidFill>
            <a:srgbClr val="E5E8EC"/>
          </a:solidFill>
          <a:ln w="12700">
            <a:solidFill>
              <a:srgbClr val="E5E8EC"/>
            </a:solidFill>
            <a:prstDash val="solid"/>
          </a:ln>
        </p:spPr>
      </p:sp>
      <p:sp>
        <p:nvSpPr>
          <p:cNvPr id="33" name="Text 31"/>
          <p:cNvSpPr/>
          <p:nvPr/>
        </p:nvSpPr>
        <p:spPr>
          <a:xfrm>
            <a:off x="3063240" y="1783080"/>
            <a:ext cx="411480" cy="246888"/>
          </a:xfrm>
          <a:prstGeom prst="rect">
            <a:avLst/>
          </a:prstGeom>
          <a:noFill/>
          <a:ln/>
        </p:spPr>
        <p:txBody>
          <a:bodyPr wrap="square" lIns="0" tIns="0" rIns="0" bIns="0" rtlCol="0" anchor="ctr"/>
          <a:lstStyle/>
          <a:p>
            <a:pPr marL="0" indent="0" algn="ctr">
              <a:buNone/>
            </a:pPr>
            <a:r>
              <a:rPr lang="en-US" sz="850" b="1" dirty="0">
                <a:solidFill>
                  <a:srgbClr val="2B3440"/>
                </a:solidFill>
                <a:latin typeface="Calibri" pitchFamily="34" charset="0"/>
                <a:ea typeface="Calibri" pitchFamily="34" charset="-122"/>
                <a:cs typeface="Calibri" pitchFamily="34" charset="-120"/>
              </a:rPr>
              <a:t>All</a:t>
            </a:r>
            <a:endParaRPr lang="en-US" sz="850" dirty="0"/>
          </a:p>
        </p:txBody>
      </p:sp>
      <p:sp>
        <p:nvSpPr>
          <p:cNvPr id="34" name="Shape 32"/>
          <p:cNvSpPr/>
          <p:nvPr/>
        </p:nvSpPr>
        <p:spPr>
          <a:xfrm>
            <a:off x="3566160" y="1783080"/>
            <a:ext cx="731520" cy="246888"/>
          </a:xfrm>
          <a:prstGeom prst="roundRect">
            <a:avLst>
              <a:gd name="adj" fmla="val 29630"/>
            </a:avLst>
          </a:prstGeom>
          <a:solidFill>
            <a:srgbClr val="0E9AA7"/>
          </a:solidFill>
          <a:ln w="12700">
            <a:solidFill>
              <a:srgbClr val="0E9AA7"/>
            </a:solidFill>
            <a:prstDash val="solid"/>
          </a:ln>
        </p:spPr>
      </p:sp>
      <p:sp>
        <p:nvSpPr>
          <p:cNvPr id="35" name="Text 33"/>
          <p:cNvSpPr/>
          <p:nvPr/>
        </p:nvSpPr>
        <p:spPr>
          <a:xfrm>
            <a:off x="3566160" y="1783080"/>
            <a:ext cx="731520" cy="24688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New (12)</a:t>
            </a:r>
            <a:endParaRPr lang="en-US" sz="850" dirty="0"/>
          </a:p>
        </p:txBody>
      </p:sp>
      <p:sp>
        <p:nvSpPr>
          <p:cNvPr id="36" name="Shape 34"/>
          <p:cNvSpPr/>
          <p:nvPr/>
        </p:nvSpPr>
        <p:spPr>
          <a:xfrm>
            <a:off x="4343400" y="1783080"/>
            <a:ext cx="731520" cy="246888"/>
          </a:xfrm>
          <a:prstGeom prst="roundRect">
            <a:avLst>
              <a:gd name="adj" fmla="val 29630"/>
            </a:avLst>
          </a:prstGeom>
          <a:solidFill>
            <a:srgbClr val="E5E8EC"/>
          </a:solidFill>
          <a:ln w="12700">
            <a:solidFill>
              <a:srgbClr val="E5E8EC"/>
            </a:solidFill>
            <a:prstDash val="solid"/>
          </a:ln>
        </p:spPr>
      </p:sp>
      <p:sp>
        <p:nvSpPr>
          <p:cNvPr id="37" name="Text 35"/>
          <p:cNvSpPr/>
          <p:nvPr/>
        </p:nvSpPr>
        <p:spPr>
          <a:xfrm>
            <a:off x="4343400" y="1783080"/>
            <a:ext cx="731520" cy="246888"/>
          </a:xfrm>
          <a:prstGeom prst="rect">
            <a:avLst/>
          </a:prstGeom>
          <a:noFill/>
          <a:ln/>
        </p:spPr>
        <p:txBody>
          <a:bodyPr wrap="square" lIns="0" tIns="0" rIns="0" bIns="0" rtlCol="0" anchor="ctr"/>
          <a:lstStyle/>
          <a:p>
            <a:pPr marL="0" indent="0" algn="ctr">
              <a:buNone/>
            </a:pPr>
            <a:r>
              <a:rPr lang="en-US" sz="850" b="1" dirty="0">
                <a:solidFill>
                  <a:srgbClr val="2B3440"/>
                </a:solidFill>
                <a:latin typeface="Calibri" pitchFamily="34" charset="0"/>
                <a:ea typeface="Calibri" pitchFamily="34" charset="-122"/>
                <a:cs typeface="Calibri" pitchFamily="34" charset="-120"/>
              </a:rPr>
              <a:t>Reviewed</a:t>
            </a:r>
            <a:endParaRPr lang="en-US" sz="850" dirty="0"/>
          </a:p>
        </p:txBody>
      </p:sp>
      <p:sp>
        <p:nvSpPr>
          <p:cNvPr id="38" name="Shape 36"/>
          <p:cNvSpPr/>
          <p:nvPr/>
        </p:nvSpPr>
        <p:spPr>
          <a:xfrm>
            <a:off x="5120640" y="1783080"/>
            <a:ext cx="777240" cy="246888"/>
          </a:xfrm>
          <a:prstGeom prst="roundRect">
            <a:avLst>
              <a:gd name="adj" fmla="val 29630"/>
            </a:avLst>
          </a:prstGeom>
          <a:solidFill>
            <a:srgbClr val="E5E8EC"/>
          </a:solidFill>
          <a:ln w="12700">
            <a:solidFill>
              <a:srgbClr val="E5E8EC"/>
            </a:solidFill>
            <a:prstDash val="solid"/>
          </a:ln>
        </p:spPr>
      </p:sp>
      <p:sp>
        <p:nvSpPr>
          <p:cNvPr id="39" name="Text 37"/>
          <p:cNvSpPr/>
          <p:nvPr/>
        </p:nvSpPr>
        <p:spPr>
          <a:xfrm>
            <a:off x="5120640" y="1783080"/>
            <a:ext cx="777240" cy="246888"/>
          </a:xfrm>
          <a:prstGeom prst="rect">
            <a:avLst/>
          </a:prstGeom>
          <a:noFill/>
          <a:ln/>
        </p:spPr>
        <p:txBody>
          <a:bodyPr wrap="square" lIns="0" tIns="0" rIns="0" bIns="0" rtlCol="0" anchor="ctr"/>
          <a:lstStyle/>
          <a:p>
            <a:pPr marL="0" indent="0" algn="ctr">
              <a:buNone/>
            </a:pPr>
            <a:r>
              <a:rPr lang="en-US" sz="850" b="1" dirty="0">
                <a:solidFill>
                  <a:srgbClr val="2B3440"/>
                </a:solidFill>
                <a:latin typeface="Calibri" pitchFamily="34" charset="0"/>
                <a:ea typeface="Calibri" pitchFamily="34" charset="-122"/>
                <a:cs typeface="Calibri" pitchFamily="34" charset="-120"/>
              </a:rPr>
              <a:t>Escalated</a:t>
            </a:r>
            <a:endParaRPr lang="en-US" sz="850" dirty="0"/>
          </a:p>
        </p:txBody>
      </p:sp>
      <p:sp>
        <p:nvSpPr>
          <p:cNvPr id="40" name="Shape 38"/>
          <p:cNvSpPr/>
          <p:nvPr/>
        </p:nvSpPr>
        <p:spPr>
          <a:xfrm>
            <a:off x="2057400" y="2212848"/>
            <a:ext cx="3200400" cy="603504"/>
          </a:xfrm>
          <a:prstGeom prst="rect">
            <a:avLst/>
          </a:prstGeom>
          <a:solidFill>
            <a:srgbClr val="E3F4F5"/>
          </a:solidFill>
          <a:ln w="22225">
            <a:solidFill>
              <a:srgbClr val="0E9AA7"/>
            </a:solidFill>
            <a:prstDash val="solid"/>
          </a:ln>
        </p:spPr>
      </p:sp>
      <p:sp>
        <p:nvSpPr>
          <p:cNvPr id="41" name="Shape 39"/>
          <p:cNvSpPr/>
          <p:nvPr/>
        </p:nvSpPr>
        <p:spPr>
          <a:xfrm>
            <a:off x="2057400" y="2212848"/>
            <a:ext cx="64008" cy="603504"/>
          </a:xfrm>
          <a:prstGeom prst="rect">
            <a:avLst/>
          </a:prstGeom>
          <a:solidFill>
            <a:srgbClr val="D1495B"/>
          </a:solidFill>
          <a:ln w="12700">
            <a:solidFill>
              <a:srgbClr val="D1495B"/>
            </a:solidFill>
            <a:prstDash val="solid"/>
          </a:ln>
        </p:spPr>
      </p:sp>
      <p:sp>
        <p:nvSpPr>
          <p:cNvPr id="42" name="Text 40"/>
          <p:cNvSpPr/>
          <p:nvPr/>
        </p:nvSpPr>
        <p:spPr>
          <a:xfrm>
            <a:off x="2212848" y="2276856"/>
            <a:ext cx="2103120" cy="228600"/>
          </a:xfrm>
          <a:prstGeom prst="rect">
            <a:avLst/>
          </a:prstGeom>
          <a:noFill/>
          <a:ln/>
        </p:spPr>
        <p:txBody>
          <a:bodyPr wrap="square" lIns="0" tIns="0" rIns="0" bIns="0" rtlCol="0" anchor="ctr"/>
          <a:lstStyle/>
          <a:p>
            <a:pPr marL="0" indent="0" algn="l">
              <a:buNone/>
            </a:pPr>
            <a:r>
              <a:rPr lang="en-US" sz="1000" b="1" dirty="0">
                <a:solidFill>
                  <a:srgbClr val="14213D"/>
                </a:solidFill>
                <a:latin typeface="Calibri" pitchFamily="34" charset="0"/>
                <a:ea typeface="Calibri" pitchFamily="34" charset="-122"/>
                <a:cs typeface="Calibri" pitchFamily="34" charset="-120"/>
              </a:rPr>
              <a:t>ALT-101  |  CUST-177</a:t>
            </a:r>
            <a:endParaRPr lang="en-US" sz="1000" dirty="0"/>
          </a:p>
        </p:txBody>
      </p:sp>
      <p:sp>
        <p:nvSpPr>
          <p:cNvPr id="43" name="Text 41"/>
          <p:cNvSpPr/>
          <p:nvPr/>
        </p:nvSpPr>
        <p:spPr>
          <a:xfrm>
            <a:off x="2212848" y="2523744"/>
            <a:ext cx="2194560"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₹3,50,000  |  HIGH_VALUE</a:t>
            </a:r>
            <a:endParaRPr lang="en-US" sz="900" dirty="0"/>
          </a:p>
        </p:txBody>
      </p:sp>
      <p:sp>
        <p:nvSpPr>
          <p:cNvPr id="44" name="Shape 42"/>
          <p:cNvSpPr/>
          <p:nvPr/>
        </p:nvSpPr>
        <p:spPr>
          <a:xfrm>
            <a:off x="4343400" y="2395728"/>
            <a:ext cx="822960" cy="237744"/>
          </a:xfrm>
          <a:prstGeom prst="roundRect">
            <a:avLst>
              <a:gd name="adj" fmla="val 30769"/>
            </a:avLst>
          </a:prstGeom>
          <a:solidFill>
            <a:srgbClr val="0E9AA7"/>
          </a:solidFill>
          <a:ln w="12700">
            <a:solidFill>
              <a:srgbClr val="0E9AA7"/>
            </a:solidFill>
            <a:prstDash val="solid"/>
          </a:ln>
        </p:spPr>
      </p:sp>
      <p:sp>
        <p:nvSpPr>
          <p:cNvPr id="45" name="Text 43"/>
          <p:cNvSpPr/>
          <p:nvPr/>
        </p:nvSpPr>
        <p:spPr>
          <a:xfrm>
            <a:off x="4343400" y="2395728"/>
            <a:ext cx="82296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NEW</a:t>
            </a:r>
            <a:endParaRPr lang="en-US" sz="800" dirty="0"/>
          </a:p>
        </p:txBody>
      </p:sp>
      <p:sp>
        <p:nvSpPr>
          <p:cNvPr id="46" name="Shape 44"/>
          <p:cNvSpPr/>
          <p:nvPr/>
        </p:nvSpPr>
        <p:spPr>
          <a:xfrm>
            <a:off x="2057400" y="2880360"/>
            <a:ext cx="3200400" cy="603504"/>
          </a:xfrm>
          <a:prstGeom prst="rect">
            <a:avLst/>
          </a:prstGeom>
          <a:solidFill>
            <a:srgbClr val="FFFFFF"/>
          </a:solidFill>
          <a:ln w="9525">
            <a:solidFill>
              <a:srgbClr val="B0B7C0"/>
            </a:solidFill>
            <a:prstDash val="solid"/>
          </a:ln>
        </p:spPr>
      </p:sp>
      <p:sp>
        <p:nvSpPr>
          <p:cNvPr id="47" name="Shape 45"/>
          <p:cNvSpPr/>
          <p:nvPr/>
        </p:nvSpPr>
        <p:spPr>
          <a:xfrm>
            <a:off x="2057400" y="2880360"/>
            <a:ext cx="64008" cy="603504"/>
          </a:xfrm>
          <a:prstGeom prst="rect">
            <a:avLst/>
          </a:prstGeom>
          <a:solidFill>
            <a:srgbClr val="D1495B"/>
          </a:solidFill>
          <a:ln w="12700">
            <a:solidFill>
              <a:srgbClr val="D1495B"/>
            </a:solidFill>
            <a:prstDash val="solid"/>
          </a:ln>
        </p:spPr>
      </p:sp>
      <p:sp>
        <p:nvSpPr>
          <p:cNvPr id="48" name="Text 46"/>
          <p:cNvSpPr/>
          <p:nvPr/>
        </p:nvSpPr>
        <p:spPr>
          <a:xfrm>
            <a:off x="2212848" y="2944368"/>
            <a:ext cx="2103120" cy="228600"/>
          </a:xfrm>
          <a:prstGeom prst="rect">
            <a:avLst/>
          </a:prstGeom>
          <a:noFill/>
          <a:ln/>
        </p:spPr>
        <p:txBody>
          <a:bodyPr wrap="square" lIns="0" tIns="0" rIns="0" bIns="0" rtlCol="0" anchor="ctr"/>
          <a:lstStyle/>
          <a:p>
            <a:pPr marL="0" indent="0" algn="l">
              <a:buNone/>
            </a:pPr>
            <a:r>
              <a:rPr lang="en-US" sz="1000" b="1" dirty="0">
                <a:solidFill>
                  <a:srgbClr val="14213D"/>
                </a:solidFill>
                <a:latin typeface="Calibri" pitchFamily="34" charset="0"/>
                <a:ea typeface="Calibri" pitchFamily="34" charset="-122"/>
                <a:cs typeface="Calibri" pitchFamily="34" charset="-120"/>
              </a:rPr>
              <a:t>ALT-100  |  CUST-201</a:t>
            </a:r>
            <a:endParaRPr lang="en-US" sz="1000" dirty="0"/>
          </a:p>
        </p:txBody>
      </p:sp>
      <p:sp>
        <p:nvSpPr>
          <p:cNvPr id="49" name="Text 47"/>
          <p:cNvSpPr/>
          <p:nvPr/>
        </p:nvSpPr>
        <p:spPr>
          <a:xfrm>
            <a:off x="2212848" y="3191256"/>
            <a:ext cx="2194560"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₹2,80,000  |  HIGH_VALUE</a:t>
            </a:r>
            <a:endParaRPr lang="en-US" sz="900" dirty="0"/>
          </a:p>
        </p:txBody>
      </p:sp>
      <p:sp>
        <p:nvSpPr>
          <p:cNvPr id="50" name="Shape 48"/>
          <p:cNvSpPr/>
          <p:nvPr/>
        </p:nvSpPr>
        <p:spPr>
          <a:xfrm>
            <a:off x="4343400" y="3063240"/>
            <a:ext cx="822960" cy="237744"/>
          </a:xfrm>
          <a:prstGeom prst="roundRect">
            <a:avLst>
              <a:gd name="adj" fmla="val 30769"/>
            </a:avLst>
          </a:prstGeom>
          <a:solidFill>
            <a:srgbClr val="0E9AA7"/>
          </a:solidFill>
          <a:ln w="12700">
            <a:solidFill>
              <a:srgbClr val="0E9AA7"/>
            </a:solidFill>
            <a:prstDash val="solid"/>
          </a:ln>
        </p:spPr>
      </p:sp>
      <p:sp>
        <p:nvSpPr>
          <p:cNvPr id="51" name="Text 49"/>
          <p:cNvSpPr/>
          <p:nvPr/>
        </p:nvSpPr>
        <p:spPr>
          <a:xfrm>
            <a:off x="4343400" y="3063240"/>
            <a:ext cx="82296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NEW</a:t>
            </a:r>
            <a:endParaRPr lang="en-US" sz="800" dirty="0"/>
          </a:p>
        </p:txBody>
      </p:sp>
      <p:sp>
        <p:nvSpPr>
          <p:cNvPr id="52" name="Shape 50"/>
          <p:cNvSpPr/>
          <p:nvPr/>
        </p:nvSpPr>
        <p:spPr>
          <a:xfrm>
            <a:off x="2057400" y="3547872"/>
            <a:ext cx="3200400" cy="603504"/>
          </a:xfrm>
          <a:prstGeom prst="rect">
            <a:avLst/>
          </a:prstGeom>
          <a:solidFill>
            <a:srgbClr val="FFFFFF"/>
          </a:solidFill>
          <a:ln w="9525">
            <a:solidFill>
              <a:srgbClr val="B0B7C0"/>
            </a:solidFill>
            <a:prstDash val="solid"/>
          </a:ln>
        </p:spPr>
      </p:sp>
      <p:sp>
        <p:nvSpPr>
          <p:cNvPr id="53" name="Shape 51"/>
          <p:cNvSpPr/>
          <p:nvPr/>
        </p:nvSpPr>
        <p:spPr>
          <a:xfrm>
            <a:off x="2057400" y="3547872"/>
            <a:ext cx="64008" cy="603504"/>
          </a:xfrm>
          <a:prstGeom prst="rect">
            <a:avLst/>
          </a:prstGeom>
          <a:solidFill>
            <a:srgbClr val="F29F05"/>
          </a:solidFill>
          <a:ln w="12700">
            <a:solidFill>
              <a:srgbClr val="F29F05"/>
            </a:solidFill>
            <a:prstDash val="solid"/>
          </a:ln>
        </p:spPr>
      </p:sp>
      <p:sp>
        <p:nvSpPr>
          <p:cNvPr id="54" name="Text 52"/>
          <p:cNvSpPr/>
          <p:nvPr/>
        </p:nvSpPr>
        <p:spPr>
          <a:xfrm>
            <a:off x="2212848" y="3611880"/>
            <a:ext cx="2103120" cy="228600"/>
          </a:xfrm>
          <a:prstGeom prst="rect">
            <a:avLst/>
          </a:prstGeom>
          <a:noFill/>
          <a:ln/>
        </p:spPr>
        <p:txBody>
          <a:bodyPr wrap="square" lIns="0" tIns="0" rIns="0" bIns="0" rtlCol="0" anchor="ctr"/>
          <a:lstStyle/>
          <a:p>
            <a:pPr marL="0" indent="0" algn="l">
              <a:buNone/>
            </a:pPr>
            <a:r>
              <a:rPr lang="en-US" sz="1000" b="1" dirty="0">
                <a:solidFill>
                  <a:srgbClr val="14213D"/>
                </a:solidFill>
                <a:latin typeface="Calibri" pitchFamily="34" charset="0"/>
                <a:ea typeface="Calibri" pitchFamily="34" charset="-122"/>
                <a:cs typeface="Calibri" pitchFamily="34" charset="-120"/>
              </a:rPr>
              <a:t>ALT-099  |  CUST-066</a:t>
            </a:r>
            <a:endParaRPr lang="en-US" sz="1000" dirty="0"/>
          </a:p>
        </p:txBody>
      </p:sp>
      <p:sp>
        <p:nvSpPr>
          <p:cNvPr id="55" name="Text 53"/>
          <p:cNvSpPr/>
          <p:nvPr/>
        </p:nvSpPr>
        <p:spPr>
          <a:xfrm>
            <a:off x="2212848" y="3858768"/>
            <a:ext cx="2194560"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₹2,20,000  |  WINDOW_TOTAL</a:t>
            </a:r>
            <a:endParaRPr lang="en-US" sz="900" dirty="0"/>
          </a:p>
        </p:txBody>
      </p:sp>
      <p:sp>
        <p:nvSpPr>
          <p:cNvPr id="56" name="Shape 54"/>
          <p:cNvSpPr/>
          <p:nvPr/>
        </p:nvSpPr>
        <p:spPr>
          <a:xfrm>
            <a:off x="4343400" y="3730752"/>
            <a:ext cx="822960" cy="237744"/>
          </a:xfrm>
          <a:prstGeom prst="roundRect">
            <a:avLst>
              <a:gd name="adj" fmla="val 30769"/>
            </a:avLst>
          </a:prstGeom>
          <a:solidFill>
            <a:srgbClr val="0E9AA7"/>
          </a:solidFill>
          <a:ln w="12700">
            <a:solidFill>
              <a:srgbClr val="0E9AA7"/>
            </a:solidFill>
            <a:prstDash val="solid"/>
          </a:ln>
        </p:spPr>
      </p:sp>
      <p:sp>
        <p:nvSpPr>
          <p:cNvPr id="57" name="Text 55"/>
          <p:cNvSpPr/>
          <p:nvPr/>
        </p:nvSpPr>
        <p:spPr>
          <a:xfrm>
            <a:off x="4343400" y="3730752"/>
            <a:ext cx="82296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NEW</a:t>
            </a:r>
            <a:endParaRPr lang="en-US" sz="800" dirty="0"/>
          </a:p>
        </p:txBody>
      </p:sp>
      <p:sp>
        <p:nvSpPr>
          <p:cNvPr id="58" name="Shape 56"/>
          <p:cNvSpPr/>
          <p:nvPr/>
        </p:nvSpPr>
        <p:spPr>
          <a:xfrm>
            <a:off x="2057400" y="4215384"/>
            <a:ext cx="3200400" cy="603504"/>
          </a:xfrm>
          <a:prstGeom prst="rect">
            <a:avLst/>
          </a:prstGeom>
          <a:solidFill>
            <a:srgbClr val="FFFFFF"/>
          </a:solidFill>
          <a:ln w="9525">
            <a:solidFill>
              <a:srgbClr val="B0B7C0"/>
            </a:solidFill>
            <a:prstDash val="solid"/>
          </a:ln>
        </p:spPr>
      </p:sp>
      <p:sp>
        <p:nvSpPr>
          <p:cNvPr id="59" name="Shape 57"/>
          <p:cNvSpPr/>
          <p:nvPr/>
        </p:nvSpPr>
        <p:spPr>
          <a:xfrm>
            <a:off x="2057400" y="4215384"/>
            <a:ext cx="64008" cy="603504"/>
          </a:xfrm>
          <a:prstGeom prst="rect">
            <a:avLst/>
          </a:prstGeom>
          <a:solidFill>
            <a:srgbClr val="F29F05"/>
          </a:solidFill>
          <a:ln w="12700">
            <a:solidFill>
              <a:srgbClr val="F29F05"/>
            </a:solidFill>
            <a:prstDash val="solid"/>
          </a:ln>
        </p:spPr>
      </p:sp>
      <p:sp>
        <p:nvSpPr>
          <p:cNvPr id="60" name="Text 58"/>
          <p:cNvSpPr/>
          <p:nvPr/>
        </p:nvSpPr>
        <p:spPr>
          <a:xfrm>
            <a:off x="2212848" y="4279392"/>
            <a:ext cx="2103120" cy="228600"/>
          </a:xfrm>
          <a:prstGeom prst="rect">
            <a:avLst/>
          </a:prstGeom>
          <a:noFill/>
          <a:ln/>
        </p:spPr>
        <p:txBody>
          <a:bodyPr wrap="square" lIns="0" tIns="0" rIns="0" bIns="0" rtlCol="0" anchor="ctr"/>
          <a:lstStyle/>
          <a:p>
            <a:pPr marL="0" indent="0" algn="l">
              <a:buNone/>
            </a:pPr>
            <a:r>
              <a:rPr lang="en-US" sz="1000" b="1" dirty="0">
                <a:solidFill>
                  <a:srgbClr val="14213D"/>
                </a:solidFill>
                <a:latin typeface="Calibri" pitchFamily="34" charset="0"/>
                <a:ea typeface="Calibri" pitchFamily="34" charset="-122"/>
                <a:cs typeface="Calibri" pitchFamily="34" charset="-120"/>
              </a:rPr>
              <a:t>ALT-098  |  CUST-310</a:t>
            </a:r>
            <a:endParaRPr lang="en-US" sz="1000" dirty="0"/>
          </a:p>
        </p:txBody>
      </p:sp>
      <p:sp>
        <p:nvSpPr>
          <p:cNvPr id="61" name="Text 59"/>
          <p:cNvSpPr/>
          <p:nvPr/>
        </p:nvSpPr>
        <p:spPr>
          <a:xfrm>
            <a:off x="2212848" y="4526280"/>
            <a:ext cx="2194560"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₹2,05,000  |  HIGH_VALUE</a:t>
            </a:r>
            <a:endParaRPr lang="en-US" sz="900" dirty="0"/>
          </a:p>
        </p:txBody>
      </p:sp>
      <p:sp>
        <p:nvSpPr>
          <p:cNvPr id="62" name="Shape 60"/>
          <p:cNvSpPr/>
          <p:nvPr/>
        </p:nvSpPr>
        <p:spPr>
          <a:xfrm>
            <a:off x="4343400" y="4398264"/>
            <a:ext cx="822960" cy="237744"/>
          </a:xfrm>
          <a:prstGeom prst="roundRect">
            <a:avLst>
              <a:gd name="adj" fmla="val 30769"/>
            </a:avLst>
          </a:prstGeom>
          <a:solidFill>
            <a:srgbClr val="8A94A0"/>
          </a:solidFill>
          <a:ln w="12700">
            <a:solidFill>
              <a:srgbClr val="8A94A0"/>
            </a:solidFill>
            <a:prstDash val="solid"/>
          </a:ln>
        </p:spPr>
      </p:sp>
      <p:sp>
        <p:nvSpPr>
          <p:cNvPr id="63" name="Text 61"/>
          <p:cNvSpPr/>
          <p:nvPr/>
        </p:nvSpPr>
        <p:spPr>
          <a:xfrm>
            <a:off x="4343400" y="4398264"/>
            <a:ext cx="82296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REVIEWED</a:t>
            </a:r>
            <a:endParaRPr lang="en-US" sz="800" dirty="0"/>
          </a:p>
        </p:txBody>
      </p:sp>
      <p:sp>
        <p:nvSpPr>
          <p:cNvPr id="64" name="Shape 62"/>
          <p:cNvSpPr/>
          <p:nvPr/>
        </p:nvSpPr>
        <p:spPr>
          <a:xfrm>
            <a:off x="2057400" y="4882896"/>
            <a:ext cx="3200400" cy="603504"/>
          </a:xfrm>
          <a:prstGeom prst="rect">
            <a:avLst/>
          </a:prstGeom>
          <a:solidFill>
            <a:srgbClr val="FFFFFF"/>
          </a:solidFill>
          <a:ln w="9525">
            <a:solidFill>
              <a:srgbClr val="B0B7C0"/>
            </a:solidFill>
            <a:prstDash val="solid"/>
          </a:ln>
        </p:spPr>
      </p:sp>
      <p:sp>
        <p:nvSpPr>
          <p:cNvPr id="65" name="Shape 63"/>
          <p:cNvSpPr/>
          <p:nvPr/>
        </p:nvSpPr>
        <p:spPr>
          <a:xfrm>
            <a:off x="2057400" y="4882896"/>
            <a:ext cx="64008" cy="603504"/>
          </a:xfrm>
          <a:prstGeom prst="rect">
            <a:avLst/>
          </a:prstGeom>
          <a:solidFill>
            <a:srgbClr val="D1495B"/>
          </a:solidFill>
          <a:ln w="12700">
            <a:solidFill>
              <a:srgbClr val="D1495B"/>
            </a:solidFill>
            <a:prstDash val="solid"/>
          </a:ln>
        </p:spPr>
      </p:sp>
      <p:sp>
        <p:nvSpPr>
          <p:cNvPr id="66" name="Text 64"/>
          <p:cNvSpPr/>
          <p:nvPr/>
        </p:nvSpPr>
        <p:spPr>
          <a:xfrm>
            <a:off x="2212848" y="4946904"/>
            <a:ext cx="2103120" cy="228600"/>
          </a:xfrm>
          <a:prstGeom prst="rect">
            <a:avLst/>
          </a:prstGeom>
          <a:noFill/>
          <a:ln/>
        </p:spPr>
        <p:txBody>
          <a:bodyPr wrap="square" lIns="0" tIns="0" rIns="0" bIns="0" rtlCol="0" anchor="ctr"/>
          <a:lstStyle/>
          <a:p>
            <a:pPr marL="0" indent="0" algn="l">
              <a:buNone/>
            </a:pPr>
            <a:r>
              <a:rPr lang="en-US" sz="1000" b="1" dirty="0">
                <a:solidFill>
                  <a:srgbClr val="14213D"/>
                </a:solidFill>
                <a:latin typeface="Calibri" pitchFamily="34" charset="0"/>
                <a:ea typeface="Calibri" pitchFamily="34" charset="-122"/>
                <a:cs typeface="Calibri" pitchFamily="34" charset="-120"/>
              </a:rPr>
              <a:t>ALT-097  |  CUST-054</a:t>
            </a:r>
            <a:endParaRPr lang="en-US" sz="1000" dirty="0"/>
          </a:p>
        </p:txBody>
      </p:sp>
      <p:sp>
        <p:nvSpPr>
          <p:cNvPr id="67" name="Text 65"/>
          <p:cNvSpPr/>
          <p:nvPr/>
        </p:nvSpPr>
        <p:spPr>
          <a:xfrm>
            <a:off x="2212848" y="5193792"/>
            <a:ext cx="2194560"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₹4,10,000  |  HIGH_VALUE</a:t>
            </a:r>
            <a:endParaRPr lang="en-US" sz="900" dirty="0"/>
          </a:p>
        </p:txBody>
      </p:sp>
      <p:sp>
        <p:nvSpPr>
          <p:cNvPr id="68" name="Shape 66"/>
          <p:cNvSpPr/>
          <p:nvPr/>
        </p:nvSpPr>
        <p:spPr>
          <a:xfrm>
            <a:off x="4343400" y="5065776"/>
            <a:ext cx="822960" cy="237744"/>
          </a:xfrm>
          <a:prstGeom prst="roundRect">
            <a:avLst>
              <a:gd name="adj" fmla="val 30769"/>
            </a:avLst>
          </a:prstGeom>
          <a:solidFill>
            <a:srgbClr val="D1495B"/>
          </a:solidFill>
          <a:ln w="12700">
            <a:solidFill>
              <a:srgbClr val="D1495B"/>
            </a:solidFill>
            <a:prstDash val="solid"/>
          </a:ln>
        </p:spPr>
      </p:sp>
      <p:sp>
        <p:nvSpPr>
          <p:cNvPr id="69" name="Text 67"/>
          <p:cNvSpPr/>
          <p:nvPr/>
        </p:nvSpPr>
        <p:spPr>
          <a:xfrm>
            <a:off x="4343400" y="5065776"/>
            <a:ext cx="82296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ESCALATED</a:t>
            </a:r>
            <a:endParaRPr lang="en-US" sz="800" dirty="0"/>
          </a:p>
        </p:txBody>
      </p:sp>
      <p:sp>
        <p:nvSpPr>
          <p:cNvPr id="70" name="Shape 68"/>
          <p:cNvSpPr/>
          <p:nvPr/>
        </p:nvSpPr>
        <p:spPr>
          <a:xfrm>
            <a:off x="2057400" y="5550408"/>
            <a:ext cx="3200400" cy="603504"/>
          </a:xfrm>
          <a:prstGeom prst="rect">
            <a:avLst/>
          </a:prstGeom>
          <a:solidFill>
            <a:srgbClr val="FFFFFF"/>
          </a:solidFill>
          <a:ln w="9525">
            <a:solidFill>
              <a:srgbClr val="B0B7C0"/>
            </a:solidFill>
            <a:prstDash val="solid"/>
          </a:ln>
        </p:spPr>
      </p:sp>
      <p:sp>
        <p:nvSpPr>
          <p:cNvPr id="71" name="Shape 69"/>
          <p:cNvSpPr/>
          <p:nvPr/>
        </p:nvSpPr>
        <p:spPr>
          <a:xfrm>
            <a:off x="2057400" y="5550408"/>
            <a:ext cx="64008" cy="603504"/>
          </a:xfrm>
          <a:prstGeom prst="rect">
            <a:avLst/>
          </a:prstGeom>
          <a:solidFill>
            <a:srgbClr val="F29F05"/>
          </a:solidFill>
          <a:ln w="12700">
            <a:solidFill>
              <a:srgbClr val="F29F05"/>
            </a:solidFill>
            <a:prstDash val="solid"/>
          </a:ln>
        </p:spPr>
      </p:sp>
      <p:sp>
        <p:nvSpPr>
          <p:cNvPr id="72" name="Text 70"/>
          <p:cNvSpPr/>
          <p:nvPr/>
        </p:nvSpPr>
        <p:spPr>
          <a:xfrm>
            <a:off x="2212848" y="5614416"/>
            <a:ext cx="2103120" cy="228600"/>
          </a:xfrm>
          <a:prstGeom prst="rect">
            <a:avLst/>
          </a:prstGeom>
          <a:noFill/>
          <a:ln/>
        </p:spPr>
        <p:txBody>
          <a:bodyPr wrap="square" lIns="0" tIns="0" rIns="0" bIns="0" rtlCol="0" anchor="ctr"/>
          <a:lstStyle/>
          <a:p>
            <a:pPr marL="0" indent="0" algn="l">
              <a:buNone/>
            </a:pPr>
            <a:r>
              <a:rPr lang="en-US" sz="1000" b="1" dirty="0">
                <a:solidFill>
                  <a:srgbClr val="14213D"/>
                </a:solidFill>
                <a:latin typeface="Calibri" pitchFamily="34" charset="0"/>
                <a:ea typeface="Calibri" pitchFamily="34" charset="-122"/>
                <a:cs typeface="Calibri" pitchFamily="34" charset="-120"/>
              </a:rPr>
              <a:t>ALT-096  |  CUST-142</a:t>
            </a:r>
            <a:endParaRPr lang="en-US" sz="1000" dirty="0"/>
          </a:p>
        </p:txBody>
      </p:sp>
      <p:sp>
        <p:nvSpPr>
          <p:cNvPr id="73" name="Text 71"/>
          <p:cNvSpPr/>
          <p:nvPr/>
        </p:nvSpPr>
        <p:spPr>
          <a:xfrm>
            <a:off x="2212848" y="5861304"/>
            <a:ext cx="2194560" cy="22860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₹2,60,000  |  WINDOW_TOTAL</a:t>
            </a:r>
            <a:endParaRPr lang="en-US" sz="900" dirty="0"/>
          </a:p>
        </p:txBody>
      </p:sp>
      <p:sp>
        <p:nvSpPr>
          <p:cNvPr id="74" name="Shape 72"/>
          <p:cNvSpPr/>
          <p:nvPr/>
        </p:nvSpPr>
        <p:spPr>
          <a:xfrm>
            <a:off x="4343400" y="5733288"/>
            <a:ext cx="822960" cy="237744"/>
          </a:xfrm>
          <a:prstGeom prst="roundRect">
            <a:avLst>
              <a:gd name="adj" fmla="val 30769"/>
            </a:avLst>
          </a:prstGeom>
          <a:solidFill>
            <a:srgbClr val="8A94A0"/>
          </a:solidFill>
          <a:ln w="12700">
            <a:solidFill>
              <a:srgbClr val="8A94A0"/>
            </a:solidFill>
            <a:prstDash val="solid"/>
          </a:ln>
        </p:spPr>
      </p:sp>
      <p:sp>
        <p:nvSpPr>
          <p:cNvPr id="75" name="Text 73"/>
          <p:cNvSpPr/>
          <p:nvPr/>
        </p:nvSpPr>
        <p:spPr>
          <a:xfrm>
            <a:off x="4343400" y="5733288"/>
            <a:ext cx="822960"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REVIEWED</a:t>
            </a:r>
            <a:endParaRPr lang="en-US" sz="800" dirty="0"/>
          </a:p>
        </p:txBody>
      </p:sp>
      <p:sp>
        <p:nvSpPr>
          <p:cNvPr id="76" name="Shape 74"/>
          <p:cNvSpPr/>
          <p:nvPr/>
        </p:nvSpPr>
        <p:spPr>
          <a:xfrm>
            <a:off x="5394960" y="2212848"/>
            <a:ext cx="2971800" cy="3959352"/>
          </a:xfrm>
          <a:prstGeom prst="rect">
            <a:avLst/>
          </a:prstGeom>
          <a:solidFill>
            <a:srgbClr val="FFFFFF"/>
          </a:solidFill>
          <a:ln w="19050">
            <a:solidFill>
              <a:srgbClr val="14213D"/>
            </a:solidFill>
            <a:prstDash val="solid"/>
          </a:ln>
          <a:effectLst>
            <a:outerShdw blurRad="76200" dist="25400" dir="8100000" algn="bl" rotWithShape="0">
              <a:srgbClr val="000000">
                <a:alpha val="10000"/>
              </a:srgbClr>
            </a:outerShdw>
          </a:effectLst>
        </p:spPr>
      </p:sp>
      <p:sp>
        <p:nvSpPr>
          <p:cNvPr id="77" name="Shape 75"/>
          <p:cNvSpPr/>
          <p:nvPr/>
        </p:nvSpPr>
        <p:spPr>
          <a:xfrm>
            <a:off x="5394960" y="2212848"/>
            <a:ext cx="2971800" cy="365760"/>
          </a:xfrm>
          <a:prstGeom prst="rect">
            <a:avLst/>
          </a:prstGeom>
          <a:solidFill>
            <a:srgbClr val="14213D"/>
          </a:solidFill>
          <a:ln w="12700">
            <a:solidFill>
              <a:srgbClr val="14213D"/>
            </a:solidFill>
            <a:prstDash val="solid"/>
          </a:ln>
        </p:spPr>
      </p:sp>
      <p:sp>
        <p:nvSpPr>
          <p:cNvPr id="78" name="Text 76"/>
          <p:cNvSpPr/>
          <p:nvPr/>
        </p:nvSpPr>
        <p:spPr>
          <a:xfrm>
            <a:off x="5504688" y="2212848"/>
            <a:ext cx="109728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ALT-101</a:t>
            </a:r>
            <a:endParaRPr lang="en-US" sz="1200" dirty="0"/>
          </a:p>
        </p:txBody>
      </p:sp>
      <p:sp>
        <p:nvSpPr>
          <p:cNvPr id="79" name="Shape 77"/>
          <p:cNvSpPr/>
          <p:nvPr/>
        </p:nvSpPr>
        <p:spPr>
          <a:xfrm>
            <a:off x="6492240" y="2286000"/>
            <a:ext cx="502920" cy="219456"/>
          </a:xfrm>
          <a:prstGeom prst="roundRect">
            <a:avLst>
              <a:gd name="adj" fmla="val 33333"/>
            </a:avLst>
          </a:prstGeom>
          <a:solidFill>
            <a:srgbClr val="D1495B"/>
          </a:solidFill>
          <a:ln w="12700">
            <a:solidFill>
              <a:srgbClr val="D1495B"/>
            </a:solidFill>
            <a:prstDash val="solid"/>
          </a:ln>
        </p:spPr>
      </p:sp>
      <p:sp>
        <p:nvSpPr>
          <p:cNvPr id="80" name="Text 78"/>
          <p:cNvSpPr/>
          <p:nvPr/>
        </p:nvSpPr>
        <p:spPr>
          <a:xfrm>
            <a:off x="6492240" y="2286000"/>
            <a:ext cx="50292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81" name="Text 79"/>
          <p:cNvSpPr/>
          <p:nvPr/>
        </p:nvSpPr>
        <p:spPr>
          <a:xfrm>
            <a:off x="8046720" y="2212848"/>
            <a:ext cx="22860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82" name="Text 80"/>
          <p:cNvSpPr/>
          <p:nvPr/>
        </p:nvSpPr>
        <p:spPr>
          <a:xfrm>
            <a:off x="5504688" y="2651760"/>
            <a:ext cx="822960" cy="18288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Customer</a:t>
            </a:r>
            <a:endParaRPr lang="en-US" sz="900" dirty="0"/>
          </a:p>
        </p:txBody>
      </p:sp>
      <p:sp>
        <p:nvSpPr>
          <p:cNvPr id="83" name="Text 81"/>
          <p:cNvSpPr/>
          <p:nvPr/>
        </p:nvSpPr>
        <p:spPr>
          <a:xfrm>
            <a:off x="6309360" y="2651760"/>
            <a:ext cx="1737360" cy="182880"/>
          </a:xfrm>
          <a:prstGeom prst="rect">
            <a:avLst/>
          </a:prstGeom>
          <a:noFill/>
          <a:ln/>
        </p:spPr>
        <p:txBody>
          <a:bodyPr wrap="square" lIns="0" tIns="0" rIns="0" bIns="0" rtlCol="0" anchor="ctr"/>
          <a:lstStyle/>
          <a:p>
            <a:pPr marL="0" indent="0" algn="l">
              <a:buNone/>
            </a:pPr>
            <a:r>
              <a:rPr lang="en-US" sz="950" b="1" dirty="0">
                <a:solidFill>
                  <a:srgbClr val="2B3440"/>
                </a:solidFill>
                <a:latin typeface="Calibri" pitchFamily="34" charset="0"/>
                <a:ea typeface="Calibri" pitchFamily="34" charset="-122"/>
                <a:cs typeface="Calibri" pitchFamily="34" charset="-120"/>
              </a:rPr>
              <a:t>CUST-177</a:t>
            </a:r>
            <a:endParaRPr lang="en-US" sz="950" dirty="0"/>
          </a:p>
        </p:txBody>
      </p:sp>
      <p:sp>
        <p:nvSpPr>
          <p:cNvPr id="84" name="Text 82"/>
          <p:cNvSpPr/>
          <p:nvPr/>
        </p:nvSpPr>
        <p:spPr>
          <a:xfrm>
            <a:off x="5504688" y="2852928"/>
            <a:ext cx="822960" cy="18288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Amount</a:t>
            </a:r>
            <a:endParaRPr lang="en-US" sz="900" dirty="0"/>
          </a:p>
        </p:txBody>
      </p:sp>
      <p:sp>
        <p:nvSpPr>
          <p:cNvPr id="85" name="Text 83"/>
          <p:cNvSpPr/>
          <p:nvPr/>
        </p:nvSpPr>
        <p:spPr>
          <a:xfrm>
            <a:off x="6309360" y="2852928"/>
            <a:ext cx="1737360" cy="182880"/>
          </a:xfrm>
          <a:prstGeom prst="rect">
            <a:avLst/>
          </a:prstGeom>
          <a:noFill/>
          <a:ln/>
        </p:spPr>
        <p:txBody>
          <a:bodyPr wrap="square" lIns="0" tIns="0" rIns="0" bIns="0" rtlCol="0" anchor="ctr"/>
          <a:lstStyle/>
          <a:p>
            <a:pPr marL="0" indent="0" algn="l">
              <a:buNone/>
            </a:pPr>
            <a:r>
              <a:rPr lang="en-US" sz="950" b="1" dirty="0">
                <a:solidFill>
                  <a:srgbClr val="2B3440"/>
                </a:solidFill>
                <a:latin typeface="Calibri" pitchFamily="34" charset="0"/>
                <a:ea typeface="Calibri" pitchFamily="34" charset="-122"/>
                <a:cs typeface="Calibri" pitchFamily="34" charset="-120"/>
              </a:rPr>
              <a:t>₹3,50,000</a:t>
            </a:r>
            <a:endParaRPr lang="en-US" sz="950" dirty="0"/>
          </a:p>
        </p:txBody>
      </p:sp>
      <p:sp>
        <p:nvSpPr>
          <p:cNvPr id="86" name="Text 84"/>
          <p:cNvSpPr/>
          <p:nvPr/>
        </p:nvSpPr>
        <p:spPr>
          <a:xfrm>
            <a:off x="5504688" y="3054096"/>
            <a:ext cx="822960" cy="18288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Channel</a:t>
            </a:r>
            <a:endParaRPr lang="en-US" sz="900" dirty="0"/>
          </a:p>
        </p:txBody>
      </p:sp>
      <p:sp>
        <p:nvSpPr>
          <p:cNvPr id="87" name="Text 85"/>
          <p:cNvSpPr/>
          <p:nvPr/>
        </p:nvSpPr>
        <p:spPr>
          <a:xfrm>
            <a:off x="6309360" y="3054096"/>
            <a:ext cx="1737360" cy="182880"/>
          </a:xfrm>
          <a:prstGeom prst="rect">
            <a:avLst/>
          </a:prstGeom>
          <a:noFill/>
          <a:ln/>
        </p:spPr>
        <p:txBody>
          <a:bodyPr wrap="square" lIns="0" tIns="0" rIns="0" bIns="0" rtlCol="0" anchor="ctr"/>
          <a:lstStyle/>
          <a:p>
            <a:pPr marL="0" indent="0" algn="l">
              <a:buNone/>
            </a:pPr>
            <a:r>
              <a:rPr lang="en-US" sz="950" b="1" dirty="0">
                <a:solidFill>
                  <a:srgbClr val="2B3440"/>
                </a:solidFill>
                <a:latin typeface="Calibri" pitchFamily="34" charset="0"/>
                <a:ea typeface="Calibri" pitchFamily="34" charset="-122"/>
                <a:cs typeface="Calibri" pitchFamily="34" charset="-120"/>
              </a:rPr>
              <a:t>WEB</a:t>
            </a:r>
            <a:endParaRPr lang="en-US" sz="950" dirty="0"/>
          </a:p>
        </p:txBody>
      </p:sp>
      <p:sp>
        <p:nvSpPr>
          <p:cNvPr id="88" name="Text 86"/>
          <p:cNvSpPr/>
          <p:nvPr/>
        </p:nvSpPr>
        <p:spPr>
          <a:xfrm>
            <a:off x="5504688" y="3255264"/>
            <a:ext cx="822960" cy="182880"/>
          </a:xfrm>
          <a:prstGeom prst="rect">
            <a:avLst/>
          </a:prstGeom>
          <a:noFill/>
          <a:ln/>
        </p:spPr>
        <p:txBody>
          <a:bodyPr wrap="square" lIns="0" tIns="0" rIns="0" bIns="0" rtlCol="0" anchor="ctr"/>
          <a:lstStyle/>
          <a:p>
            <a:pPr marL="0" indent="0" algn="l">
              <a:buNone/>
            </a:pPr>
            <a:r>
              <a:rPr lang="en-US" sz="900" dirty="0">
                <a:solidFill>
                  <a:srgbClr val="5B6675"/>
                </a:solidFill>
                <a:latin typeface="Calibri" pitchFamily="34" charset="0"/>
                <a:ea typeface="Calibri" pitchFamily="34" charset="-122"/>
                <a:cs typeface="Calibri" pitchFamily="34" charset="-120"/>
              </a:rPr>
              <a:t>Rule</a:t>
            </a:r>
            <a:endParaRPr lang="en-US" sz="900" dirty="0"/>
          </a:p>
        </p:txBody>
      </p:sp>
      <p:sp>
        <p:nvSpPr>
          <p:cNvPr id="89" name="Text 87"/>
          <p:cNvSpPr/>
          <p:nvPr/>
        </p:nvSpPr>
        <p:spPr>
          <a:xfrm>
            <a:off x="6309360" y="3255264"/>
            <a:ext cx="1737360" cy="182880"/>
          </a:xfrm>
          <a:prstGeom prst="rect">
            <a:avLst/>
          </a:prstGeom>
          <a:noFill/>
          <a:ln/>
        </p:spPr>
        <p:txBody>
          <a:bodyPr wrap="square" lIns="0" tIns="0" rIns="0" bIns="0" rtlCol="0" anchor="ctr"/>
          <a:lstStyle/>
          <a:p>
            <a:pPr marL="0" indent="0" algn="l">
              <a:buNone/>
            </a:pPr>
            <a:r>
              <a:rPr lang="en-US" sz="950" b="1" dirty="0">
                <a:solidFill>
                  <a:srgbClr val="2B3440"/>
                </a:solidFill>
                <a:latin typeface="Calibri" pitchFamily="34" charset="0"/>
                <a:ea typeface="Calibri" pitchFamily="34" charset="-122"/>
                <a:cs typeface="Calibri" pitchFamily="34" charset="-120"/>
              </a:rPr>
              <a:t>HIGH_VALUE</a:t>
            </a:r>
            <a:endParaRPr lang="en-US" sz="950" dirty="0"/>
          </a:p>
        </p:txBody>
      </p:sp>
      <p:sp>
        <p:nvSpPr>
          <p:cNvPr id="90" name="Shape 88"/>
          <p:cNvSpPr/>
          <p:nvPr/>
        </p:nvSpPr>
        <p:spPr>
          <a:xfrm>
            <a:off x="5504688" y="3511296"/>
            <a:ext cx="2752344" cy="566928"/>
          </a:xfrm>
          <a:prstGeom prst="rect">
            <a:avLst/>
          </a:prstGeom>
          <a:solidFill>
            <a:srgbClr val="FDF0D5"/>
          </a:solidFill>
          <a:ln w="9525">
            <a:solidFill>
              <a:srgbClr val="F29F05"/>
            </a:solidFill>
            <a:prstDash val="solid"/>
          </a:ln>
        </p:spPr>
      </p:sp>
      <p:sp>
        <p:nvSpPr>
          <p:cNvPr id="91" name="Text 89"/>
          <p:cNvSpPr/>
          <p:nvPr/>
        </p:nvSpPr>
        <p:spPr>
          <a:xfrm>
            <a:off x="5577840" y="3511296"/>
            <a:ext cx="2606040" cy="566928"/>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Why flagged: amount exceeds the ₹2,00,000 prototype rule.</a:t>
            </a:r>
            <a:endParaRPr lang="en-US" sz="900" dirty="0"/>
          </a:p>
        </p:txBody>
      </p:sp>
      <p:sp>
        <p:nvSpPr>
          <p:cNvPr id="92" name="Text 90"/>
          <p:cNvSpPr/>
          <p:nvPr/>
        </p:nvSpPr>
        <p:spPr>
          <a:xfrm>
            <a:off x="5504688" y="4151376"/>
            <a:ext cx="2752344" cy="201168"/>
          </a:xfrm>
          <a:prstGeom prst="rect">
            <a:avLst/>
          </a:prstGeom>
          <a:noFill/>
          <a:ln/>
        </p:spPr>
        <p:txBody>
          <a:bodyPr wrap="square" lIns="0" tIns="0" rIns="0" bIns="0" rtlCol="0" anchor="ctr"/>
          <a:lstStyle/>
          <a:p>
            <a:pPr marL="0" indent="0" algn="l">
              <a:buNone/>
            </a:pPr>
            <a:r>
              <a:rPr lang="en-US" sz="900" b="1" dirty="0">
                <a:solidFill>
                  <a:srgbClr val="14213D"/>
                </a:solidFill>
                <a:latin typeface="Calibri" pitchFamily="34" charset="0"/>
                <a:ea typeface="Calibri" pitchFamily="34" charset="-122"/>
                <a:cs typeface="Calibri" pitchFamily="34" charset="-120"/>
              </a:rPr>
              <a:t>Related transactions (5-min window)</a:t>
            </a:r>
            <a:endParaRPr lang="en-US" sz="900" dirty="0"/>
          </a:p>
        </p:txBody>
      </p:sp>
      <p:sp>
        <p:nvSpPr>
          <p:cNvPr id="93" name="Shape 91"/>
          <p:cNvSpPr/>
          <p:nvPr/>
        </p:nvSpPr>
        <p:spPr>
          <a:xfrm>
            <a:off x="5550408" y="4434840"/>
            <a:ext cx="109728" cy="109728"/>
          </a:xfrm>
          <a:prstGeom prst="ellipse">
            <a:avLst/>
          </a:prstGeom>
          <a:solidFill>
            <a:srgbClr val="D1495B"/>
          </a:solidFill>
          <a:ln w="12700">
            <a:solidFill>
              <a:srgbClr val="FFFFFF"/>
            </a:solidFill>
            <a:prstDash val="solid"/>
          </a:ln>
        </p:spPr>
      </p:sp>
      <p:sp>
        <p:nvSpPr>
          <p:cNvPr id="94" name="Text 92"/>
          <p:cNvSpPr/>
          <p:nvPr/>
        </p:nvSpPr>
        <p:spPr>
          <a:xfrm>
            <a:off x="5760720" y="4389120"/>
            <a:ext cx="2194560" cy="201168"/>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12:01:12   ₹3,50,000</a:t>
            </a:r>
            <a:endParaRPr lang="en-US" sz="900" dirty="0"/>
          </a:p>
        </p:txBody>
      </p:sp>
      <p:sp>
        <p:nvSpPr>
          <p:cNvPr id="95" name="Shape 93"/>
          <p:cNvSpPr/>
          <p:nvPr/>
        </p:nvSpPr>
        <p:spPr>
          <a:xfrm>
            <a:off x="5550408" y="4672584"/>
            <a:ext cx="109728" cy="109728"/>
          </a:xfrm>
          <a:prstGeom prst="ellipse">
            <a:avLst/>
          </a:prstGeom>
          <a:solidFill>
            <a:srgbClr val="8A94A0"/>
          </a:solidFill>
          <a:ln w="12700">
            <a:solidFill>
              <a:srgbClr val="FFFFFF"/>
            </a:solidFill>
            <a:prstDash val="solid"/>
          </a:ln>
        </p:spPr>
      </p:sp>
      <p:sp>
        <p:nvSpPr>
          <p:cNvPr id="96" name="Text 94"/>
          <p:cNvSpPr/>
          <p:nvPr/>
        </p:nvSpPr>
        <p:spPr>
          <a:xfrm>
            <a:off x="5760720" y="4626864"/>
            <a:ext cx="2194560" cy="201168"/>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12:00:40   ₹18,000</a:t>
            </a:r>
            <a:endParaRPr lang="en-US" sz="900" dirty="0"/>
          </a:p>
        </p:txBody>
      </p:sp>
      <p:sp>
        <p:nvSpPr>
          <p:cNvPr id="97" name="Shape 95"/>
          <p:cNvSpPr/>
          <p:nvPr/>
        </p:nvSpPr>
        <p:spPr>
          <a:xfrm>
            <a:off x="5550408" y="4910328"/>
            <a:ext cx="109728" cy="109728"/>
          </a:xfrm>
          <a:prstGeom prst="ellipse">
            <a:avLst/>
          </a:prstGeom>
          <a:solidFill>
            <a:srgbClr val="8A94A0"/>
          </a:solidFill>
          <a:ln w="12700">
            <a:solidFill>
              <a:srgbClr val="FFFFFF"/>
            </a:solidFill>
            <a:prstDash val="solid"/>
          </a:ln>
        </p:spPr>
      </p:sp>
      <p:sp>
        <p:nvSpPr>
          <p:cNvPr id="98" name="Text 96"/>
          <p:cNvSpPr/>
          <p:nvPr/>
        </p:nvSpPr>
        <p:spPr>
          <a:xfrm>
            <a:off x="5760720" y="4864608"/>
            <a:ext cx="2194560" cy="201168"/>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12:00:05   ₹9,000</a:t>
            </a:r>
            <a:endParaRPr lang="en-US" sz="900" dirty="0"/>
          </a:p>
        </p:txBody>
      </p:sp>
      <p:sp>
        <p:nvSpPr>
          <p:cNvPr id="99" name="Shape 97"/>
          <p:cNvSpPr/>
          <p:nvPr/>
        </p:nvSpPr>
        <p:spPr>
          <a:xfrm>
            <a:off x="5504688" y="5138928"/>
            <a:ext cx="2752344" cy="274320"/>
          </a:xfrm>
          <a:prstGeom prst="roundRect">
            <a:avLst>
              <a:gd name="adj" fmla="val 16667"/>
            </a:avLst>
          </a:prstGeom>
          <a:solidFill>
            <a:srgbClr val="FFFFFF"/>
          </a:solidFill>
          <a:ln w="9525">
            <a:solidFill>
              <a:srgbClr val="A5ADB7"/>
            </a:solidFill>
            <a:prstDash val="solid"/>
          </a:ln>
        </p:spPr>
      </p:sp>
      <p:sp>
        <p:nvSpPr>
          <p:cNvPr id="100" name="Text 98"/>
          <p:cNvSpPr/>
          <p:nvPr/>
        </p:nvSpPr>
        <p:spPr>
          <a:xfrm>
            <a:off x="5577840" y="5138928"/>
            <a:ext cx="2606040" cy="274320"/>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Status: New  ▾</a:t>
            </a:r>
            <a:endParaRPr lang="en-US" sz="900" dirty="0"/>
          </a:p>
        </p:txBody>
      </p:sp>
      <p:sp>
        <p:nvSpPr>
          <p:cNvPr id="101" name="Shape 99"/>
          <p:cNvSpPr/>
          <p:nvPr/>
        </p:nvSpPr>
        <p:spPr>
          <a:xfrm>
            <a:off x="5504688" y="5522976"/>
            <a:ext cx="1188720" cy="310896"/>
          </a:xfrm>
          <a:prstGeom prst="roundRect">
            <a:avLst>
              <a:gd name="adj" fmla="val 14706"/>
            </a:avLst>
          </a:prstGeom>
          <a:solidFill>
            <a:srgbClr val="0E9AA7"/>
          </a:solidFill>
          <a:ln w="12700">
            <a:solidFill>
              <a:srgbClr val="0E9AA7"/>
            </a:solidFill>
            <a:prstDash val="solid"/>
          </a:ln>
        </p:spPr>
      </p:sp>
      <p:sp>
        <p:nvSpPr>
          <p:cNvPr id="102" name="Text 100"/>
          <p:cNvSpPr/>
          <p:nvPr/>
        </p:nvSpPr>
        <p:spPr>
          <a:xfrm>
            <a:off x="5504688" y="5522976"/>
            <a:ext cx="11887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Escalate</a:t>
            </a:r>
            <a:endParaRPr lang="en-US" sz="950" dirty="0"/>
          </a:p>
        </p:txBody>
      </p:sp>
      <p:sp>
        <p:nvSpPr>
          <p:cNvPr id="103" name="Shape 101"/>
          <p:cNvSpPr/>
          <p:nvPr/>
        </p:nvSpPr>
        <p:spPr>
          <a:xfrm>
            <a:off x="6784848" y="5522976"/>
            <a:ext cx="1188720" cy="310896"/>
          </a:xfrm>
          <a:prstGeom prst="roundRect">
            <a:avLst>
              <a:gd name="adj" fmla="val 14706"/>
            </a:avLst>
          </a:prstGeom>
          <a:solidFill>
            <a:srgbClr val="FFFFFF"/>
          </a:solidFill>
          <a:ln w="12700">
            <a:solidFill>
              <a:srgbClr val="8A94A0"/>
            </a:solidFill>
            <a:prstDash val="solid"/>
          </a:ln>
        </p:spPr>
      </p:sp>
      <p:sp>
        <p:nvSpPr>
          <p:cNvPr id="104" name="Text 102"/>
          <p:cNvSpPr/>
          <p:nvPr/>
        </p:nvSpPr>
        <p:spPr>
          <a:xfrm>
            <a:off x="6784848" y="5522976"/>
            <a:ext cx="1188720" cy="310896"/>
          </a:xfrm>
          <a:prstGeom prst="rect">
            <a:avLst/>
          </a:prstGeom>
          <a:noFill/>
          <a:ln/>
        </p:spPr>
        <p:txBody>
          <a:bodyPr wrap="square" lIns="0" tIns="0" rIns="0" bIns="0" rtlCol="0" anchor="ctr"/>
          <a:lstStyle/>
          <a:p>
            <a:pPr marL="0" indent="0" algn="ctr">
              <a:buNone/>
            </a:pPr>
            <a:r>
              <a:rPr lang="en-US" sz="950" b="1" dirty="0">
                <a:solidFill>
                  <a:srgbClr val="2B3440"/>
                </a:solidFill>
                <a:latin typeface="Calibri" pitchFamily="34" charset="0"/>
                <a:ea typeface="Calibri" pitchFamily="34" charset="-122"/>
                <a:cs typeface="Calibri" pitchFamily="34" charset="-120"/>
              </a:rPr>
              <a:t>Mark reviewed</a:t>
            </a:r>
            <a:endParaRPr lang="en-US" sz="950" dirty="0"/>
          </a:p>
        </p:txBody>
      </p:sp>
      <p:sp>
        <p:nvSpPr>
          <p:cNvPr id="105" name="Shape 103"/>
          <p:cNvSpPr/>
          <p:nvPr/>
        </p:nvSpPr>
        <p:spPr>
          <a:xfrm>
            <a:off x="1883664" y="2121408"/>
            <a:ext cx="246888" cy="246888"/>
          </a:xfrm>
          <a:prstGeom prst="ellipse">
            <a:avLst/>
          </a:prstGeom>
          <a:solidFill>
            <a:srgbClr val="D1495B"/>
          </a:solidFill>
          <a:ln w="15875">
            <a:solidFill>
              <a:srgbClr val="FFFFFF"/>
            </a:solidFill>
            <a:prstDash val="solid"/>
          </a:ln>
        </p:spPr>
      </p:sp>
      <p:sp>
        <p:nvSpPr>
          <p:cNvPr id="106" name="Text 104"/>
          <p:cNvSpPr/>
          <p:nvPr/>
        </p:nvSpPr>
        <p:spPr>
          <a:xfrm>
            <a:off x="1883664" y="21214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7" name="Shape 105"/>
          <p:cNvSpPr/>
          <p:nvPr/>
        </p:nvSpPr>
        <p:spPr>
          <a:xfrm>
            <a:off x="5221224" y="2139696"/>
            <a:ext cx="246888" cy="246888"/>
          </a:xfrm>
          <a:prstGeom prst="ellipse">
            <a:avLst/>
          </a:prstGeom>
          <a:solidFill>
            <a:srgbClr val="D1495B"/>
          </a:solidFill>
          <a:ln w="15875">
            <a:solidFill>
              <a:srgbClr val="FFFFFF"/>
            </a:solidFill>
            <a:prstDash val="solid"/>
          </a:ln>
        </p:spPr>
      </p:sp>
      <p:sp>
        <p:nvSpPr>
          <p:cNvPr id="108" name="Text 106"/>
          <p:cNvSpPr/>
          <p:nvPr/>
        </p:nvSpPr>
        <p:spPr>
          <a:xfrm>
            <a:off x="5221224" y="213969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9" name="Shape 107"/>
          <p:cNvSpPr/>
          <p:nvPr/>
        </p:nvSpPr>
        <p:spPr>
          <a:xfrm>
            <a:off x="5221224" y="3447288"/>
            <a:ext cx="246888" cy="246888"/>
          </a:xfrm>
          <a:prstGeom prst="ellipse">
            <a:avLst/>
          </a:prstGeom>
          <a:solidFill>
            <a:srgbClr val="D1495B"/>
          </a:solidFill>
          <a:ln w="15875">
            <a:solidFill>
              <a:srgbClr val="FFFFFF"/>
            </a:solidFill>
            <a:prstDash val="solid"/>
          </a:ln>
        </p:spPr>
      </p:sp>
      <p:sp>
        <p:nvSpPr>
          <p:cNvPr id="110" name="Text 108"/>
          <p:cNvSpPr/>
          <p:nvPr/>
        </p:nvSpPr>
        <p:spPr>
          <a:xfrm>
            <a:off x="5221224" y="344728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1" name="Shape 109"/>
          <p:cNvSpPr/>
          <p:nvPr/>
        </p:nvSpPr>
        <p:spPr>
          <a:xfrm>
            <a:off x="5221224" y="4087368"/>
            <a:ext cx="246888" cy="246888"/>
          </a:xfrm>
          <a:prstGeom prst="ellipse">
            <a:avLst/>
          </a:prstGeom>
          <a:solidFill>
            <a:srgbClr val="D1495B"/>
          </a:solidFill>
          <a:ln w="15875">
            <a:solidFill>
              <a:srgbClr val="FFFFFF"/>
            </a:solidFill>
            <a:prstDash val="solid"/>
          </a:ln>
        </p:spPr>
      </p:sp>
      <p:sp>
        <p:nvSpPr>
          <p:cNvPr id="112" name="Text 110"/>
          <p:cNvSpPr/>
          <p:nvPr/>
        </p:nvSpPr>
        <p:spPr>
          <a:xfrm>
            <a:off x="5221224" y="408736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13" name="Shape 111"/>
          <p:cNvSpPr/>
          <p:nvPr/>
        </p:nvSpPr>
        <p:spPr>
          <a:xfrm>
            <a:off x="5221224" y="5458968"/>
            <a:ext cx="246888" cy="246888"/>
          </a:xfrm>
          <a:prstGeom prst="ellipse">
            <a:avLst/>
          </a:prstGeom>
          <a:solidFill>
            <a:srgbClr val="D1495B"/>
          </a:solidFill>
          <a:ln w="15875">
            <a:solidFill>
              <a:srgbClr val="FFFFFF"/>
            </a:solidFill>
            <a:prstDash val="solid"/>
          </a:ln>
        </p:spPr>
      </p:sp>
      <p:sp>
        <p:nvSpPr>
          <p:cNvPr id="114" name="Text 112"/>
          <p:cNvSpPr/>
          <p:nvPr/>
        </p:nvSpPr>
        <p:spPr>
          <a:xfrm>
            <a:off x="5221224" y="545896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15" name="Shape 113"/>
          <p:cNvSpPr/>
          <p:nvPr/>
        </p:nvSpPr>
        <p:spPr>
          <a:xfrm>
            <a:off x="8778240" y="1371600"/>
            <a:ext cx="2862072" cy="4892040"/>
          </a:xfrm>
          <a:prstGeom prst="rect">
            <a:avLst/>
          </a:prstGeom>
          <a:solidFill>
            <a:srgbClr val="FFFFFF"/>
          </a:solidFill>
          <a:ln w="9525">
            <a:solidFill>
              <a:srgbClr val="D0D6DD"/>
            </a:solidFill>
            <a:prstDash val="solid"/>
          </a:ln>
          <a:effectLst>
            <a:outerShdw blurRad="76200" dist="25400" dir="8100000" algn="bl" rotWithShape="0">
              <a:srgbClr val="000000">
                <a:alpha val="10000"/>
              </a:srgbClr>
            </a:outerShdw>
          </a:effectLst>
        </p:spPr>
      </p:sp>
      <p:sp>
        <p:nvSpPr>
          <p:cNvPr id="116" name="Text 114"/>
          <p:cNvSpPr/>
          <p:nvPr/>
        </p:nvSpPr>
        <p:spPr>
          <a:xfrm>
            <a:off x="8961120" y="1481328"/>
            <a:ext cx="2496312" cy="274320"/>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ANNOTATIONS</a:t>
            </a:r>
            <a:endParaRPr lang="en-US" sz="1100" dirty="0"/>
          </a:p>
        </p:txBody>
      </p:sp>
      <p:sp>
        <p:nvSpPr>
          <p:cNvPr id="117" name="Shape 115"/>
          <p:cNvSpPr/>
          <p:nvPr/>
        </p:nvSpPr>
        <p:spPr>
          <a:xfrm>
            <a:off x="8942832" y="1892808"/>
            <a:ext cx="246888" cy="246888"/>
          </a:xfrm>
          <a:prstGeom prst="ellipse">
            <a:avLst/>
          </a:prstGeom>
          <a:solidFill>
            <a:srgbClr val="D1495B"/>
          </a:solidFill>
          <a:ln w="15875">
            <a:solidFill>
              <a:srgbClr val="FFFFFF"/>
            </a:solidFill>
            <a:prstDash val="solid"/>
          </a:ln>
        </p:spPr>
      </p:sp>
      <p:sp>
        <p:nvSpPr>
          <p:cNvPr id="118" name="Text 116"/>
          <p:cNvSpPr/>
          <p:nvPr/>
        </p:nvSpPr>
        <p:spPr>
          <a:xfrm>
            <a:off x="8942832" y="18928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9" name="Text 117"/>
          <p:cNvSpPr/>
          <p:nvPr/>
        </p:nvSpPr>
        <p:spPr>
          <a:xfrm>
            <a:off x="9308592" y="1874520"/>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Alert queue</a:t>
            </a:r>
            <a:endParaRPr lang="en-US" sz="1150" dirty="0"/>
          </a:p>
        </p:txBody>
      </p:sp>
      <p:sp>
        <p:nvSpPr>
          <p:cNvPr id="120" name="Text 118"/>
          <p:cNvSpPr/>
          <p:nvPr/>
        </p:nvSpPr>
        <p:spPr>
          <a:xfrm>
            <a:off x="9308592" y="2121408"/>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Tabs filter by status. Newest first; selected alert has a teal outline. Data: GET /api/alerts.</a:t>
            </a:r>
            <a:endParaRPr lang="en-US" sz="1000" dirty="0"/>
          </a:p>
        </p:txBody>
      </p:sp>
      <p:sp>
        <p:nvSpPr>
          <p:cNvPr id="121" name="Shape 119"/>
          <p:cNvSpPr/>
          <p:nvPr/>
        </p:nvSpPr>
        <p:spPr>
          <a:xfrm>
            <a:off x="8942832" y="2770632"/>
            <a:ext cx="246888" cy="246888"/>
          </a:xfrm>
          <a:prstGeom prst="ellipse">
            <a:avLst/>
          </a:prstGeom>
          <a:solidFill>
            <a:srgbClr val="D1495B"/>
          </a:solidFill>
          <a:ln w="15875">
            <a:solidFill>
              <a:srgbClr val="FFFFFF"/>
            </a:solidFill>
            <a:prstDash val="solid"/>
          </a:ln>
        </p:spPr>
      </p:sp>
      <p:sp>
        <p:nvSpPr>
          <p:cNvPr id="122" name="Text 120"/>
          <p:cNvSpPr/>
          <p:nvPr/>
        </p:nvSpPr>
        <p:spPr>
          <a:xfrm>
            <a:off x="8942832" y="277063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3" name="Text 121"/>
          <p:cNvSpPr/>
          <p:nvPr/>
        </p:nvSpPr>
        <p:spPr>
          <a:xfrm>
            <a:off x="9308592" y="2752344"/>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Drawer header</a:t>
            </a:r>
            <a:endParaRPr lang="en-US" sz="1150" dirty="0"/>
          </a:p>
        </p:txBody>
      </p:sp>
      <p:sp>
        <p:nvSpPr>
          <p:cNvPr id="124" name="Text 122"/>
          <p:cNvSpPr/>
          <p:nvPr/>
        </p:nvSpPr>
        <p:spPr>
          <a:xfrm>
            <a:off x="9308592" y="2999232"/>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Alert ID, severity and customer context. Opens from S1 or the queue.</a:t>
            </a:r>
            <a:endParaRPr lang="en-US" sz="1000" dirty="0"/>
          </a:p>
        </p:txBody>
      </p:sp>
      <p:sp>
        <p:nvSpPr>
          <p:cNvPr id="125" name="Shape 123"/>
          <p:cNvSpPr/>
          <p:nvPr/>
        </p:nvSpPr>
        <p:spPr>
          <a:xfrm>
            <a:off x="8942832" y="3648456"/>
            <a:ext cx="246888" cy="246888"/>
          </a:xfrm>
          <a:prstGeom prst="ellipse">
            <a:avLst/>
          </a:prstGeom>
          <a:solidFill>
            <a:srgbClr val="D1495B"/>
          </a:solidFill>
          <a:ln w="15875">
            <a:solidFill>
              <a:srgbClr val="FFFFFF"/>
            </a:solidFill>
            <a:prstDash val="solid"/>
          </a:ln>
        </p:spPr>
      </p:sp>
      <p:sp>
        <p:nvSpPr>
          <p:cNvPr id="126" name="Text 124"/>
          <p:cNvSpPr/>
          <p:nvPr/>
        </p:nvSpPr>
        <p:spPr>
          <a:xfrm>
            <a:off x="8942832" y="364845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27" name="Text 125"/>
          <p:cNvSpPr/>
          <p:nvPr/>
        </p:nvSpPr>
        <p:spPr>
          <a:xfrm>
            <a:off x="9308592" y="3630168"/>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Why flagged</a:t>
            </a:r>
            <a:endParaRPr lang="en-US" sz="1150" dirty="0"/>
          </a:p>
        </p:txBody>
      </p:sp>
      <p:sp>
        <p:nvSpPr>
          <p:cNvPr id="128" name="Text 126"/>
          <p:cNvSpPr/>
          <p:nvPr/>
        </p:nvSpPr>
        <p:spPr>
          <a:xfrm>
            <a:off x="9308592" y="3877056"/>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Plain-language rule explanation, which is the key explainability element in the demo.</a:t>
            </a:r>
            <a:endParaRPr lang="en-US" sz="1000" dirty="0"/>
          </a:p>
        </p:txBody>
      </p:sp>
      <p:sp>
        <p:nvSpPr>
          <p:cNvPr id="129" name="Shape 127"/>
          <p:cNvSpPr/>
          <p:nvPr/>
        </p:nvSpPr>
        <p:spPr>
          <a:xfrm>
            <a:off x="8942832" y="4526280"/>
            <a:ext cx="246888" cy="246888"/>
          </a:xfrm>
          <a:prstGeom prst="ellipse">
            <a:avLst/>
          </a:prstGeom>
          <a:solidFill>
            <a:srgbClr val="D1495B"/>
          </a:solidFill>
          <a:ln w="15875">
            <a:solidFill>
              <a:srgbClr val="FFFFFF"/>
            </a:solidFill>
            <a:prstDash val="solid"/>
          </a:ln>
        </p:spPr>
      </p:sp>
      <p:sp>
        <p:nvSpPr>
          <p:cNvPr id="130" name="Text 128"/>
          <p:cNvSpPr/>
          <p:nvPr/>
        </p:nvSpPr>
        <p:spPr>
          <a:xfrm>
            <a:off x="8942832" y="452628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1" name="Text 129"/>
          <p:cNvSpPr/>
          <p:nvPr/>
        </p:nvSpPr>
        <p:spPr>
          <a:xfrm>
            <a:off x="9308592" y="4507992"/>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Related transactions</a:t>
            </a:r>
            <a:endParaRPr lang="en-US" sz="1150" dirty="0"/>
          </a:p>
        </p:txBody>
      </p:sp>
      <p:sp>
        <p:nvSpPr>
          <p:cNvPr id="132" name="Text 130"/>
          <p:cNvSpPr/>
          <p:nvPr/>
        </p:nvSpPr>
        <p:spPr>
          <a:xfrm>
            <a:off x="9308592" y="4754880"/>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Events from the same customer inside the aggregation window.</a:t>
            </a:r>
            <a:endParaRPr lang="en-US" sz="1000" dirty="0"/>
          </a:p>
        </p:txBody>
      </p:sp>
      <p:sp>
        <p:nvSpPr>
          <p:cNvPr id="133" name="Shape 131"/>
          <p:cNvSpPr/>
          <p:nvPr/>
        </p:nvSpPr>
        <p:spPr>
          <a:xfrm>
            <a:off x="8942832" y="5404104"/>
            <a:ext cx="246888" cy="246888"/>
          </a:xfrm>
          <a:prstGeom prst="ellipse">
            <a:avLst/>
          </a:prstGeom>
          <a:solidFill>
            <a:srgbClr val="D1495B"/>
          </a:solidFill>
          <a:ln w="15875">
            <a:solidFill>
              <a:srgbClr val="FFFFFF"/>
            </a:solidFill>
            <a:prstDash val="solid"/>
          </a:ln>
        </p:spPr>
      </p:sp>
      <p:sp>
        <p:nvSpPr>
          <p:cNvPr id="134" name="Text 132"/>
          <p:cNvSpPr/>
          <p:nvPr/>
        </p:nvSpPr>
        <p:spPr>
          <a:xfrm>
            <a:off x="8942832" y="5404104"/>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35" name="Text 133"/>
          <p:cNvSpPr/>
          <p:nvPr/>
        </p:nvSpPr>
        <p:spPr>
          <a:xfrm>
            <a:off x="9308592" y="5385816"/>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Actions</a:t>
            </a:r>
            <a:endParaRPr lang="en-US" sz="1150" dirty="0"/>
          </a:p>
        </p:txBody>
      </p:sp>
      <p:sp>
        <p:nvSpPr>
          <p:cNvPr id="136" name="Text 134"/>
          <p:cNvSpPr/>
          <p:nvPr/>
        </p:nvSpPr>
        <p:spPr>
          <a:xfrm>
            <a:off x="9308592" y="5632704"/>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Update status via PATCH /api/alerts/{id}. The queue and dashboard update immediately.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A7"/>
          </a:solidFill>
          <a:ln w="12700">
            <a:solidFill>
              <a:srgbClr val="0E9AA7"/>
            </a:solidFill>
            <a:prstDash val="solid"/>
          </a:ln>
        </p:spPr>
      </p:sp>
      <p:sp>
        <p:nvSpPr>
          <p:cNvPr id="3" name="Shape 1"/>
          <p:cNvSpPr/>
          <p:nvPr/>
        </p:nvSpPr>
        <p:spPr>
          <a:xfrm>
            <a:off x="548640" y="384048"/>
            <a:ext cx="566928" cy="347472"/>
          </a:xfrm>
          <a:prstGeom prst="roundRect">
            <a:avLst>
              <a:gd name="adj" fmla="val 21053"/>
            </a:avLst>
          </a:prstGeom>
          <a:solidFill>
            <a:srgbClr val="14213D"/>
          </a:solidFill>
          <a:ln w="12700">
            <a:solidFill>
              <a:srgbClr val="14213D"/>
            </a:solidFill>
            <a:prstDash val="solid"/>
          </a:ln>
        </p:spPr>
      </p:sp>
      <p:sp>
        <p:nvSpPr>
          <p:cNvPr id="4" name="Text 2"/>
          <p:cNvSpPr/>
          <p:nvPr/>
        </p:nvSpPr>
        <p:spPr>
          <a:xfrm>
            <a:off x="548640" y="384048"/>
            <a:ext cx="56692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S4</a:t>
            </a:r>
            <a:endParaRPr lang="en-US" sz="1300" dirty="0"/>
          </a:p>
        </p:txBody>
      </p:sp>
      <p:sp>
        <p:nvSpPr>
          <p:cNvPr id="5" name="Text 3"/>
          <p:cNvSpPr/>
          <p:nvPr/>
        </p:nvSpPr>
        <p:spPr>
          <a:xfrm>
            <a:off x="1280160" y="320040"/>
            <a:ext cx="10332720" cy="475488"/>
          </a:xfrm>
          <a:prstGeom prst="rect">
            <a:avLst/>
          </a:prstGeom>
          <a:noFill/>
          <a:ln/>
        </p:spPr>
        <p:txBody>
          <a:bodyPr wrap="square" lIns="0" tIns="0" rIns="0" bIns="0" rtlCol="0" anchor="ctr"/>
          <a:lstStyle/>
          <a:p>
            <a:pPr marL="0" indent="0" algn="l">
              <a:buNone/>
            </a:pPr>
            <a:r>
              <a:rPr lang="en-US" sz="2800" b="1" dirty="0">
                <a:solidFill>
                  <a:srgbClr val="14213D"/>
                </a:solidFill>
                <a:latin typeface="Calibri" pitchFamily="34" charset="0"/>
                <a:ea typeface="Calibri" pitchFamily="34" charset="-122"/>
                <a:cs typeface="Calibri" pitchFamily="34" charset="-120"/>
              </a:rPr>
              <a:t>Pipeline Health</a:t>
            </a:r>
            <a:endParaRPr lang="en-US" sz="2800" dirty="0"/>
          </a:p>
        </p:txBody>
      </p:sp>
      <p:sp>
        <p:nvSpPr>
          <p:cNvPr id="6" name="Text 4"/>
          <p:cNvSpPr/>
          <p:nvPr/>
        </p:nvSpPr>
        <p:spPr>
          <a:xfrm>
            <a:off x="1280160" y="841248"/>
            <a:ext cx="10789920" cy="365760"/>
          </a:xfrm>
          <a:prstGeom prst="rect">
            <a:avLst/>
          </a:prstGeom>
          <a:noFill/>
          <a:ln/>
        </p:spPr>
        <p:txBody>
          <a:bodyPr wrap="square" lIns="0" tIns="0" rIns="0" bIns="0" rtlCol="0" anchor="ctr"/>
          <a:lstStyle/>
          <a:p>
            <a:pPr marL="0" indent="0" algn="l">
              <a:buNone/>
            </a:pPr>
            <a:r>
              <a:rPr lang="en-US" sz="1400" dirty="0">
                <a:solidFill>
                  <a:srgbClr val="5B6675"/>
                </a:solidFill>
                <a:latin typeface="Calibri" pitchFamily="34" charset="0"/>
                <a:ea typeface="Calibri" pitchFamily="34" charset="-122"/>
                <a:cs typeface="Calibri" pitchFamily="34" charset="-120"/>
              </a:rPr>
              <a:t>Show that every stage from simulator to API is running, and where messages are</a:t>
            </a:r>
            <a:endParaRPr lang="en-US" sz="1400" dirty="0"/>
          </a:p>
        </p:txBody>
      </p:sp>
      <p:sp>
        <p:nvSpPr>
          <p:cNvPr id="7" name="Text 5"/>
          <p:cNvSpPr/>
          <p:nvPr/>
        </p:nvSpPr>
        <p:spPr>
          <a:xfrm>
            <a:off x="548640" y="6446520"/>
            <a:ext cx="6400800" cy="256032"/>
          </a:xfrm>
          <a:prstGeom prst="rect">
            <a:avLst/>
          </a:prstGeom>
          <a:noFill/>
          <a:ln/>
        </p:spPr>
        <p:txBody>
          <a:bodyPr wrap="square" lIns="0" tIns="0" rIns="0" bIns="0" rtlCol="0" anchor="ctr"/>
          <a:lstStyle/>
          <a:p>
            <a:pPr marL="0" indent="0" algn="l">
              <a:buNone/>
            </a:pPr>
            <a:r>
              <a:rPr lang="en-US" sz="1000" dirty="0">
                <a:solidFill>
                  <a:srgbClr val="5B6675"/>
                </a:solidFill>
                <a:latin typeface="Calibri" pitchFamily="34" charset="0"/>
                <a:ea typeface="Calibri" pitchFamily="34" charset="-122"/>
                <a:cs typeface="Calibri" pitchFamily="34" charset="-120"/>
              </a:rPr>
              <a:t>Prototype Wireframes  |  Kafka Streams Real-Time Ingestion</a:t>
            </a:r>
            <a:endParaRPr lang="en-US" sz="1000" dirty="0"/>
          </a:p>
        </p:txBody>
      </p:sp>
      <p:sp>
        <p:nvSpPr>
          <p:cNvPr id="8" name="Text 6"/>
          <p:cNvSpPr/>
          <p:nvPr/>
        </p:nvSpPr>
        <p:spPr>
          <a:xfrm>
            <a:off x="11155680" y="6446520"/>
            <a:ext cx="548640" cy="256032"/>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6</a:t>
            </a:r>
            <a:endParaRPr lang="en-US" sz="1000" dirty="0"/>
          </a:p>
        </p:txBody>
      </p:sp>
      <p:sp>
        <p:nvSpPr>
          <p:cNvPr id="9" name="Shape 7"/>
          <p:cNvSpPr/>
          <p:nvPr/>
        </p:nvSpPr>
        <p:spPr>
          <a:xfrm>
            <a:off x="548640" y="1371600"/>
            <a:ext cx="7955280" cy="4892040"/>
          </a:xfrm>
          <a:prstGeom prst="rect">
            <a:avLst/>
          </a:prstGeom>
          <a:solidFill>
            <a:srgbClr val="FFFFFF"/>
          </a:solidFill>
          <a:ln w="15875">
            <a:solidFill>
              <a:srgbClr val="8A94A0"/>
            </a:solidFill>
            <a:prstDash val="solid"/>
          </a:ln>
          <a:effectLst>
            <a:outerShdw blurRad="76200" dist="25400" dir="8100000" algn="bl" rotWithShape="0">
              <a:srgbClr val="000000">
                <a:alpha val="10000"/>
              </a:srgbClr>
            </a:outerShdw>
          </a:effectLst>
        </p:spPr>
      </p:sp>
      <p:sp>
        <p:nvSpPr>
          <p:cNvPr id="10" name="Shape 8"/>
          <p:cNvSpPr/>
          <p:nvPr/>
        </p:nvSpPr>
        <p:spPr>
          <a:xfrm>
            <a:off x="548640" y="1371600"/>
            <a:ext cx="7955280" cy="292608"/>
          </a:xfrm>
          <a:prstGeom prst="rect">
            <a:avLst/>
          </a:prstGeom>
          <a:solidFill>
            <a:srgbClr val="D5DAE0"/>
          </a:solidFill>
          <a:ln w="12700">
            <a:solidFill>
              <a:srgbClr val="D5DAE0"/>
            </a:solidFill>
            <a:prstDash val="solid"/>
          </a:ln>
        </p:spPr>
      </p:sp>
      <p:sp>
        <p:nvSpPr>
          <p:cNvPr id="11" name="Shape 9"/>
          <p:cNvSpPr/>
          <p:nvPr/>
        </p:nvSpPr>
        <p:spPr>
          <a:xfrm>
            <a:off x="676656" y="1463040"/>
            <a:ext cx="109728" cy="109728"/>
          </a:xfrm>
          <a:prstGeom prst="ellipse">
            <a:avLst/>
          </a:prstGeom>
          <a:solidFill>
            <a:srgbClr val="9AA3AE"/>
          </a:solidFill>
          <a:ln w="12700">
            <a:solidFill>
              <a:srgbClr val="9AA3AE"/>
            </a:solidFill>
            <a:prstDash val="solid"/>
          </a:ln>
        </p:spPr>
      </p:sp>
      <p:sp>
        <p:nvSpPr>
          <p:cNvPr id="12" name="Shape 10"/>
          <p:cNvSpPr/>
          <p:nvPr/>
        </p:nvSpPr>
        <p:spPr>
          <a:xfrm>
            <a:off x="859536" y="1463040"/>
            <a:ext cx="109728" cy="109728"/>
          </a:xfrm>
          <a:prstGeom prst="ellipse">
            <a:avLst/>
          </a:prstGeom>
          <a:solidFill>
            <a:srgbClr val="9AA3AE"/>
          </a:solidFill>
          <a:ln w="12700">
            <a:solidFill>
              <a:srgbClr val="9AA3AE"/>
            </a:solidFill>
            <a:prstDash val="solid"/>
          </a:ln>
        </p:spPr>
      </p:sp>
      <p:sp>
        <p:nvSpPr>
          <p:cNvPr id="13" name="Shape 11"/>
          <p:cNvSpPr/>
          <p:nvPr/>
        </p:nvSpPr>
        <p:spPr>
          <a:xfrm>
            <a:off x="1042416" y="1463040"/>
            <a:ext cx="109728" cy="109728"/>
          </a:xfrm>
          <a:prstGeom prst="ellipse">
            <a:avLst/>
          </a:prstGeom>
          <a:solidFill>
            <a:srgbClr val="9AA3AE"/>
          </a:solidFill>
          <a:ln w="12700">
            <a:solidFill>
              <a:srgbClr val="9AA3AE"/>
            </a:solidFill>
            <a:prstDash val="solid"/>
          </a:ln>
        </p:spPr>
      </p:sp>
      <p:sp>
        <p:nvSpPr>
          <p:cNvPr id="14" name="Shape 12"/>
          <p:cNvSpPr/>
          <p:nvPr/>
        </p:nvSpPr>
        <p:spPr>
          <a:xfrm>
            <a:off x="1371600" y="1426464"/>
            <a:ext cx="3108960" cy="182880"/>
          </a:xfrm>
          <a:prstGeom prst="roundRect">
            <a:avLst>
              <a:gd name="adj" fmla="val 25000"/>
            </a:avLst>
          </a:prstGeom>
          <a:solidFill>
            <a:srgbClr val="FFFFFF"/>
          </a:solidFill>
          <a:ln w="12700">
            <a:solidFill>
              <a:srgbClr val="FFFFFF"/>
            </a:solidFill>
            <a:prstDash val="solid"/>
          </a:ln>
        </p:spPr>
      </p:sp>
      <p:sp>
        <p:nvSpPr>
          <p:cNvPr id="15" name="Text 13"/>
          <p:cNvSpPr/>
          <p:nvPr/>
        </p:nvSpPr>
        <p:spPr>
          <a:xfrm>
            <a:off x="1463040" y="1426464"/>
            <a:ext cx="2926080" cy="182880"/>
          </a:xfrm>
          <a:prstGeom prst="rect">
            <a:avLst/>
          </a:prstGeom>
          <a:noFill/>
          <a:ln/>
        </p:spPr>
        <p:txBody>
          <a:bodyPr wrap="square" lIns="0" tIns="0" rIns="0" bIns="0" rtlCol="0" anchor="ctr"/>
          <a:lstStyle/>
          <a:p>
            <a:pPr marL="0" indent="0" algn="l">
              <a:buNone/>
            </a:pPr>
            <a:r>
              <a:rPr lang="en-US" sz="800" dirty="0">
                <a:solidFill>
                  <a:srgbClr val="5B6675"/>
                </a:solidFill>
                <a:latin typeface="Calibri" pitchFamily="34" charset="0"/>
                <a:ea typeface="Calibri" pitchFamily="34" charset="-122"/>
                <a:cs typeface="Calibri" pitchFamily="34" charset="-120"/>
              </a:rPr>
              <a:t>localhost:3000/pipeline</a:t>
            </a:r>
            <a:endParaRPr lang="en-US" sz="800" dirty="0"/>
          </a:p>
        </p:txBody>
      </p:sp>
      <p:sp>
        <p:nvSpPr>
          <p:cNvPr id="16" name="Shape 14"/>
          <p:cNvSpPr/>
          <p:nvPr/>
        </p:nvSpPr>
        <p:spPr>
          <a:xfrm>
            <a:off x="548640" y="1664208"/>
            <a:ext cx="1371600" cy="4599432"/>
          </a:xfrm>
          <a:prstGeom prst="rect">
            <a:avLst/>
          </a:prstGeom>
          <a:solidFill>
            <a:srgbClr val="ECEFF3"/>
          </a:solidFill>
          <a:ln w="12700">
            <a:solidFill>
              <a:srgbClr val="ECEFF3"/>
            </a:solidFill>
            <a:prstDash val="solid"/>
          </a:ln>
        </p:spPr>
      </p:sp>
      <p:sp>
        <p:nvSpPr>
          <p:cNvPr id="17" name="Shape 15"/>
          <p:cNvSpPr/>
          <p:nvPr/>
        </p:nvSpPr>
        <p:spPr>
          <a:xfrm>
            <a:off x="1920240" y="1664208"/>
            <a:ext cx="0" cy="4599432"/>
          </a:xfrm>
          <a:prstGeom prst="line">
            <a:avLst/>
          </a:prstGeom>
          <a:noFill/>
          <a:ln w="9525">
            <a:solidFill>
              <a:srgbClr val="B0B7C0"/>
            </a:solidFill>
            <a:prstDash val="solid"/>
          </a:ln>
        </p:spPr>
      </p:sp>
      <p:sp>
        <p:nvSpPr>
          <p:cNvPr id="18" name="Shape 16"/>
          <p:cNvSpPr/>
          <p:nvPr/>
        </p:nvSpPr>
        <p:spPr>
          <a:xfrm>
            <a:off x="685800" y="1801368"/>
            <a:ext cx="219456" cy="219456"/>
          </a:xfrm>
          <a:prstGeom prst="rect">
            <a:avLst/>
          </a:prstGeom>
          <a:solidFill>
            <a:srgbClr val="14213D"/>
          </a:solidFill>
          <a:ln w="12700">
            <a:solidFill>
              <a:srgbClr val="14213D"/>
            </a:solidFill>
            <a:prstDash val="solid"/>
          </a:ln>
        </p:spPr>
      </p:sp>
      <p:sp>
        <p:nvSpPr>
          <p:cNvPr id="19" name="Text 17"/>
          <p:cNvSpPr/>
          <p:nvPr/>
        </p:nvSpPr>
        <p:spPr>
          <a:xfrm>
            <a:off x="978408" y="1783080"/>
            <a:ext cx="914400" cy="256032"/>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TxnWatch</a:t>
            </a:r>
            <a:endParaRPr lang="en-US" sz="1150" dirty="0"/>
          </a:p>
        </p:txBody>
      </p:sp>
      <p:sp>
        <p:nvSpPr>
          <p:cNvPr id="20" name="Shape 18"/>
          <p:cNvSpPr/>
          <p:nvPr/>
        </p:nvSpPr>
        <p:spPr>
          <a:xfrm>
            <a:off x="713232" y="2331720"/>
            <a:ext cx="128016" cy="128016"/>
          </a:xfrm>
          <a:prstGeom prst="rect">
            <a:avLst/>
          </a:prstGeom>
          <a:solidFill>
            <a:srgbClr val="C9CFD6"/>
          </a:solidFill>
          <a:ln w="12700">
            <a:solidFill>
              <a:srgbClr val="C9CFD6"/>
            </a:solidFill>
            <a:prstDash val="solid"/>
          </a:ln>
        </p:spPr>
      </p:sp>
      <p:sp>
        <p:nvSpPr>
          <p:cNvPr id="21" name="Text 19"/>
          <p:cNvSpPr/>
          <p:nvPr/>
        </p:nvSpPr>
        <p:spPr>
          <a:xfrm>
            <a:off x="914400" y="2240280"/>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Live Dashboard</a:t>
            </a:r>
            <a:endParaRPr lang="en-US" sz="1000" dirty="0"/>
          </a:p>
        </p:txBody>
      </p:sp>
      <p:sp>
        <p:nvSpPr>
          <p:cNvPr id="22" name="Shape 20"/>
          <p:cNvSpPr/>
          <p:nvPr/>
        </p:nvSpPr>
        <p:spPr>
          <a:xfrm>
            <a:off x="713232" y="2715768"/>
            <a:ext cx="128016" cy="128016"/>
          </a:xfrm>
          <a:prstGeom prst="rect">
            <a:avLst/>
          </a:prstGeom>
          <a:solidFill>
            <a:srgbClr val="C9CFD6"/>
          </a:solidFill>
          <a:ln w="12700">
            <a:solidFill>
              <a:srgbClr val="C9CFD6"/>
            </a:solidFill>
            <a:prstDash val="solid"/>
          </a:ln>
        </p:spPr>
      </p:sp>
      <p:sp>
        <p:nvSpPr>
          <p:cNvPr id="23" name="Text 21"/>
          <p:cNvSpPr/>
          <p:nvPr/>
        </p:nvSpPr>
        <p:spPr>
          <a:xfrm>
            <a:off x="914400" y="2624328"/>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Transactions</a:t>
            </a:r>
            <a:endParaRPr lang="en-US" sz="1000" dirty="0"/>
          </a:p>
        </p:txBody>
      </p:sp>
      <p:sp>
        <p:nvSpPr>
          <p:cNvPr id="24" name="Shape 22"/>
          <p:cNvSpPr/>
          <p:nvPr/>
        </p:nvSpPr>
        <p:spPr>
          <a:xfrm>
            <a:off x="713232" y="3099816"/>
            <a:ext cx="128016" cy="128016"/>
          </a:xfrm>
          <a:prstGeom prst="rect">
            <a:avLst/>
          </a:prstGeom>
          <a:solidFill>
            <a:srgbClr val="C9CFD6"/>
          </a:solidFill>
          <a:ln w="12700">
            <a:solidFill>
              <a:srgbClr val="C9CFD6"/>
            </a:solidFill>
            <a:prstDash val="solid"/>
          </a:ln>
        </p:spPr>
      </p:sp>
      <p:sp>
        <p:nvSpPr>
          <p:cNvPr id="25" name="Text 23"/>
          <p:cNvSpPr/>
          <p:nvPr/>
        </p:nvSpPr>
        <p:spPr>
          <a:xfrm>
            <a:off x="914400" y="3008376"/>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Alerts</a:t>
            </a:r>
            <a:endParaRPr lang="en-US" sz="1000" dirty="0"/>
          </a:p>
        </p:txBody>
      </p:sp>
      <p:sp>
        <p:nvSpPr>
          <p:cNvPr id="26" name="Shape 24"/>
          <p:cNvSpPr/>
          <p:nvPr/>
        </p:nvSpPr>
        <p:spPr>
          <a:xfrm>
            <a:off x="621792" y="3392424"/>
            <a:ext cx="1225296" cy="310896"/>
          </a:xfrm>
          <a:prstGeom prst="roundRect">
            <a:avLst>
              <a:gd name="adj" fmla="val 14706"/>
            </a:avLst>
          </a:prstGeom>
          <a:solidFill>
            <a:srgbClr val="0E9AA7"/>
          </a:solidFill>
          <a:ln w="12700">
            <a:solidFill>
              <a:srgbClr val="0E9AA7"/>
            </a:solidFill>
            <a:prstDash val="solid"/>
          </a:ln>
        </p:spPr>
      </p:sp>
      <p:sp>
        <p:nvSpPr>
          <p:cNvPr id="27" name="Text 25"/>
          <p:cNvSpPr/>
          <p:nvPr/>
        </p:nvSpPr>
        <p:spPr>
          <a:xfrm>
            <a:off x="731520" y="3392424"/>
            <a:ext cx="109728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Pipeline Health</a:t>
            </a:r>
            <a:endParaRPr lang="en-US" sz="1000" dirty="0"/>
          </a:p>
        </p:txBody>
      </p:sp>
      <p:sp>
        <p:nvSpPr>
          <p:cNvPr id="28" name="Shape 26"/>
          <p:cNvSpPr/>
          <p:nvPr/>
        </p:nvSpPr>
        <p:spPr>
          <a:xfrm>
            <a:off x="713232" y="3867912"/>
            <a:ext cx="128016" cy="128016"/>
          </a:xfrm>
          <a:prstGeom prst="rect">
            <a:avLst/>
          </a:prstGeom>
          <a:solidFill>
            <a:srgbClr val="C9CFD6"/>
          </a:solidFill>
          <a:ln w="12700">
            <a:solidFill>
              <a:srgbClr val="C9CFD6"/>
            </a:solidFill>
            <a:prstDash val="solid"/>
          </a:ln>
        </p:spPr>
      </p:sp>
      <p:sp>
        <p:nvSpPr>
          <p:cNvPr id="29" name="Text 27"/>
          <p:cNvSpPr/>
          <p:nvPr/>
        </p:nvSpPr>
        <p:spPr>
          <a:xfrm>
            <a:off x="914400" y="3776472"/>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Control Panel</a:t>
            </a:r>
            <a:endParaRPr lang="en-US" sz="1000" dirty="0"/>
          </a:p>
        </p:txBody>
      </p:sp>
      <p:sp>
        <p:nvSpPr>
          <p:cNvPr id="30" name="Text 28"/>
          <p:cNvSpPr/>
          <p:nvPr/>
        </p:nvSpPr>
        <p:spPr>
          <a:xfrm>
            <a:off x="685800" y="5897880"/>
            <a:ext cx="1188720" cy="228600"/>
          </a:xfrm>
          <a:prstGeom prst="rect">
            <a:avLst/>
          </a:prstGeom>
          <a:noFill/>
          <a:ln/>
        </p:spPr>
        <p:txBody>
          <a:bodyPr wrap="square" lIns="0" tIns="0" rIns="0" bIns="0" rtlCol="0" anchor="ctr"/>
          <a:lstStyle/>
          <a:p>
            <a:pPr marL="0" indent="0" algn="l">
              <a:buNone/>
            </a:pPr>
            <a:r>
              <a:rPr lang="en-US" sz="900" b="1" dirty="0">
                <a:solidFill>
                  <a:srgbClr val="2E9E5B"/>
                </a:solidFill>
                <a:latin typeface="Calibri" pitchFamily="34" charset="0"/>
                <a:ea typeface="Calibri" pitchFamily="34" charset="-122"/>
                <a:cs typeface="Calibri" pitchFamily="34" charset="-120"/>
              </a:rPr>
              <a:t>● Connected</a:t>
            </a:r>
            <a:endParaRPr lang="en-US" sz="900" dirty="0"/>
          </a:p>
        </p:txBody>
      </p:sp>
      <p:sp>
        <p:nvSpPr>
          <p:cNvPr id="31" name="Text 29"/>
          <p:cNvSpPr/>
          <p:nvPr/>
        </p:nvSpPr>
        <p:spPr>
          <a:xfrm>
            <a:off x="2057400" y="1755648"/>
            <a:ext cx="2743200" cy="310896"/>
          </a:xfrm>
          <a:prstGeom prst="rect">
            <a:avLst/>
          </a:prstGeom>
          <a:noFill/>
          <a:ln/>
        </p:spPr>
        <p:txBody>
          <a:bodyPr wrap="square" lIns="0" tIns="0" rIns="0" bIns="0" rtlCol="0" anchor="ctr"/>
          <a:lstStyle/>
          <a:p>
            <a:pPr marL="0" indent="0" algn="l">
              <a:buNone/>
            </a:pPr>
            <a:r>
              <a:rPr lang="en-US" sz="1400" b="1" dirty="0">
                <a:solidFill>
                  <a:srgbClr val="14213D"/>
                </a:solidFill>
                <a:latin typeface="Calibri" pitchFamily="34" charset="0"/>
                <a:ea typeface="Calibri" pitchFamily="34" charset="-122"/>
                <a:cs typeface="Calibri" pitchFamily="34" charset="-120"/>
              </a:rPr>
              <a:t>Pipeline Health</a:t>
            </a:r>
            <a:endParaRPr lang="en-US" sz="1400" dirty="0"/>
          </a:p>
        </p:txBody>
      </p:sp>
      <p:sp>
        <p:nvSpPr>
          <p:cNvPr id="32" name="Shape 30"/>
          <p:cNvSpPr/>
          <p:nvPr/>
        </p:nvSpPr>
        <p:spPr>
          <a:xfrm>
            <a:off x="6903720" y="1764792"/>
            <a:ext cx="1463040" cy="274320"/>
          </a:xfrm>
          <a:prstGeom prst="roundRect">
            <a:avLst>
              <a:gd name="adj" fmla="val 16667"/>
            </a:avLst>
          </a:prstGeom>
          <a:solidFill>
            <a:srgbClr val="FFFFFF"/>
          </a:solidFill>
          <a:ln w="9525">
            <a:solidFill>
              <a:srgbClr val="A5ADB7"/>
            </a:solidFill>
            <a:prstDash val="solid"/>
          </a:ln>
        </p:spPr>
      </p:sp>
      <p:sp>
        <p:nvSpPr>
          <p:cNvPr id="33" name="Text 31"/>
          <p:cNvSpPr/>
          <p:nvPr/>
        </p:nvSpPr>
        <p:spPr>
          <a:xfrm>
            <a:off x="6976872" y="1764792"/>
            <a:ext cx="1316736" cy="274320"/>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Auto-refresh 5 s  ▾</a:t>
            </a:r>
            <a:endParaRPr lang="en-US" sz="900" dirty="0"/>
          </a:p>
        </p:txBody>
      </p:sp>
      <p:sp>
        <p:nvSpPr>
          <p:cNvPr id="34" name="Shape 32"/>
          <p:cNvSpPr/>
          <p:nvPr/>
        </p:nvSpPr>
        <p:spPr>
          <a:xfrm>
            <a:off x="2057400" y="2212848"/>
            <a:ext cx="896112" cy="105156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35" name="Shape 33"/>
          <p:cNvSpPr/>
          <p:nvPr/>
        </p:nvSpPr>
        <p:spPr>
          <a:xfrm>
            <a:off x="2057400" y="2212848"/>
            <a:ext cx="896112" cy="64008"/>
          </a:xfrm>
          <a:prstGeom prst="rect">
            <a:avLst/>
          </a:prstGeom>
          <a:solidFill>
            <a:srgbClr val="0E9AA7"/>
          </a:solidFill>
          <a:ln w="12700">
            <a:solidFill>
              <a:srgbClr val="0E9AA7"/>
            </a:solidFill>
            <a:prstDash val="solid"/>
          </a:ln>
        </p:spPr>
      </p:sp>
      <p:sp>
        <p:nvSpPr>
          <p:cNvPr id="36" name="Text 34"/>
          <p:cNvSpPr/>
          <p:nvPr/>
        </p:nvSpPr>
        <p:spPr>
          <a:xfrm>
            <a:off x="2093976" y="2322576"/>
            <a:ext cx="822960" cy="310896"/>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Simulator</a:t>
            </a:r>
            <a:endParaRPr lang="en-US" sz="900" dirty="0"/>
          </a:p>
        </p:txBody>
      </p:sp>
      <p:sp>
        <p:nvSpPr>
          <p:cNvPr id="37" name="Text 35"/>
          <p:cNvSpPr/>
          <p:nvPr/>
        </p:nvSpPr>
        <p:spPr>
          <a:xfrm>
            <a:off x="2093976" y="2624328"/>
            <a:ext cx="822960" cy="228600"/>
          </a:xfrm>
          <a:prstGeom prst="rect">
            <a:avLst/>
          </a:prstGeom>
          <a:noFill/>
          <a:ln/>
        </p:spPr>
        <p:txBody>
          <a:bodyPr wrap="square" lIns="0" tIns="0" rIns="0" bIns="0" rtlCol="0" anchor="ctr"/>
          <a:lstStyle/>
          <a:p>
            <a:pPr marL="0" indent="0" algn="ctr">
              <a:buNone/>
            </a:pPr>
            <a:r>
              <a:rPr lang="en-US" sz="900" dirty="0">
                <a:solidFill>
                  <a:srgbClr val="5B6675"/>
                </a:solidFill>
                <a:latin typeface="Calibri" pitchFamily="34" charset="0"/>
                <a:ea typeface="Calibri" pitchFamily="34" charset="-122"/>
                <a:cs typeface="Calibri" pitchFamily="34" charset="-120"/>
              </a:rPr>
              <a:t>1 evt/s</a:t>
            </a:r>
            <a:endParaRPr lang="en-US" sz="900" dirty="0"/>
          </a:p>
        </p:txBody>
      </p:sp>
      <p:sp>
        <p:nvSpPr>
          <p:cNvPr id="38" name="Shape 36"/>
          <p:cNvSpPr/>
          <p:nvPr/>
        </p:nvSpPr>
        <p:spPr>
          <a:xfrm>
            <a:off x="2304288" y="2916936"/>
            <a:ext cx="402336" cy="219456"/>
          </a:xfrm>
          <a:prstGeom prst="roundRect">
            <a:avLst>
              <a:gd name="adj" fmla="val 33333"/>
            </a:avLst>
          </a:prstGeom>
          <a:solidFill>
            <a:srgbClr val="2E9E5B"/>
          </a:solidFill>
          <a:ln w="12700">
            <a:solidFill>
              <a:srgbClr val="2E9E5B"/>
            </a:solidFill>
            <a:prstDash val="solid"/>
          </a:ln>
        </p:spPr>
      </p:sp>
      <p:sp>
        <p:nvSpPr>
          <p:cNvPr id="39" name="Text 37"/>
          <p:cNvSpPr/>
          <p:nvPr/>
        </p:nvSpPr>
        <p:spPr>
          <a:xfrm>
            <a:off x="2304288" y="2916936"/>
            <a:ext cx="40233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OK</a:t>
            </a:r>
            <a:endParaRPr lang="en-US" sz="850" dirty="0"/>
          </a:p>
        </p:txBody>
      </p:sp>
      <p:sp>
        <p:nvSpPr>
          <p:cNvPr id="40" name="Shape 38"/>
          <p:cNvSpPr/>
          <p:nvPr/>
        </p:nvSpPr>
        <p:spPr>
          <a:xfrm>
            <a:off x="2971800" y="2738628"/>
            <a:ext cx="149962" cy="0"/>
          </a:xfrm>
          <a:prstGeom prst="line">
            <a:avLst/>
          </a:prstGeom>
          <a:noFill/>
          <a:ln w="19050">
            <a:solidFill>
              <a:srgbClr val="0E9AA7"/>
            </a:solidFill>
            <a:prstDash val="solid"/>
            <a:tailEnd type="triangle"/>
          </a:ln>
        </p:spPr>
      </p:sp>
      <p:sp>
        <p:nvSpPr>
          <p:cNvPr id="41" name="Shape 39"/>
          <p:cNvSpPr/>
          <p:nvPr/>
        </p:nvSpPr>
        <p:spPr>
          <a:xfrm>
            <a:off x="3140050" y="2212848"/>
            <a:ext cx="896112" cy="105156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42" name="Shape 40"/>
          <p:cNvSpPr/>
          <p:nvPr/>
        </p:nvSpPr>
        <p:spPr>
          <a:xfrm>
            <a:off x="3140050" y="2212848"/>
            <a:ext cx="896112" cy="64008"/>
          </a:xfrm>
          <a:prstGeom prst="rect">
            <a:avLst/>
          </a:prstGeom>
          <a:solidFill>
            <a:srgbClr val="0E9AA7"/>
          </a:solidFill>
          <a:ln w="12700">
            <a:solidFill>
              <a:srgbClr val="0E9AA7"/>
            </a:solidFill>
            <a:prstDash val="solid"/>
          </a:ln>
        </p:spPr>
      </p:sp>
      <p:sp>
        <p:nvSpPr>
          <p:cNvPr id="43" name="Text 41"/>
          <p:cNvSpPr/>
          <p:nvPr/>
        </p:nvSpPr>
        <p:spPr>
          <a:xfrm>
            <a:off x="3176626" y="2322576"/>
            <a:ext cx="822960" cy="310896"/>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transactions.raw</a:t>
            </a:r>
            <a:endParaRPr lang="en-US" sz="900" dirty="0"/>
          </a:p>
        </p:txBody>
      </p:sp>
      <p:sp>
        <p:nvSpPr>
          <p:cNvPr id="44" name="Text 42"/>
          <p:cNvSpPr/>
          <p:nvPr/>
        </p:nvSpPr>
        <p:spPr>
          <a:xfrm>
            <a:off x="3176626" y="2624328"/>
            <a:ext cx="822960" cy="228600"/>
          </a:xfrm>
          <a:prstGeom prst="rect">
            <a:avLst/>
          </a:prstGeom>
          <a:noFill/>
          <a:ln/>
        </p:spPr>
        <p:txBody>
          <a:bodyPr wrap="square" lIns="0" tIns="0" rIns="0" bIns="0" rtlCol="0" anchor="ctr"/>
          <a:lstStyle/>
          <a:p>
            <a:pPr marL="0" indent="0" algn="ctr">
              <a:buNone/>
            </a:pPr>
            <a:r>
              <a:rPr lang="en-US" sz="900" dirty="0">
                <a:solidFill>
                  <a:srgbClr val="5B6675"/>
                </a:solidFill>
                <a:latin typeface="Calibri" pitchFamily="34" charset="0"/>
                <a:ea typeface="Calibri" pitchFamily="34" charset="-122"/>
                <a:cs typeface="Calibri" pitchFamily="34" charset="-120"/>
              </a:rPr>
              <a:t>12 msg/s</a:t>
            </a:r>
            <a:endParaRPr lang="en-US" sz="900" dirty="0"/>
          </a:p>
        </p:txBody>
      </p:sp>
      <p:sp>
        <p:nvSpPr>
          <p:cNvPr id="45" name="Shape 43"/>
          <p:cNvSpPr/>
          <p:nvPr/>
        </p:nvSpPr>
        <p:spPr>
          <a:xfrm>
            <a:off x="3386938" y="2916936"/>
            <a:ext cx="402336" cy="219456"/>
          </a:xfrm>
          <a:prstGeom prst="roundRect">
            <a:avLst>
              <a:gd name="adj" fmla="val 33333"/>
            </a:avLst>
          </a:prstGeom>
          <a:solidFill>
            <a:srgbClr val="2E9E5B"/>
          </a:solidFill>
          <a:ln w="12700">
            <a:solidFill>
              <a:srgbClr val="2E9E5B"/>
            </a:solidFill>
            <a:prstDash val="solid"/>
          </a:ln>
        </p:spPr>
      </p:sp>
      <p:sp>
        <p:nvSpPr>
          <p:cNvPr id="46" name="Text 44"/>
          <p:cNvSpPr/>
          <p:nvPr/>
        </p:nvSpPr>
        <p:spPr>
          <a:xfrm>
            <a:off x="3386938" y="2916936"/>
            <a:ext cx="40233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OK</a:t>
            </a:r>
            <a:endParaRPr lang="en-US" sz="850" dirty="0"/>
          </a:p>
        </p:txBody>
      </p:sp>
      <p:sp>
        <p:nvSpPr>
          <p:cNvPr id="47" name="Shape 45"/>
          <p:cNvSpPr/>
          <p:nvPr/>
        </p:nvSpPr>
        <p:spPr>
          <a:xfrm>
            <a:off x="4054450" y="2738628"/>
            <a:ext cx="149962" cy="0"/>
          </a:xfrm>
          <a:prstGeom prst="line">
            <a:avLst/>
          </a:prstGeom>
          <a:noFill/>
          <a:ln w="19050">
            <a:solidFill>
              <a:srgbClr val="0E9AA7"/>
            </a:solidFill>
            <a:prstDash val="solid"/>
            <a:tailEnd type="triangle"/>
          </a:ln>
        </p:spPr>
      </p:sp>
      <p:sp>
        <p:nvSpPr>
          <p:cNvPr id="48" name="Shape 46"/>
          <p:cNvSpPr/>
          <p:nvPr/>
        </p:nvSpPr>
        <p:spPr>
          <a:xfrm>
            <a:off x="4222699" y="2212848"/>
            <a:ext cx="896112" cy="105156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49" name="Shape 47"/>
          <p:cNvSpPr/>
          <p:nvPr/>
        </p:nvSpPr>
        <p:spPr>
          <a:xfrm>
            <a:off x="4222699" y="2212848"/>
            <a:ext cx="896112" cy="64008"/>
          </a:xfrm>
          <a:prstGeom prst="rect">
            <a:avLst/>
          </a:prstGeom>
          <a:solidFill>
            <a:srgbClr val="0E9AA7"/>
          </a:solidFill>
          <a:ln w="12700">
            <a:solidFill>
              <a:srgbClr val="0E9AA7"/>
            </a:solidFill>
            <a:prstDash val="solid"/>
          </a:ln>
        </p:spPr>
      </p:sp>
      <p:sp>
        <p:nvSpPr>
          <p:cNvPr id="50" name="Text 48"/>
          <p:cNvSpPr/>
          <p:nvPr/>
        </p:nvSpPr>
        <p:spPr>
          <a:xfrm>
            <a:off x="4259275" y="2322576"/>
            <a:ext cx="822960" cy="310896"/>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Streams app</a:t>
            </a:r>
            <a:endParaRPr lang="en-US" sz="900" dirty="0"/>
          </a:p>
        </p:txBody>
      </p:sp>
      <p:sp>
        <p:nvSpPr>
          <p:cNvPr id="51" name="Text 49"/>
          <p:cNvSpPr/>
          <p:nvPr/>
        </p:nvSpPr>
        <p:spPr>
          <a:xfrm>
            <a:off x="4259275" y="2624328"/>
            <a:ext cx="822960" cy="228600"/>
          </a:xfrm>
          <a:prstGeom prst="rect">
            <a:avLst/>
          </a:prstGeom>
          <a:noFill/>
          <a:ln/>
        </p:spPr>
        <p:txBody>
          <a:bodyPr wrap="square" lIns="0" tIns="0" rIns="0" bIns="0" rtlCol="0" anchor="ctr"/>
          <a:lstStyle/>
          <a:p>
            <a:pPr marL="0" indent="0" algn="ctr">
              <a:buNone/>
            </a:pPr>
            <a:r>
              <a:rPr lang="en-US" sz="900" dirty="0">
                <a:solidFill>
                  <a:srgbClr val="5B6675"/>
                </a:solidFill>
                <a:latin typeface="Calibri" pitchFamily="34" charset="0"/>
                <a:ea typeface="Calibri" pitchFamily="34" charset="-122"/>
                <a:cs typeface="Calibri" pitchFamily="34" charset="-120"/>
              </a:rPr>
              <a:t>RUNNING</a:t>
            </a:r>
            <a:endParaRPr lang="en-US" sz="900" dirty="0"/>
          </a:p>
        </p:txBody>
      </p:sp>
      <p:sp>
        <p:nvSpPr>
          <p:cNvPr id="52" name="Shape 50"/>
          <p:cNvSpPr/>
          <p:nvPr/>
        </p:nvSpPr>
        <p:spPr>
          <a:xfrm>
            <a:off x="4469587" y="2916936"/>
            <a:ext cx="402336" cy="219456"/>
          </a:xfrm>
          <a:prstGeom prst="roundRect">
            <a:avLst>
              <a:gd name="adj" fmla="val 33333"/>
            </a:avLst>
          </a:prstGeom>
          <a:solidFill>
            <a:srgbClr val="2E9E5B"/>
          </a:solidFill>
          <a:ln w="12700">
            <a:solidFill>
              <a:srgbClr val="2E9E5B"/>
            </a:solidFill>
            <a:prstDash val="solid"/>
          </a:ln>
        </p:spPr>
      </p:sp>
      <p:sp>
        <p:nvSpPr>
          <p:cNvPr id="53" name="Text 51"/>
          <p:cNvSpPr/>
          <p:nvPr/>
        </p:nvSpPr>
        <p:spPr>
          <a:xfrm>
            <a:off x="4469587" y="2916936"/>
            <a:ext cx="40233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OK</a:t>
            </a:r>
            <a:endParaRPr lang="en-US" sz="850" dirty="0"/>
          </a:p>
        </p:txBody>
      </p:sp>
      <p:sp>
        <p:nvSpPr>
          <p:cNvPr id="54" name="Shape 52"/>
          <p:cNvSpPr/>
          <p:nvPr/>
        </p:nvSpPr>
        <p:spPr>
          <a:xfrm>
            <a:off x="5137099" y="2738628"/>
            <a:ext cx="149962" cy="0"/>
          </a:xfrm>
          <a:prstGeom prst="line">
            <a:avLst/>
          </a:prstGeom>
          <a:noFill/>
          <a:ln w="19050">
            <a:solidFill>
              <a:srgbClr val="0E9AA7"/>
            </a:solidFill>
            <a:prstDash val="solid"/>
            <a:tailEnd type="triangle"/>
          </a:ln>
        </p:spPr>
      </p:sp>
      <p:sp>
        <p:nvSpPr>
          <p:cNvPr id="55" name="Shape 53"/>
          <p:cNvSpPr/>
          <p:nvPr/>
        </p:nvSpPr>
        <p:spPr>
          <a:xfrm>
            <a:off x="5305349" y="2212848"/>
            <a:ext cx="896112" cy="105156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56" name="Shape 54"/>
          <p:cNvSpPr/>
          <p:nvPr/>
        </p:nvSpPr>
        <p:spPr>
          <a:xfrm>
            <a:off x="5305349" y="2212848"/>
            <a:ext cx="896112" cy="64008"/>
          </a:xfrm>
          <a:prstGeom prst="rect">
            <a:avLst/>
          </a:prstGeom>
          <a:solidFill>
            <a:srgbClr val="0E9AA7"/>
          </a:solidFill>
          <a:ln w="12700">
            <a:solidFill>
              <a:srgbClr val="0E9AA7"/>
            </a:solidFill>
            <a:prstDash val="solid"/>
          </a:ln>
        </p:spPr>
      </p:sp>
      <p:sp>
        <p:nvSpPr>
          <p:cNvPr id="57" name="Text 55"/>
          <p:cNvSpPr/>
          <p:nvPr/>
        </p:nvSpPr>
        <p:spPr>
          <a:xfrm>
            <a:off x="5341925" y="2322576"/>
            <a:ext cx="822960" cy="310896"/>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Output topics</a:t>
            </a:r>
            <a:endParaRPr lang="en-US" sz="900" dirty="0"/>
          </a:p>
        </p:txBody>
      </p:sp>
      <p:sp>
        <p:nvSpPr>
          <p:cNvPr id="58" name="Text 56"/>
          <p:cNvSpPr/>
          <p:nvPr/>
        </p:nvSpPr>
        <p:spPr>
          <a:xfrm>
            <a:off x="5341925" y="2624328"/>
            <a:ext cx="822960" cy="228600"/>
          </a:xfrm>
          <a:prstGeom prst="rect">
            <a:avLst/>
          </a:prstGeom>
          <a:noFill/>
          <a:ln/>
        </p:spPr>
        <p:txBody>
          <a:bodyPr wrap="square" lIns="0" tIns="0" rIns="0" bIns="0" rtlCol="0" anchor="ctr"/>
          <a:lstStyle/>
          <a:p>
            <a:pPr marL="0" indent="0" algn="ctr">
              <a:buNone/>
            </a:pPr>
            <a:r>
              <a:rPr lang="en-US" sz="900" dirty="0">
                <a:solidFill>
                  <a:srgbClr val="5B6675"/>
                </a:solidFill>
                <a:latin typeface="Calibri" pitchFamily="34" charset="0"/>
                <a:ea typeface="Calibri" pitchFamily="34" charset="-122"/>
                <a:cs typeface="Calibri" pitchFamily="34" charset="-120"/>
              </a:rPr>
              <a:t>2 topics</a:t>
            </a:r>
            <a:endParaRPr lang="en-US" sz="900" dirty="0"/>
          </a:p>
        </p:txBody>
      </p:sp>
      <p:sp>
        <p:nvSpPr>
          <p:cNvPr id="59" name="Shape 57"/>
          <p:cNvSpPr/>
          <p:nvPr/>
        </p:nvSpPr>
        <p:spPr>
          <a:xfrm>
            <a:off x="5552237" y="2916936"/>
            <a:ext cx="402336" cy="219456"/>
          </a:xfrm>
          <a:prstGeom prst="roundRect">
            <a:avLst>
              <a:gd name="adj" fmla="val 33333"/>
            </a:avLst>
          </a:prstGeom>
          <a:solidFill>
            <a:srgbClr val="2E9E5B"/>
          </a:solidFill>
          <a:ln w="12700">
            <a:solidFill>
              <a:srgbClr val="2E9E5B"/>
            </a:solidFill>
            <a:prstDash val="solid"/>
          </a:ln>
        </p:spPr>
      </p:sp>
      <p:sp>
        <p:nvSpPr>
          <p:cNvPr id="60" name="Text 58"/>
          <p:cNvSpPr/>
          <p:nvPr/>
        </p:nvSpPr>
        <p:spPr>
          <a:xfrm>
            <a:off x="5552237" y="2916936"/>
            <a:ext cx="40233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OK</a:t>
            </a:r>
            <a:endParaRPr lang="en-US" sz="850" dirty="0"/>
          </a:p>
        </p:txBody>
      </p:sp>
      <p:sp>
        <p:nvSpPr>
          <p:cNvPr id="61" name="Shape 59"/>
          <p:cNvSpPr/>
          <p:nvPr/>
        </p:nvSpPr>
        <p:spPr>
          <a:xfrm>
            <a:off x="6219749" y="2738628"/>
            <a:ext cx="149962" cy="0"/>
          </a:xfrm>
          <a:prstGeom prst="line">
            <a:avLst/>
          </a:prstGeom>
          <a:noFill/>
          <a:ln w="19050">
            <a:solidFill>
              <a:srgbClr val="0E9AA7"/>
            </a:solidFill>
            <a:prstDash val="solid"/>
            <a:tailEnd type="triangle"/>
          </a:ln>
        </p:spPr>
      </p:sp>
      <p:sp>
        <p:nvSpPr>
          <p:cNvPr id="62" name="Shape 60"/>
          <p:cNvSpPr/>
          <p:nvPr/>
        </p:nvSpPr>
        <p:spPr>
          <a:xfrm>
            <a:off x="6387998" y="2212848"/>
            <a:ext cx="896112" cy="105156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63" name="Shape 61"/>
          <p:cNvSpPr/>
          <p:nvPr/>
        </p:nvSpPr>
        <p:spPr>
          <a:xfrm>
            <a:off x="6387998" y="2212848"/>
            <a:ext cx="896112" cy="64008"/>
          </a:xfrm>
          <a:prstGeom prst="rect">
            <a:avLst/>
          </a:prstGeom>
          <a:solidFill>
            <a:srgbClr val="0E9AA7"/>
          </a:solidFill>
          <a:ln w="12700">
            <a:solidFill>
              <a:srgbClr val="0E9AA7"/>
            </a:solidFill>
            <a:prstDash val="solid"/>
          </a:ln>
        </p:spPr>
      </p:sp>
      <p:sp>
        <p:nvSpPr>
          <p:cNvPr id="64" name="Text 62"/>
          <p:cNvSpPr/>
          <p:nvPr/>
        </p:nvSpPr>
        <p:spPr>
          <a:xfrm>
            <a:off x="6424574" y="2322576"/>
            <a:ext cx="822960" cy="310896"/>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PostgreSQL</a:t>
            </a:r>
            <a:endParaRPr lang="en-US" sz="900" dirty="0"/>
          </a:p>
        </p:txBody>
      </p:sp>
      <p:sp>
        <p:nvSpPr>
          <p:cNvPr id="65" name="Text 63"/>
          <p:cNvSpPr/>
          <p:nvPr/>
        </p:nvSpPr>
        <p:spPr>
          <a:xfrm>
            <a:off x="6424574" y="2624328"/>
            <a:ext cx="822960" cy="228600"/>
          </a:xfrm>
          <a:prstGeom prst="rect">
            <a:avLst/>
          </a:prstGeom>
          <a:noFill/>
          <a:ln/>
        </p:spPr>
        <p:txBody>
          <a:bodyPr wrap="square" lIns="0" tIns="0" rIns="0" bIns="0" rtlCol="0" anchor="ctr"/>
          <a:lstStyle/>
          <a:p>
            <a:pPr marL="0" indent="0" algn="ctr">
              <a:buNone/>
            </a:pPr>
            <a:r>
              <a:rPr lang="en-US" sz="900" dirty="0">
                <a:solidFill>
                  <a:srgbClr val="5B6675"/>
                </a:solidFill>
                <a:latin typeface="Calibri" pitchFamily="34" charset="0"/>
                <a:ea typeface="Calibri" pitchFamily="34" charset="-122"/>
                <a:cs typeface="Calibri" pitchFamily="34" charset="-120"/>
              </a:rPr>
              <a:t>connected</a:t>
            </a:r>
            <a:endParaRPr lang="en-US" sz="900" dirty="0"/>
          </a:p>
        </p:txBody>
      </p:sp>
      <p:sp>
        <p:nvSpPr>
          <p:cNvPr id="66" name="Shape 64"/>
          <p:cNvSpPr/>
          <p:nvPr/>
        </p:nvSpPr>
        <p:spPr>
          <a:xfrm>
            <a:off x="6634886" y="2916936"/>
            <a:ext cx="402336" cy="219456"/>
          </a:xfrm>
          <a:prstGeom prst="roundRect">
            <a:avLst>
              <a:gd name="adj" fmla="val 33333"/>
            </a:avLst>
          </a:prstGeom>
          <a:solidFill>
            <a:srgbClr val="2E9E5B"/>
          </a:solidFill>
          <a:ln w="12700">
            <a:solidFill>
              <a:srgbClr val="2E9E5B"/>
            </a:solidFill>
            <a:prstDash val="solid"/>
          </a:ln>
        </p:spPr>
      </p:sp>
      <p:sp>
        <p:nvSpPr>
          <p:cNvPr id="67" name="Text 65"/>
          <p:cNvSpPr/>
          <p:nvPr/>
        </p:nvSpPr>
        <p:spPr>
          <a:xfrm>
            <a:off x="6634886" y="2916936"/>
            <a:ext cx="40233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OK</a:t>
            </a:r>
            <a:endParaRPr lang="en-US" sz="850" dirty="0"/>
          </a:p>
        </p:txBody>
      </p:sp>
      <p:sp>
        <p:nvSpPr>
          <p:cNvPr id="68" name="Shape 66"/>
          <p:cNvSpPr/>
          <p:nvPr/>
        </p:nvSpPr>
        <p:spPr>
          <a:xfrm>
            <a:off x="7302398" y="2738628"/>
            <a:ext cx="149962" cy="0"/>
          </a:xfrm>
          <a:prstGeom prst="line">
            <a:avLst/>
          </a:prstGeom>
          <a:noFill/>
          <a:ln w="19050">
            <a:solidFill>
              <a:srgbClr val="0E9AA7"/>
            </a:solidFill>
            <a:prstDash val="solid"/>
            <a:tailEnd type="triangle"/>
          </a:ln>
        </p:spPr>
      </p:sp>
      <p:sp>
        <p:nvSpPr>
          <p:cNvPr id="69" name="Shape 67"/>
          <p:cNvSpPr/>
          <p:nvPr/>
        </p:nvSpPr>
        <p:spPr>
          <a:xfrm>
            <a:off x="7470648" y="2212848"/>
            <a:ext cx="896112" cy="1051560"/>
          </a:xfrm>
          <a:prstGeom prst="rect">
            <a:avLst/>
          </a:prstGeom>
          <a:solidFill>
            <a:srgbClr val="FFFFFF"/>
          </a:solidFill>
          <a:ln w="9525">
            <a:solidFill>
              <a:srgbClr val="B0B7C0"/>
            </a:solidFill>
            <a:prstDash val="solid"/>
          </a:ln>
          <a:effectLst>
            <a:outerShdw blurRad="76200" dist="25400" dir="8100000" algn="bl" rotWithShape="0">
              <a:srgbClr val="000000">
                <a:alpha val="10000"/>
              </a:srgbClr>
            </a:outerShdw>
          </a:effectLst>
        </p:spPr>
      </p:sp>
      <p:sp>
        <p:nvSpPr>
          <p:cNvPr id="70" name="Shape 68"/>
          <p:cNvSpPr/>
          <p:nvPr/>
        </p:nvSpPr>
        <p:spPr>
          <a:xfrm>
            <a:off x="7470648" y="2212848"/>
            <a:ext cx="896112" cy="64008"/>
          </a:xfrm>
          <a:prstGeom prst="rect">
            <a:avLst/>
          </a:prstGeom>
          <a:solidFill>
            <a:srgbClr val="0E9AA7"/>
          </a:solidFill>
          <a:ln w="12700">
            <a:solidFill>
              <a:srgbClr val="0E9AA7"/>
            </a:solidFill>
            <a:prstDash val="solid"/>
          </a:ln>
        </p:spPr>
      </p:sp>
      <p:sp>
        <p:nvSpPr>
          <p:cNvPr id="71" name="Text 69"/>
          <p:cNvSpPr/>
          <p:nvPr/>
        </p:nvSpPr>
        <p:spPr>
          <a:xfrm>
            <a:off x="7507224" y="2322576"/>
            <a:ext cx="822960" cy="310896"/>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API</a:t>
            </a:r>
            <a:endParaRPr lang="en-US" sz="900" dirty="0"/>
          </a:p>
        </p:txBody>
      </p:sp>
      <p:sp>
        <p:nvSpPr>
          <p:cNvPr id="72" name="Text 70"/>
          <p:cNvSpPr/>
          <p:nvPr/>
        </p:nvSpPr>
        <p:spPr>
          <a:xfrm>
            <a:off x="7507224" y="2624328"/>
            <a:ext cx="822960" cy="228600"/>
          </a:xfrm>
          <a:prstGeom prst="rect">
            <a:avLst/>
          </a:prstGeom>
          <a:noFill/>
          <a:ln/>
        </p:spPr>
        <p:txBody>
          <a:bodyPr wrap="square" lIns="0" tIns="0" rIns="0" bIns="0" rtlCol="0" anchor="ctr"/>
          <a:lstStyle/>
          <a:p>
            <a:pPr marL="0" indent="0" algn="ctr">
              <a:buNone/>
            </a:pPr>
            <a:r>
              <a:rPr lang="en-US" sz="900" dirty="0">
                <a:solidFill>
                  <a:srgbClr val="5B6675"/>
                </a:solidFill>
                <a:latin typeface="Calibri" pitchFamily="34" charset="0"/>
                <a:ea typeface="Calibri" pitchFamily="34" charset="-122"/>
                <a:cs typeface="Calibri" pitchFamily="34" charset="-120"/>
              </a:rPr>
              <a:t>healthy</a:t>
            </a:r>
            <a:endParaRPr lang="en-US" sz="900" dirty="0"/>
          </a:p>
        </p:txBody>
      </p:sp>
      <p:sp>
        <p:nvSpPr>
          <p:cNvPr id="73" name="Shape 71"/>
          <p:cNvSpPr/>
          <p:nvPr/>
        </p:nvSpPr>
        <p:spPr>
          <a:xfrm>
            <a:off x="7717536" y="2916936"/>
            <a:ext cx="402336" cy="219456"/>
          </a:xfrm>
          <a:prstGeom prst="roundRect">
            <a:avLst>
              <a:gd name="adj" fmla="val 33333"/>
            </a:avLst>
          </a:prstGeom>
          <a:solidFill>
            <a:srgbClr val="2E9E5B"/>
          </a:solidFill>
          <a:ln w="12700">
            <a:solidFill>
              <a:srgbClr val="2E9E5B"/>
            </a:solidFill>
            <a:prstDash val="solid"/>
          </a:ln>
        </p:spPr>
      </p:sp>
      <p:sp>
        <p:nvSpPr>
          <p:cNvPr id="74" name="Text 72"/>
          <p:cNvSpPr/>
          <p:nvPr/>
        </p:nvSpPr>
        <p:spPr>
          <a:xfrm>
            <a:off x="7717536" y="2916936"/>
            <a:ext cx="40233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OK</a:t>
            </a:r>
            <a:endParaRPr lang="en-US" sz="850" dirty="0"/>
          </a:p>
        </p:txBody>
      </p:sp>
      <p:sp>
        <p:nvSpPr>
          <p:cNvPr id="75" name="Shape 73"/>
          <p:cNvSpPr/>
          <p:nvPr/>
        </p:nvSpPr>
        <p:spPr>
          <a:xfrm>
            <a:off x="2057400" y="3401568"/>
            <a:ext cx="3931920" cy="1417320"/>
          </a:xfrm>
          <a:prstGeom prst="rect">
            <a:avLst/>
          </a:prstGeom>
          <a:solidFill>
            <a:srgbClr val="FFFFFF"/>
          </a:solidFill>
          <a:ln w="9525">
            <a:solidFill>
              <a:srgbClr val="B0B7C0"/>
            </a:solidFill>
            <a:prstDash val="solid"/>
          </a:ln>
        </p:spPr>
      </p:sp>
      <p:sp>
        <p:nvSpPr>
          <p:cNvPr id="76" name="Text 74"/>
          <p:cNvSpPr/>
          <p:nvPr/>
        </p:nvSpPr>
        <p:spPr>
          <a:xfrm>
            <a:off x="2148840" y="3438144"/>
            <a:ext cx="3749040"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Kafka topics</a:t>
            </a:r>
            <a:endParaRPr lang="en-US" sz="95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2130552" y="3675888"/>
          <a:ext cx="3794760" cy="987552"/>
        </p:xfrm>
        <a:graphic>
          <a:graphicData uri="http://schemas.openxmlformats.org/drawingml/2006/table">
            <a:tbl>
              <a:tblPr/>
              <a:tblGrid>
                <a:gridCol w="15544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46888">
                <a:tc>
                  <a:txBody>
                    <a:bodyPr/>
                    <a:lstStyle/>
                    <a:p>
                      <a:pPr marL="0" indent="0">
                        <a:buNone/>
                      </a:pPr>
                      <a:r>
                        <a:rPr lang="en-US" sz="900" b="1" dirty="0">
                          <a:solidFill>
                            <a:srgbClr val="2B3440"/>
                          </a:solidFill>
                          <a:latin typeface="Calibri" pitchFamily="34" charset="0"/>
                          <a:ea typeface="Calibri" pitchFamily="34" charset="-122"/>
                          <a:cs typeface="Calibri" pitchFamily="34" charset="-120"/>
                        </a:rPr>
                        <a:t>Topic</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lgn="r">
                        <a:buNone/>
                      </a:pPr>
                      <a:r>
                        <a:rPr lang="en-US" sz="900" b="1" dirty="0">
                          <a:solidFill>
                            <a:srgbClr val="2B3440"/>
                          </a:solidFill>
                          <a:latin typeface="Calibri" pitchFamily="34" charset="0"/>
                          <a:ea typeface="Calibri" pitchFamily="34" charset="-122"/>
                          <a:cs typeface="Calibri" pitchFamily="34" charset="-120"/>
                        </a:rPr>
                        <a:t>Partitions</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lgn="r">
                        <a:buNone/>
                      </a:pPr>
                      <a:r>
                        <a:rPr lang="en-US" sz="900" b="1" dirty="0">
                          <a:solidFill>
                            <a:srgbClr val="2B3440"/>
                          </a:solidFill>
                          <a:latin typeface="Calibri" pitchFamily="34" charset="0"/>
                          <a:ea typeface="Calibri" pitchFamily="34" charset="-122"/>
                          <a:cs typeface="Calibri" pitchFamily="34" charset="-120"/>
                        </a:rPr>
                        <a:t>Messages</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tc>
                  <a:txBody>
                    <a:bodyPr/>
                    <a:lstStyle/>
                    <a:p>
                      <a:pPr marL="0" indent="0" algn="r">
                        <a:buNone/>
                      </a:pPr>
                      <a:r>
                        <a:rPr lang="en-US" sz="900" b="1" dirty="0">
                          <a:solidFill>
                            <a:srgbClr val="2B3440"/>
                          </a:solidFill>
                          <a:latin typeface="Calibri" pitchFamily="34" charset="0"/>
                          <a:ea typeface="Calibri" pitchFamily="34" charset="-122"/>
                          <a:cs typeface="Calibri" pitchFamily="34" charset="-120"/>
                        </a:rPr>
                        <a:t>Lag</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DDE2E8"/>
                    </a:solidFill>
                  </a:tcPr>
                </a:tc>
                <a:extLst>
                  <a:ext uri="{0D108BD9-81ED-4DB2-BD59-A6C34878D82A}">
                    <a16:rowId xmlns:a16="http://schemas.microsoft.com/office/drawing/2014/main" val="10000"/>
                  </a:ext>
                </a:extLst>
              </a:tr>
              <a:tr h="246888">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transactions.raw</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1,248</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transactions.processed</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1,211</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46888">
                <a:tc>
                  <a:txBody>
                    <a:bodyPr/>
                    <a:lstStyle/>
                    <a:p>
                      <a:pPr marL="0" indent="0">
                        <a:buNone/>
                      </a:pPr>
                      <a:r>
                        <a:rPr lang="en-US" sz="900" dirty="0">
                          <a:solidFill>
                            <a:srgbClr val="2B3440"/>
                          </a:solidFill>
                          <a:latin typeface="Calibri" pitchFamily="34" charset="0"/>
                          <a:ea typeface="Calibri" pitchFamily="34" charset="-122"/>
                          <a:cs typeface="Calibri" pitchFamily="34" charset="-120"/>
                        </a:rPr>
                        <a:t>alerts.high-risk</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37</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lgn="r">
                        <a:buNone/>
                      </a:pPr>
                      <a:r>
                        <a:rPr lang="en-US" sz="900" dirty="0">
                          <a:solidFill>
                            <a:srgbClr val="2B344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54864" marR="54864" marT="18288" marB="18288"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8" name="Shape 75"/>
          <p:cNvSpPr/>
          <p:nvPr/>
        </p:nvSpPr>
        <p:spPr>
          <a:xfrm>
            <a:off x="2057400" y="4928616"/>
            <a:ext cx="3931920" cy="1243584"/>
          </a:xfrm>
          <a:prstGeom prst="rect">
            <a:avLst/>
          </a:prstGeom>
          <a:solidFill>
            <a:srgbClr val="FFFFFF"/>
          </a:solidFill>
          <a:ln w="9525">
            <a:solidFill>
              <a:srgbClr val="B0B7C0"/>
            </a:solidFill>
            <a:prstDash val="solid"/>
          </a:ln>
        </p:spPr>
      </p:sp>
      <p:sp>
        <p:nvSpPr>
          <p:cNvPr id="79" name="Text 76"/>
          <p:cNvSpPr/>
          <p:nvPr/>
        </p:nvSpPr>
        <p:spPr>
          <a:xfrm>
            <a:off x="2148840" y="4965192"/>
            <a:ext cx="3749040"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Kafka Streams application</a:t>
            </a:r>
            <a:endParaRPr lang="en-US" sz="950" dirty="0"/>
          </a:p>
        </p:txBody>
      </p:sp>
      <p:sp>
        <p:nvSpPr>
          <p:cNvPr id="80" name="Text 77"/>
          <p:cNvSpPr/>
          <p:nvPr/>
        </p:nvSpPr>
        <p:spPr>
          <a:xfrm>
            <a:off x="2194560" y="5230368"/>
            <a:ext cx="1280160" cy="219456"/>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State</a:t>
            </a:r>
            <a:endParaRPr lang="en-US" sz="950" dirty="0"/>
          </a:p>
        </p:txBody>
      </p:sp>
      <p:sp>
        <p:nvSpPr>
          <p:cNvPr id="81" name="Text 78"/>
          <p:cNvSpPr/>
          <p:nvPr/>
        </p:nvSpPr>
        <p:spPr>
          <a:xfrm>
            <a:off x="3520440" y="5230368"/>
            <a:ext cx="1463040" cy="219456"/>
          </a:xfrm>
          <a:prstGeom prst="rect">
            <a:avLst/>
          </a:prstGeom>
          <a:noFill/>
          <a:ln/>
        </p:spPr>
        <p:txBody>
          <a:bodyPr wrap="square" lIns="0" tIns="0" rIns="0" bIns="0" rtlCol="0" anchor="ctr"/>
          <a:lstStyle/>
          <a:p>
            <a:pPr marL="0" indent="0" algn="l">
              <a:buNone/>
            </a:pPr>
            <a:r>
              <a:rPr lang="en-US" sz="1000" b="1" dirty="0">
                <a:solidFill>
                  <a:srgbClr val="2E9E5B"/>
                </a:solidFill>
                <a:latin typeface="Calibri" pitchFamily="34" charset="0"/>
                <a:ea typeface="Calibri" pitchFamily="34" charset="-122"/>
                <a:cs typeface="Calibri" pitchFamily="34" charset="-120"/>
              </a:rPr>
              <a:t>RUNNING</a:t>
            </a:r>
            <a:endParaRPr lang="en-US" sz="1000" dirty="0"/>
          </a:p>
        </p:txBody>
      </p:sp>
      <p:sp>
        <p:nvSpPr>
          <p:cNvPr id="82" name="Text 79"/>
          <p:cNvSpPr/>
          <p:nvPr/>
        </p:nvSpPr>
        <p:spPr>
          <a:xfrm>
            <a:off x="2194560" y="5486400"/>
            <a:ext cx="1280160" cy="219456"/>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Stream threads</a:t>
            </a:r>
            <a:endParaRPr lang="en-US" sz="950" dirty="0"/>
          </a:p>
        </p:txBody>
      </p:sp>
      <p:sp>
        <p:nvSpPr>
          <p:cNvPr id="83" name="Text 80"/>
          <p:cNvSpPr/>
          <p:nvPr/>
        </p:nvSpPr>
        <p:spPr>
          <a:xfrm>
            <a:off x="3520440" y="5486400"/>
            <a:ext cx="1463040" cy="219456"/>
          </a:xfrm>
          <a:prstGeom prst="rect">
            <a:avLst/>
          </a:prstGeom>
          <a:noFill/>
          <a:ln/>
        </p:spPr>
        <p:txBody>
          <a:bodyPr wrap="square" lIns="0" tIns="0" rIns="0" bIns="0" rtlCol="0" anchor="ctr"/>
          <a:lstStyle/>
          <a:p>
            <a:pPr marL="0" indent="0" algn="l">
              <a:buNone/>
            </a:pPr>
            <a:r>
              <a:rPr lang="en-US" sz="1000" b="1" dirty="0">
                <a:solidFill>
                  <a:srgbClr val="2B3440"/>
                </a:solidFill>
                <a:latin typeface="Calibri" pitchFamily="34" charset="0"/>
                <a:ea typeface="Calibri" pitchFamily="34" charset="-122"/>
                <a:cs typeface="Calibri" pitchFamily="34" charset="-120"/>
              </a:rPr>
              <a:t>1</a:t>
            </a:r>
            <a:endParaRPr lang="en-US" sz="1000" dirty="0"/>
          </a:p>
        </p:txBody>
      </p:sp>
      <p:sp>
        <p:nvSpPr>
          <p:cNvPr id="84" name="Text 81"/>
          <p:cNvSpPr/>
          <p:nvPr/>
        </p:nvSpPr>
        <p:spPr>
          <a:xfrm>
            <a:off x="2194560" y="5742432"/>
            <a:ext cx="1280160" cy="219456"/>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Uptime</a:t>
            </a:r>
            <a:endParaRPr lang="en-US" sz="950" dirty="0"/>
          </a:p>
        </p:txBody>
      </p:sp>
      <p:sp>
        <p:nvSpPr>
          <p:cNvPr id="85" name="Text 82"/>
          <p:cNvSpPr/>
          <p:nvPr/>
        </p:nvSpPr>
        <p:spPr>
          <a:xfrm>
            <a:off x="3520440" y="5742432"/>
            <a:ext cx="1463040" cy="219456"/>
          </a:xfrm>
          <a:prstGeom prst="rect">
            <a:avLst/>
          </a:prstGeom>
          <a:noFill/>
          <a:ln/>
        </p:spPr>
        <p:txBody>
          <a:bodyPr wrap="square" lIns="0" tIns="0" rIns="0" bIns="0" rtlCol="0" anchor="ctr"/>
          <a:lstStyle/>
          <a:p>
            <a:pPr marL="0" indent="0" algn="l">
              <a:buNone/>
            </a:pPr>
            <a:r>
              <a:rPr lang="en-US" sz="1000" b="1" dirty="0">
                <a:solidFill>
                  <a:srgbClr val="2B3440"/>
                </a:solidFill>
                <a:latin typeface="Calibri" pitchFamily="34" charset="0"/>
                <a:ea typeface="Calibri" pitchFamily="34" charset="-122"/>
                <a:cs typeface="Calibri" pitchFamily="34" charset="-120"/>
              </a:rPr>
              <a:t>02:14:09</a:t>
            </a:r>
            <a:endParaRPr lang="en-US" sz="1000" dirty="0"/>
          </a:p>
        </p:txBody>
      </p:sp>
      <p:sp>
        <p:nvSpPr>
          <p:cNvPr id="86" name="Shape 83"/>
          <p:cNvSpPr/>
          <p:nvPr/>
        </p:nvSpPr>
        <p:spPr>
          <a:xfrm>
            <a:off x="4617720" y="5394960"/>
            <a:ext cx="1234440" cy="292608"/>
          </a:xfrm>
          <a:prstGeom prst="roundRect">
            <a:avLst>
              <a:gd name="adj" fmla="val 15625"/>
            </a:avLst>
          </a:prstGeom>
          <a:solidFill>
            <a:srgbClr val="FFFFFF"/>
          </a:solidFill>
          <a:ln w="12700">
            <a:solidFill>
              <a:srgbClr val="8A94A0"/>
            </a:solidFill>
            <a:prstDash val="solid"/>
          </a:ln>
        </p:spPr>
      </p:sp>
      <p:sp>
        <p:nvSpPr>
          <p:cNvPr id="87" name="Text 84"/>
          <p:cNvSpPr/>
          <p:nvPr/>
        </p:nvSpPr>
        <p:spPr>
          <a:xfrm>
            <a:off x="4617720" y="5394960"/>
            <a:ext cx="1234440" cy="292608"/>
          </a:xfrm>
          <a:prstGeom prst="rect">
            <a:avLst/>
          </a:prstGeom>
          <a:noFill/>
          <a:ln/>
        </p:spPr>
        <p:txBody>
          <a:bodyPr wrap="square" lIns="0" tIns="0" rIns="0" bIns="0" rtlCol="0" anchor="ctr"/>
          <a:lstStyle/>
          <a:p>
            <a:pPr marL="0" indent="0" algn="ctr">
              <a:buNone/>
            </a:pPr>
            <a:r>
              <a:rPr lang="en-US" sz="900" b="1" dirty="0">
                <a:solidFill>
                  <a:srgbClr val="2B3440"/>
                </a:solidFill>
                <a:latin typeface="Calibri" pitchFamily="34" charset="0"/>
                <a:ea typeface="Calibri" pitchFamily="34" charset="-122"/>
                <a:cs typeface="Calibri" pitchFamily="34" charset="-120"/>
              </a:rPr>
              <a:t>Open Kafka UI ↗</a:t>
            </a:r>
            <a:endParaRPr lang="en-US" sz="900" dirty="0"/>
          </a:p>
        </p:txBody>
      </p:sp>
      <p:sp>
        <p:nvSpPr>
          <p:cNvPr id="88" name="Shape 85"/>
          <p:cNvSpPr/>
          <p:nvPr/>
        </p:nvSpPr>
        <p:spPr>
          <a:xfrm>
            <a:off x="6099048" y="3401568"/>
            <a:ext cx="2267712" cy="2770632"/>
          </a:xfrm>
          <a:prstGeom prst="rect">
            <a:avLst/>
          </a:prstGeom>
          <a:solidFill>
            <a:srgbClr val="FFFFFF"/>
          </a:solidFill>
          <a:ln w="9525">
            <a:solidFill>
              <a:srgbClr val="B0B7C0"/>
            </a:solidFill>
            <a:prstDash val="solid"/>
          </a:ln>
        </p:spPr>
      </p:sp>
      <p:sp>
        <p:nvSpPr>
          <p:cNvPr id="89" name="Text 86"/>
          <p:cNvSpPr/>
          <p:nvPr/>
        </p:nvSpPr>
        <p:spPr>
          <a:xfrm>
            <a:off x="6190488" y="3438144"/>
            <a:ext cx="2084832"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Consumer lag</a:t>
            </a:r>
            <a:endParaRPr lang="en-US" sz="950" dirty="0"/>
          </a:p>
        </p:txBody>
      </p:sp>
      <p:sp>
        <p:nvSpPr>
          <p:cNvPr id="90" name="Shape 87"/>
          <p:cNvSpPr/>
          <p:nvPr/>
        </p:nvSpPr>
        <p:spPr>
          <a:xfrm>
            <a:off x="6263640" y="5806440"/>
            <a:ext cx="118872" cy="201168"/>
          </a:xfrm>
          <a:prstGeom prst="rect">
            <a:avLst/>
          </a:prstGeom>
          <a:solidFill>
            <a:srgbClr val="C3CBD3"/>
          </a:solidFill>
          <a:ln w="12700">
            <a:solidFill>
              <a:srgbClr val="C3CBD3"/>
            </a:solidFill>
            <a:prstDash val="solid"/>
          </a:ln>
        </p:spPr>
      </p:sp>
      <p:sp>
        <p:nvSpPr>
          <p:cNvPr id="91" name="Shape 88"/>
          <p:cNvSpPr/>
          <p:nvPr/>
        </p:nvSpPr>
        <p:spPr>
          <a:xfrm>
            <a:off x="6446520" y="5605272"/>
            <a:ext cx="118872" cy="402336"/>
          </a:xfrm>
          <a:prstGeom prst="rect">
            <a:avLst/>
          </a:prstGeom>
          <a:solidFill>
            <a:srgbClr val="C3CBD3"/>
          </a:solidFill>
          <a:ln w="12700">
            <a:solidFill>
              <a:srgbClr val="C3CBD3"/>
            </a:solidFill>
            <a:prstDash val="solid"/>
          </a:ln>
        </p:spPr>
      </p:sp>
      <p:sp>
        <p:nvSpPr>
          <p:cNvPr id="92" name="Shape 89"/>
          <p:cNvSpPr/>
          <p:nvPr/>
        </p:nvSpPr>
        <p:spPr>
          <a:xfrm>
            <a:off x="6629400" y="5705856"/>
            <a:ext cx="118872" cy="301752"/>
          </a:xfrm>
          <a:prstGeom prst="rect">
            <a:avLst/>
          </a:prstGeom>
          <a:solidFill>
            <a:srgbClr val="C3CBD3"/>
          </a:solidFill>
          <a:ln w="12700">
            <a:solidFill>
              <a:srgbClr val="C3CBD3"/>
            </a:solidFill>
            <a:prstDash val="solid"/>
          </a:ln>
        </p:spPr>
      </p:sp>
      <p:sp>
        <p:nvSpPr>
          <p:cNvPr id="93" name="Shape 90"/>
          <p:cNvSpPr/>
          <p:nvPr/>
        </p:nvSpPr>
        <p:spPr>
          <a:xfrm>
            <a:off x="6812280" y="5404104"/>
            <a:ext cx="118872" cy="603504"/>
          </a:xfrm>
          <a:prstGeom prst="rect">
            <a:avLst/>
          </a:prstGeom>
          <a:solidFill>
            <a:srgbClr val="C3CBD3"/>
          </a:solidFill>
          <a:ln w="12700">
            <a:solidFill>
              <a:srgbClr val="C3CBD3"/>
            </a:solidFill>
            <a:prstDash val="solid"/>
          </a:ln>
        </p:spPr>
      </p:sp>
      <p:sp>
        <p:nvSpPr>
          <p:cNvPr id="94" name="Shape 91"/>
          <p:cNvSpPr/>
          <p:nvPr/>
        </p:nvSpPr>
        <p:spPr>
          <a:xfrm>
            <a:off x="6995160" y="5504688"/>
            <a:ext cx="118872" cy="502920"/>
          </a:xfrm>
          <a:prstGeom prst="rect">
            <a:avLst/>
          </a:prstGeom>
          <a:solidFill>
            <a:srgbClr val="C3CBD3"/>
          </a:solidFill>
          <a:ln w="12700">
            <a:solidFill>
              <a:srgbClr val="C3CBD3"/>
            </a:solidFill>
            <a:prstDash val="solid"/>
          </a:ln>
        </p:spPr>
      </p:sp>
      <p:sp>
        <p:nvSpPr>
          <p:cNvPr id="95" name="Shape 92"/>
          <p:cNvSpPr/>
          <p:nvPr/>
        </p:nvSpPr>
        <p:spPr>
          <a:xfrm>
            <a:off x="7178040" y="5001768"/>
            <a:ext cx="118872" cy="1005840"/>
          </a:xfrm>
          <a:prstGeom prst="rect">
            <a:avLst/>
          </a:prstGeom>
          <a:solidFill>
            <a:srgbClr val="F29F05"/>
          </a:solidFill>
          <a:ln w="12700">
            <a:solidFill>
              <a:srgbClr val="F29F05"/>
            </a:solidFill>
            <a:prstDash val="solid"/>
          </a:ln>
        </p:spPr>
      </p:sp>
      <p:sp>
        <p:nvSpPr>
          <p:cNvPr id="96" name="Shape 93"/>
          <p:cNvSpPr/>
          <p:nvPr/>
        </p:nvSpPr>
        <p:spPr>
          <a:xfrm>
            <a:off x="7360920" y="5303520"/>
            <a:ext cx="118872" cy="704088"/>
          </a:xfrm>
          <a:prstGeom prst="rect">
            <a:avLst/>
          </a:prstGeom>
          <a:solidFill>
            <a:srgbClr val="C3CBD3"/>
          </a:solidFill>
          <a:ln w="12700">
            <a:solidFill>
              <a:srgbClr val="C3CBD3"/>
            </a:solidFill>
            <a:prstDash val="solid"/>
          </a:ln>
        </p:spPr>
      </p:sp>
      <p:sp>
        <p:nvSpPr>
          <p:cNvPr id="97" name="Shape 94"/>
          <p:cNvSpPr/>
          <p:nvPr/>
        </p:nvSpPr>
        <p:spPr>
          <a:xfrm>
            <a:off x="7543800" y="5605272"/>
            <a:ext cx="118872" cy="402336"/>
          </a:xfrm>
          <a:prstGeom prst="rect">
            <a:avLst/>
          </a:prstGeom>
          <a:solidFill>
            <a:srgbClr val="C3CBD3"/>
          </a:solidFill>
          <a:ln w="12700">
            <a:solidFill>
              <a:srgbClr val="C3CBD3"/>
            </a:solidFill>
            <a:prstDash val="solid"/>
          </a:ln>
        </p:spPr>
      </p:sp>
      <p:sp>
        <p:nvSpPr>
          <p:cNvPr id="98" name="Shape 95"/>
          <p:cNvSpPr/>
          <p:nvPr/>
        </p:nvSpPr>
        <p:spPr>
          <a:xfrm>
            <a:off x="7726680" y="5705856"/>
            <a:ext cx="118872" cy="301752"/>
          </a:xfrm>
          <a:prstGeom prst="rect">
            <a:avLst/>
          </a:prstGeom>
          <a:solidFill>
            <a:srgbClr val="C3CBD3"/>
          </a:solidFill>
          <a:ln w="12700">
            <a:solidFill>
              <a:srgbClr val="C3CBD3"/>
            </a:solidFill>
            <a:prstDash val="solid"/>
          </a:ln>
        </p:spPr>
      </p:sp>
      <p:sp>
        <p:nvSpPr>
          <p:cNvPr id="99" name="Shape 96"/>
          <p:cNvSpPr/>
          <p:nvPr/>
        </p:nvSpPr>
        <p:spPr>
          <a:xfrm>
            <a:off x="7909560" y="5806440"/>
            <a:ext cx="118872" cy="201168"/>
          </a:xfrm>
          <a:prstGeom prst="rect">
            <a:avLst/>
          </a:prstGeom>
          <a:solidFill>
            <a:srgbClr val="C3CBD3"/>
          </a:solidFill>
          <a:ln w="12700">
            <a:solidFill>
              <a:srgbClr val="C3CBD3"/>
            </a:solidFill>
            <a:prstDash val="solid"/>
          </a:ln>
        </p:spPr>
      </p:sp>
      <p:sp>
        <p:nvSpPr>
          <p:cNvPr id="100" name="Shape 97"/>
          <p:cNvSpPr/>
          <p:nvPr/>
        </p:nvSpPr>
        <p:spPr>
          <a:xfrm>
            <a:off x="6217920" y="6007608"/>
            <a:ext cx="2057400" cy="0"/>
          </a:xfrm>
          <a:prstGeom prst="line">
            <a:avLst/>
          </a:prstGeom>
          <a:noFill/>
          <a:ln w="9525">
            <a:solidFill>
              <a:srgbClr val="B0B7C0"/>
            </a:solidFill>
            <a:prstDash val="solid"/>
          </a:ln>
        </p:spPr>
      </p:sp>
      <p:sp>
        <p:nvSpPr>
          <p:cNvPr id="101" name="Text 98"/>
          <p:cNvSpPr/>
          <p:nvPr/>
        </p:nvSpPr>
        <p:spPr>
          <a:xfrm>
            <a:off x="6217920" y="3767328"/>
            <a:ext cx="2011680" cy="201168"/>
          </a:xfrm>
          <a:prstGeom prst="rect">
            <a:avLst/>
          </a:prstGeom>
          <a:noFill/>
          <a:ln/>
        </p:spPr>
        <p:txBody>
          <a:bodyPr wrap="square" lIns="0" tIns="0" rIns="0" bIns="0" rtlCol="0" anchor="ctr"/>
          <a:lstStyle/>
          <a:p>
            <a:pPr marL="0" indent="0" algn="l">
              <a:buNone/>
            </a:pPr>
            <a:r>
              <a:rPr lang="en-US" sz="850" i="1" dirty="0">
                <a:solidFill>
                  <a:srgbClr val="5B6675"/>
                </a:solidFill>
                <a:latin typeface="Calibri" pitchFamily="34" charset="0"/>
                <a:ea typeface="Calibri" pitchFamily="34" charset="-122"/>
                <a:cs typeface="Calibri" pitchFamily="34" charset="-120"/>
              </a:rPr>
              <a:t>Messages behind, last 5 min</a:t>
            </a:r>
            <a:endParaRPr lang="en-US" sz="850" dirty="0"/>
          </a:p>
        </p:txBody>
      </p:sp>
      <p:sp>
        <p:nvSpPr>
          <p:cNvPr id="102" name="Shape 99"/>
          <p:cNvSpPr/>
          <p:nvPr/>
        </p:nvSpPr>
        <p:spPr>
          <a:xfrm>
            <a:off x="1883664" y="2139696"/>
            <a:ext cx="246888" cy="246888"/>
          </a:xfrm>
          <a:prstGeom prst="ellipse">
            <a:avLst/>
          </a:prstGeom>
          <a:solidFill>
            <a:srgbClr val="D1495B"/>
          </a:solidFill>
          <a:ln w="15875">
            <a:solidFill>
              <a:srgbClr val="FFFFFF"/>
            </a:solidFill>
            <a:prstDash val="solid"/>
          </a:ln>
        </p:spPr>
      </p:sp>
      <p:sp>
        <p:nvSpPr>
          <p:cNvPr id="103" name="Text 100"/>
          <p:cNvSpPr/>
          <p:nvPr/>
        </p:nvSpPr>
        <p:spPr>
          <a:xfrm>
            <a:off x="1883664" y="213969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4" name="Shape 101"/>
          <p:cNvSpPr/>
          <p:nvPr/>
        </p:nvSpPr>
        <p:spPr>
          <a:xfrm>
            <a:off x="1883664" y="3328416"/>
            <a:ext cx="246888" cy="246888"/>
          </a:xfrm>
          <a:prstGeom prst="ellipse">
            <a:avLst/>
          </a:prstGeom>
          <a:solidFill>
            <a:srgbClr val="D1495B"/>
          </a:solidFill>
          <a:ln w="15875">
            <a:solidFill>
              <a:srgbClr val="FFFFFF"/>
            </a:solidFill>
            <a:prstDash val="solid"/>
          </a:ln>
        </p:spPr>
      </p:sp>
      <p:sp>
        <p:nvSpPr>
          <p:cNvPr id="105" name="Text 102"/>
          <p:cNvSpPr/>
          <p:nvPr/>
        </p:nvSpPr>
        <p:spPr>
          <a:xfrm>
            <a:off x="1883664" y="332841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6" name="Shape 103"/>
          <p:cNvSpPr/>
          <p:nvPr/>
        </p:nvSpPr>
        <p:spPr>
          <a:xfrm>
            <a:off x="5916168" y="3328416"/>
            <a:ext cx="246888" cy="246888"/>
          </a:xfrm>
          <a:prstGeom prst="ellipse">
            <a:avLst/>
          </a:prstGeom>
          <a:solidFill>
            <a:srgbClr val="D1495B"/>
          </a:solidFill>
          <a:ln w="15875">
            <a:solidFill>
              <a:srgbClr val="FFFFFF"/>
            </a:solidFill>
            <a:prstDash val="solid"/>
          </a:ln>
        </p:spPr>
      </p:sp>
      <p:sp>
        <p:nvSpPr>
          <p:cNvPr id="107" name="Text 104"/>
          <p:cNvSpPr/>
          <p:nvPr/>
        </p:nvSpPr>
        <p:spPr>
          <a:xfrm>
            <a:off x="5916168" y="332841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8" name="Shape 105"/>
          <p:cNvSpPr/>
          <p:nvPr/>
        </p:nvSpPr>
        <p:spPr>
          <a:xfrm>
            <a:off x="1883664" y="4855464"/>
            <a:ext cx="246888" cy="246888"/>
          </a:xfrm>
          <a:prstGeom prst="ellipse">
            <a:avLst/>
          </a:prstGeom>
          <a:solidFill>
            <a:srgbClr val="D1495B"/>
          </a:solidFill>
          <a:ln w="15875">
            <a:solidFill>
              <a:srgbClr val="FFFFFF"/>
            </a:solidFill>
            <a:prstDash val="solid"/>
          </a:ln>
        </p:spPr>
      </p:sp>
      <p:sp>
        <p:nvSpPr>
          <p:cNvPr id="109" name="Text 106"/>
          <p:cNvSpPr/>
          <p:nvPr/>
        </p:nvSpPr>
        <p:spPr>
          <a:xfrm>
            <a:off x="1883664" y="4855464"/>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10" name="Shape 107"/>
          <p:cNvSpPr/>
          <p:nvPr/>
        </p:nvSpPr>
        <p:spPr>
          <a:xfrm>
            <a:off x="5760720" y="5138928"/>
            <a:ext cx="246888" cy="246888"/>
          </a:xfrm>
          <a:prstGeom prst="ellipse">
            <a:avLst/>
          </a:prstGeom>
          <a:solidFill>
            <a:srgbClr val="D1495B"/>
          </a:solidFill>
          <a:ln w="15875">
            <a:solidFill>
              <a:srgbClr val="FFFFFF"/>
            </a:solidFill>
            <a:prstDash val="solid"/>
          </a:ln>
        </p:spPr>
      </p:sp>
      <p:sp>
        <p:nvSpPr>
          <p:cNvPr id="111" name="Text 108"/>
          <p:cNvSpPr/>
          <p:nvPr/>
        </p:nvSpPr>
        <p:spPr>
          <a:xfrm>
            <a:off x="5760720" y="513892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12" name="Shape 109"/>
          <p:cNvSpPr/>
          <p:nvPr/>
        </p:nvSpPr>
        <p:spPr>
          <a:xfrm>
            <a:off x="8778240" y="1371600"/>
            <a:ext cx="2862072" cy="4892040"/>
          </a:xfrm>
          <a:prstGeom prst="rect">
            <a:avLst/>
          </a:prstGeom>
          <a:solidFill>
            <a:srgbClr val="FFFFFF"/>
          </a:solidFill>
          <a:ln w="9525">
            <a:solidFill>
              <a:srgbClr val="D0D6DD"/>
            </a:solidFill>
            <a:prstDash val="solid"/>
          </a:ln>
          <a:effectLst>
            <a:outerShdw blurRad="76200" dist="25400" dir="8100000" algn="bl" rotWithShape="0">
              <a:srgbClr val="000000">
                <a:alpha val="10000"/>
              </a:srgbClr>
            </a:outerShdw>
          </a:effectLst>
        </p:spPr>
      </p:sp>
      <p:sp>
        <p:nvSpPr>
          <p:cNvPr id="113" name="Text 110"/>
          <p:cNvSpPr/>
          <p:nvPr/>
        </p:nvSpPr>
        <p:spPr>
          <a:xfrm>
            <a:off x="8961120" y="1481328"/>
            <a:ext cx="2496312" cy="274320"/>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ANNOTATIONS</a:t>
            </a:r>
            <a:endParaRPr lang="en-US" sz="1100" dirty="0"/>
          </a:p>
        </p:txBody>
      </p:sp>
      <p:sp>
        <p:nvSpPr>
          <p:cNvPr id="114" name="Shape 111"/>
          <p:cNvSpPr/>
          <p:nvPr/>
        </p:nvSpPr>
        <p:spPr>
          <a:xfrm>
            <a:off x="8942832" y="1892808"/>
            <a:ext cx="246888" cy="246888"/>
          </a:xfrm>
          <a:prstGeom prst="ellipse">
            <a:avLst/>
          </a:prstGeom>
          <a:solidFill>
            <a:srgbClr val="D1495B"/>
          </a:solidFill>
          <a:ln w="15875">
            <a:solidFill>
              <a:srgbClr val="FFFFFF"/>
            </a:solidFill>
            <a:prstDash val="solid"/>
          </a:ln>
        </p:spPr>
      </p:sp>
      <p:sp>
        <p:nvSpPr>
          <p:cNvPr id="115" name="Text 112"/>
          <p:cNvSpPr/>
          <p:nvPr/>
        </p:nvSpPr>
        <p:spPr>
          <a:xfrm>
            <a:off x="8942832" y="18928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6" name="Text 113"/>
          <p:cNvSpPr/>
          <p:nvPr/>
        </p:nvSpPr>
        <p:spPr>
          <a:xfrm>
            <a:off x="9308592" y="1874520"/>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Stage strip</a:t>
            </a:r>
            <a:endParaRPr lang="en-US" sz="1150" dirty="0"/>
          </a:p>
        </p:txBody>
      </p:sp>
      <p:sp>
        <p:nvSpPr>
          <p:cNvPr id="117" name="Text 114"/>
          <p:cNvSpPr/>
          <p:nvPr/>
        </p:nvSpPr>
        <p:spPr>
          <a:xfrm>
            <a:off x="9308592" y="2121408"/>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One tile per pipeline stage with rate and status. Turns amber or red if a stage stalls.</a:t>
            </a:r>
            <a:endParaRPr lang="en-US" sz="1000" dirty="0"/>
          </a:p>
        </p:txBody>
      </p:sp>
      <p:sp>
        <p:nvSpPr>
          <p:cNvPr id="118" name="Shape 115"/>
          <p:cNvSpPr/>
          <p:nvPr/>
        </p:nvSpPr>
        <p:spPr>
          <a:xfrm>
            <a:off x="8942832" y="2770632"/>
            <a:ext cx="246888" cy="246888"/>
          </a:xfrm>
          <a:prstGeom prst="ellipse">
            <a:avLst/>
          </a:prstGeom>
          <a:solidFill>
            <a:srgbClr val="D1495B"/>
          </a:solidFill>
          <a:ln w="15875">
            <a:solidFill>
              <a:srgbClr val="FFFFFF"/>
            </a:solidFill>
            <a:prstDash val="solid"/>
          </a:ln>
        </p:spPr>
      </p:sp>
      <p:sp>
        <p:nvSpPr>
          <p:cNvPr id="119" name="Text 116"/>
          <p:cNvSpPr/>
          <p:nvPr/>
        </p:nvSpPr>
        <p:spPr>
          <a:xfrm>
            <a:off x="8942832" y="277063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0" name="Text 117"/>
          <p:cNvSpPr/>
          <p:nvPr/>
        </p:nvSpPr>
        <p:spPr>
          <a:xfrm>
            <a:off x="9308592" y="2752344"/>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Topics table</a:t>
            </a:r>
            <a:endParaRPr lang="en-US" sz="1150" dirty="0"/>
          </a:p>
        </p:txBody>
      </p:sp>
      <p:sp>
        <p:nvSpPr>
          <p:cNvPr id="121" name="Text 118"/>
          <p:cNvSpPr/>
          <p:nvPr/>
        </p:nvSpPr>
        <p:spPr>
          <a:xfrm>
            <a:off x="9308592" y="2999232"/>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Partitions, message count and consumer lag per topic. Source: Kafka admin API.</a:t>
            </a:r>
            <a:endParaRPr lang="en-US" sz="1000" dirty="0"/>
          </a:p>
        </p:txBody>
      </p:sp>
      <p:sp>
        <p:nvSpPr>
          <p:cNvPr id="122" name="Shape 119"/>
          <p:cNvSpPr/>
          <p:nvPr/>
        </p:nvSpPr>
        <p:spPr>
          <a:xfrm>
            <a:off x="8942832" y="3648456"/>
            <a:ext cx="246888" cy="246888"/>
          </a:xfrm>
          <a:prstGeom prst="ellipse">
            <a:avLst/>
          </a:prstGeom>
          <a:solidFill>
            <a:srgbClr val="D1495B"/>
          </a:solidFill>
          <a:ln w="15875">
            <a:solidFill>
              <a:srgbClr val="FFFFFF"/>
            </a:solidFill>
            <a:prstDash val="solid"/>
          </a:ln>
        </p:spPr>
      </p:sp>
      <p:sp>
        <p:nvSpPr>
          <p:cNvPr id="123" name="Text 120"/>
          <p:cNvSpPr/>
          <p:nvPr/>
        </p:nvSpPr>
        <p:spPr>
          <a:xfrm>
            <a:off x="8942832" y="364845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24" name="Text 121"/>
          <p:cNvSpPr/>
          <p:nvPr/>
        </p:nvSpPr>
        <p:spPr>
          <a:xfrm>
            <a:off x="9308592" y="3630168"/>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Consumer lag chart</a:t>
            </a:r>
            <a:endParaRPr lang="en-US" sz="1150" dirty="0"/>
          </a:p>
        </p:txBody>
      </p:sp>
      <p:sp>
        <p:nvSpPr>
          <p:cNvPr id="125" name="Text 122"/>
          <p:cNvSpPr/>
          <p:nvPr/>
        </p:nvSpPr>
        <p:spPr>
          <a:xfrm>
            <a:off x="9308592" y="3877056"/>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Shows whether processing keeps up with ingestion during the demo.</a:t>
            </a:r>
            <a:endParaRPr lang="en-US" sz="1000" dirty="0"/>
          </a:p>
        </p:txBody>
      </p:sp>
      <p:sp>
        <p:nvSpPr>
          <p:cNvPr id="126" name="Shape 123"/>
          <p:cNvSpPr/>
          <p:nvPr/>
        </p:nvSpPr>
        <p:spPr>
          <a:xfrm>
            <a:off x="8942832" y="4526280"/>
            <a:ext cx="246888" cy="246888"/>
          </a:xfrm>
          <a:prstGeom prst="ellipse">
            <a:avLst/>
          </a:prstGeom>
          <a:solidFill>
            <a:srgbClr val="D1495B"/>
          </a:solidFill>
          <a:ln w="15875">
            <a:solidFill>
              <a:srgbClr val="FFFFFF"/>
            </a:solidFill>
            <a:prstDash val="solid"/>
          </a:ln>
        </p:spPr>
      </p:sp>
      <p:sp>
        <p:nvSpPr>
          <p:cNvPr id="127" name="Text 124"/>
          <p:cNvSpPr/>
          <p:nvPr/>
        </p:nvSpPr>
        <p:spPr>
          <a:xfrm>
            <a:off x="8942832" y="452628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8" name="Text 125"/>
          <p:cNvSpPr/>
          <p:nvPr/>
        </p:nvSpPr>
        <p:spPr>
          <a:xfrm>
            <a:off x="9308592" y="4507992"/>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Streams app state</a:t>
            </a:r>
            <a:endParaRPr lang="en-US" sz="1150" dirty="0"/>
          </a:p>
        </p:txBody>
      </p:sp>
      <p:sp>
        <p:nvSpPr>
          <p:cNvPr id="129" name="Text 126"/>
          <p:cNvSpPr/>
          <p:nvPr/>
        </p:nvSpPr>
        <p:spPr>
          <a:xfrm>
            <a:off x="9308592" y="4754880"/>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RUNNING or REBALANCING, threads and uptime, exposed by the Streams application.</a:t>
            </a:r>
            <a:endParaRPr lang="en-US" sz="1000" dirty="0"/>
          </a:p>
        </p:txBody>
      </p:sp>
      <p:sp>
        <p:nvSpPr>
          <p:cNvPr id="130" name="Shape 127"/>
          <p:cNvSpPr/>
          <p:nvPr/>
        </p:nvSpPr>
        <p:spPr>
          <a:xfrm>
            <a:off x="8942832" y="5404104"/>
            <a:ext cx="246888" cy="246888"/>
          </a:xfrm>
          <a:prstGeom prst="ellipse">
            <a:avLst/>
          </a:prstGeom>
          <a:solidFill>
            <a:srgbClr val="D1495B"/>
          </a:solidFill>
          <a:ln w="15875">
            <a:solidFill>
              <a:srgbClr val="FFFFFF"/>
            </a:solidFill>
            <a:prstDash val="solid"/>
          </a:ln>
        </p:spPr>
      </p:sp>
      <p:sp>
        <p:nvSpPr>
          <p:cNvPr id="131" name="Text 128"/>
          <p:cNvSpPr/>
          <p:nvPr/>
        </p:nvSpPr>
        <p:spPr>
          <a:xfrm>
            <a:off x="8942832" y="5404104"/>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32" name="Text 129"/>
          <p:cNvSpPr/>
          <p:nvPr/>
        </p:nvSpPr>
        <p:spPr>
          <a:xfrm>
            <a:off x="9308592" y="5385816"/>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Kafka UI link</a:t>
            </a:r>
            <a:endParaRPr lang="en-US" sz="1150" dirty="0"/>
          </a:p>
        </p:txBody>
      </p:sp>
      <p:sp>
        <p:nvSpPr>
          <p:cNvPr id="133" name="Text 130"/>
          <p:cNvSpPr/>
          <p:nvPr/>
        </p:nvSpPr>
        <p:spPr>
          <a:xfrm>
            <a:off x="9308592" y="5632704"/>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Deep link to localhost:8080 for message-level inspection.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A7"/>
          </a:solidFill>
          <a:ln w="12700">
            <a:solidFill>
              <a:srgbClr val="0E9AA7"/>
            </a:solidFill>
            <a:prstDash val="solid"/>
          </a:ln>
        </p:spPr>
      </p:sp>
      <p:sp>
        <p:nvSpPr>
          <p:cNvPr id="3" name="Shape 1"/>
          <p:cNvSpPr/>
          <p:nvPr/>
        </p:nvSpPr>
        <p:spPr>
          <a:xfrm>
            <a:off x="548640" y="384048"/>
            <a:ext cx="566928" cy="347472"/>
          </a:xfrm>
          <a:prstGeom prst="roundRect">
            <a:avLst>
              <a:gd name="adj" fmla="val 21053"/>
            </a:avLst>
          </a:prstGeom>
          <a:solidFill>
            <a:srgbClr val="14213D"/>
          </a:solidFill>
          <a:ln w="12700">
            <a:solidFill>
              <a:srgbClr val="14213D"/>
            </a:solidFill>
            <a:prstDash val="solid"/>
          </a:ln>
        </p:spPr>
      </p:sp>
      <p:sp>
        <p:nvSpPr>
          <p:cNvPr id="4" name="Text 2"/>
          <p:cNvSpPr/>
          <p:nvPr/>
        </p:nvSpPr>
        <p:spPr>
          <a:xfrm>
            <a:off x="548640" y="384048"/>
            <a:ext cx="56692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S5</a:t>
            </a:r>
            <a:endParaRPr lang="en-US" sz="1300" dirty="0"/>
          </a:p>
        </p:txBody>
      </p:sp>
      <p:sp>
        <p:nvSpPr>
          <p:cNvPr id="5" name="Text 3"/>
          <p:cNvSpPr/>
          <p:nvPr/>
        </p:nvSpPr>
        <p:spPr>
          <a:xfrm>
            <a:off x="1280160" y="320040"/>
            <a:ext cx="10332720" cy="475488"/>
          </a:xfrm>
          <a:prstGeom prst="rect">
            <a:avLst/>
          </a:prstGeom>
          <a:noFill/>
          <a:ln/>
        </p:spPr>
        <p:txBody>
          <a:bodyPr wrap="square" lIns="0" tIns="0" rIns="0" bIns="0" rtlCol="0" anchor="ctr"/>
          <a:lstStyle/>
          <a:p>
            <a:pPr marL="0" indent="0" algn="l">
              <a:buNone/>
            </a:pPr>
            <a:r>
              <a:rPr lang="en-US" sz="2800" b="1" dirty="0">
                <a:solidFill>
                  <a:srgbClr val="14213D"/>
                </a:solidFill>
                <a:latin typeface="Calibri" pitchFamily="34" charset="0"/>
                <a:ea typeface="Calibri" pitchFamily="34" charset="-122"/>
                <a:cs typeface="Calibri" pitchFamily="34" charset="-120"/>
              </a:rPr>
              <a:t>Demo Control Panel</a:t>
            </a:r>
            <a:endParaRPr lang="en-US" sz="2800" dirty="0"/>
          </a:p>
        </p:txBody>
      </p:sp>
      <p:sp>
        <p:nvSpPr>
          <p:cNvPr id="6" name="Text 4"/>
          <p:cNvSpPr/>
          <p:nvPr/>
        </p:nvSpPr>
        <p:spPr>
          <a:xfrm>
            <a:off x="1280160" y="841248"/>
            <a:ext cx="10789920" cy="365760"/>
          </a:xfrm>
          <a:prstGeom prst="rect">
            <a:avLst/>
          </a:prstGeom>
          <a:noFill/>
          <a:ln/>
        </p:spPr>
        <p:txBody>
          <a:bodyPr wrap="square" lIns="0" tIns="0" rIns="0" bIns="0" rtlCol="0" anchor="ctr"/>
          <a:lstStyle/>
          <a:p>
            <a:pPr marL="0" indent="0" algn="l">
              <a:buNone/>
            </a:pPr>
            <a:r>
              <a:rPr lang="en-US" sz="1400" dirty="0">
                <a:solidFill>
                  <a:srgbClr val="5B6675"/>
                </a:solidFill>
                <a:latin typeface="Calibri" pitchFamily="34" charset="0"/>
                <a:ea typeface="Calibri" pitchFamily="34" charset="-122"/>
                <a:cs typeface="Calibri" pitchFamily="34" charset="-120"/>
              </a:rPr>
              <a:t>Run the simulator, inject a suspicious event and trace it through the pipeline</a:t>
            </a:r>
            <a:endParaRPr lang="en-US" sz="1400" dirty="0"/>
          </a:p>
        </p:txBody>
      </p:sp>
      <p:sp>
        <p:nvSpPr>
          <p:cNvPr id="7" name="Text 5"/>
          <p:cNvSpPr/>
          <p:nvPr/>
        </p:nvSpPr>
        <p:spPr>
          <a:xfrm>
            <a:off x="548640" y="6446520"/>
            <a:ext cx="6400800" cy="256032"/>
          </a:xfrm>
          <a:prstGeom prst="rect">
            <a:avLst/>
          </a:prstGeom>
          <a:noFill/>
          <a:ln/>
        </p:spPr>
        <p:txBody>
          <a:bodyPr wrap="square" lIns="0" tIns="0" rIns="0" bIns="0" rtlCol="0" anchor="ctr"/>
          <a:lstStyle/>
          <a:p>
            <a:pPr marL="0" indent="0" algn="l">
              <a:buNone/>
            </a:pPr>
            <a:r>
              <a:rPr lang="en-US" sz="1000" dirty="0">
                <a:solidFill>
                  <a:srgbClr val="5B6675"/>
                </a:solidFill>
                <a:latin typeface="Calibri" pitchFamily="34" charset="0"/>
                <a:ea typeface="Calibri" pitchFamily="34" charset="-122"/>
                <a:cs typeface="Calibri" pitchFamily="34" charset="-120"/>
              </a:rPr>
              <a:t>Prototype Wireframes  |  Kafka Streams Real-Time Ingestion</a:t>
            </a:r>
            <a:endParaRPr lang="en-US" sz="1000" dirty="0"/>
          </a:p>
        </p:txBody>
      </p:sp>
      <p:sp>
        <p:nvSpPr>
          <p:cNvPr id="8" name="Text 6"/>
          <p:cNvSpPr/>
          <p:nvPr/>
        </p:nvSpPr>
        <p:spPr>
          <a:xfrm>
            <a:off x="11155680" y="6446520"/>
            <a:ext cx="548640" cy="256032"/>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7</a:t>
            </a:r>
            <a:endParaRPr lang="en-US" sz="1000" dirty="0"/>
          </a:p>
        </p:txBody>
      </p:sp>
      <p:sp>
        <p:nvSpPr>
          <p:cNvPr id="9" name="Shape 7"/>
          <p:cNvSpPr/>
          <p:nvPr/>
        </p:nvSpPr>
        <p:spPr>
          <a:xfrm>
            <a:off x="548640" y="1371600"/>
            <a:ext cx="7955280" cy="4892040"/>
          </a:xfrm>
          <a:prstGeom prst="rect">
            <a:avLst/>
          </a:prstGeom>
          <a:solidFill>
            <a:srgbClr val="FFFFFF"/>
          </a:solidFill>
          <a:ln w="15875">
            <a:solidFill>
              <a:srgbClr val="8A94A0"/>
            </a:solidFill>
            <a:prstDash val="solid"/>
          </a:ln>
          <a:effectLst>
            <a:outerShdw blurRad="76200" dist="25400" dir="8100000" algn="bl" rotWithShape="0">
              <a:srgbClr val="000000">
                <a:alpha val="10000"/>
              </a:srgbClr>
            </a:outerShdw>
          </a:effectLst>
        </p:spPr>
      </p:sp>
      <p:sp>
        <p:nvSpPr>
          <p:cNvPr id="10" name="Shape 8"/>
          <p:cNvSpPr/>
          <p:nvPr/>
        </p:nvSpPr>
        <p:spPr>
          <a:xfrm>
            <a:off x="548640" y="1371600"/>
            <a:ext cx="7955280" cy="292608"/>
          </a:xfrm>
          <a:prstGeom prst="rect">
            <a:avLst/>
          </a:prstGeom>
          <a:solidFill>
            <a:srgbClr val="D5DAE0"/>
          </a:solidFill>
          <a:ln w="12700">
            <a:solidFill>
              <a:srgbClr val="D5DAE0"/>
            </a:solidFill>
            <a:prstDash val="solid"/>
          </a:ln>
        </p:spPr>
      </p:sp>
      <p:sp>
        <p:nvSpPr>
          <p:cNvPr id="11" name="Shape 9"/>
          <p:cNvSpPr/>
          <p:nvPr/>
        </p:nvSpPr>
        <p:spPr>
          <a:xfrm>
            <a:off x="676656" y="1463040"/>
            <a:ext cx="109728" cy="109728"/>
          </a:xfrm>
          <a:prstGeom prst="ellipse">
            <a:avLst/>
          </a:prstGeom>
          <a:solidFill>
            <a:srgbClr val="9AA3AE"/>
          </a:solidFill>
          <a:ln w="12700">
            <a:solidFill>
              <a:srgbClr val="9AA3AE"/>
            </a:solidFill>
            <a:prstDash val="solid"/>
          </a:ln>
        </p:spPr>
      </p:sp>
      <p:sp>
        <p:nvSpPr>
          <p:cNvPr id="12" name="Shape 10"/>
          <p:cNvSpPr/>
          <p:nvPr/>
        </p:nvSpPr>
        <p:spPr>
          <a:xfrm>
            <a:off x="859536" y="1463040"/>
            <a:ext cx="109728" cy="109728"/>
          </a:xfrm>
          <a:prstGeom prst="ellipse">
            <a:avLst/>
          </a:prstGeom>
          <a:solidFill>
            <a:srgbClr val="9AA3AE"/>
          </a:solidFill>
          <a:ln w="12700">
            <a:solidFill>
              <a:srgbClr val="9AA3AE"/>
            </a:solidFill>
            <a:prstDash val="solid"/>
          </a:ln>
        </p:spPr>
      </p:sp>
      <p:sp>
        <p:nvSpPr>
          <p:cNvPr id="13" name="Shape 11"/>
          <p:cNvSpPr/>
          <p:nvPr/>
        </p:nvSpPr>
        <p:spPr>
          <a:xfrm>
            <a:off x="1042416" y="1463040"/>
            <a:ext cx="109728" cy="109728"/>
          </a:xfrm>
          <a:prstGeom prst="ellipse">
            <a:avLst/>
          </a:prstGeom>
          <a:solidFill>
            <a:srgbClr val="9AA3AE"/>
          </a:solidFill>
          <a:ln w="12700">
            <a:solidFill>
              <a:srgbClr val="9AA3AE"/>
            </a:solidFill>
            <a:prstDash val="solid"/>
          </a:ln>
        </p:spPr>
      </p:sp>
      <p:sp>
        <p:nvSpPr>
          <p:cNvPr id="14" name="Shape 12"/>
          <p:cNvSpPr/>
          <p:nvPr/>
        </p:nvSpPr>
        <p:spPr>
          <a:xfrm>
            <a:off x="1371600" y="1426464"/>
            <a:ext cx="3108960" cy="182880"/>
          </a:xfrm>
          <a:prstGeom prst="roundRect">
            <a:avLst>
              <a:gd name="adj" fmla="val 25000"/>
            </a:avLst>
          </a:prstGeom>
          <a:solidFill>
            <a:srgbClr val="FFFFFF"/>
          </a:solidFill>
          <a:ln w="12700">
            <a:solidFill>
              <a:srgbClr val="FFFFFF"/>
            </a:solidFill>
            <a:prstDash val="solid"/>
          </a:ln>
        </p:spPr>
      </p:sp>
      <p:sp>
        <p:nvSpPr>
          <p:cNvPr id="15" name="Text 13"/>
          <p:cNvSpPr/>
          <p:nvPr/>
        </p:nvSpPr>
        <p:spPr>
          <a:xfrm>
            <a:off x="1463040" y="1426464"/>
            <a:ext cx="2926080" cy="182880"/>
          </a:xfrm>
          <a:prstGeom prst="rect">
            <a:avLst/>
          </a:prstGeom>
          <a:noFill/>
          <a:ln/>
        </p:spPr>
        <p:txBody>
          <a:bodyPr wrap="square" lIns="0" tIns="0" rIns="0" bIns="0" rtlCol="0" anchor="ctr"/>
          <a:lstStyle/>
          <a:p>
            <a:pPr marL="0" indent="0" algn="l">
              <a:buNone/>
            </a:pPr>
            <a:r>
              <a:rPr lang="en-US" sz="800" dirty="0">
                <a:solidFill>
                  <a:srgbClr val="5B6675"/>
                </a:solidFill>
                <a:latin typeface="Calibri" pitchFamily="34" charset="0"/>
                <a:ea typeface="Calibri" pitchFamily="34" charset="-122"/>
                <a:cs typeface="Calibri" pitchFamily="34" charset="-120"/>
              </a:rPr>
              <a:t>localhost:3000/control</a:t>
            </a:r>
            <a:endParaRPr lang="en-US" sz="800" dirty="0"/>
          </a:p>
        </p:txBody>
      </p:sp>
      <p:sp>
        <p:nvSpPr>
          <p:cNvPr id="16" name="Shape 14"/>
          <p:cNvSpPr/>
          <p:nvPr/>
        </p:nvSpPr>
        <p:spPr>
          <a:xfrm>
            <a:off x="548640" y="1664208"/>
            <a:ext cx="1371600" cy="4599432"/>
          </a:xfrm>
          <a:prstGeom prst="rect">
            <a:avLst/>
          </a:prstGeom>
          <a:solidFill>
            <a:srgbClr val="ECEFF3"/>
          </a:solidFill>
          <a:ln w="12700">
            <a:solidFill>
              <a:srgbClr val="ECEFF3"/>
            </a:solidFill>
            <a:prstDash val="solid"/>
          </a:ln>
        </p:spPr>
      </p:sp>
      <p:sp>
        <p:nvSpPr>
          <p:cNvPr id="17" name="Shape 15"/>
          <p:cNvSpPr/>
          <p:nvPr/>
        </p:nvSpPr>
        <p:spPr>
          <a:xfrm>
            <a:off x="1920240" y="1664208"/>
            <a:ext cx="0" cy="4599432"/>
          </a:xfrm>
          <a:prstGeom prst="line">
            <a:avLst/>
          </a:prstGeom>
          <a:noFill/>
          <a:ln w="9525">
            <a:solidFill>
              <a:srgbClr val="B0B7C0"/>
            </a:solidFill>
            <a:prstDash val="solid"/>
          </a:ln>
        </p:spPr>
      </p:sp>
      <p:sp>
        <p:nvSpPr>
          <p:cNvPr id="18" name="Shape 16"/>
          <p:cNvSpPr/>
          <p:nvPr/>
        </p:nvSpPr>
        <p:spPr>
          <a:xfrm>
            <a:off x="685800" y="1801368"/>
            <a:ext cx="219456" cy="219456"/>
          </a:xfrm>
          <a:prstGeom prst="rect">
            <a:avLst/>
          </a:prstGeom>
          <a:solidFill>
            <a:srgbClr val="14213D"/>
          </a:solidFill>
          <a:ln w="12700">
            <a:solidFill>
              <a:srgbClr val="14213D"/>
            </a:solidFill>
            <a:prstDash val="solid"/>
          </a:ln>
        </p:spPr>
      </p:sp>
      <p:sp>
        <p:nvSpPr>
          <p:cNvPr id="19" name="Text 17"/>
          <p:cNvSpPr/>
          <p:nvPr/>
        </p:nvSpPr>
        <p:spPr>
          <a:xfrm>
            <a:off x="978408" y="1783080"/>
            <a:ext cx="914400" cy="256032"/>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TxnWatch</a:t>
            </a:r>
            <a:endParaRPr lang="en-US" sz="1150" dirty="0"/>
          </a:p>
        </p:txBody>
      </p:sp>
      <p:sp>
        <p:nvSpPr>
          <p:cNvPr id="20" name="Shape 18"/>
          <p:cNvSpPr/>
          <p:nvPr/>
        </p:nvSpPr>
        <p:spPr>
          <a:xfrm>
            <a:off x="713232" y="2331720"/>
            <a:ext cx="128016" cy="128016"/>
          </a:xfrm>
          <a:prstGeom prst="rect">
            <a:avLst/>
          </a:prstGeom>
          <a:solidFill>
            <a:srgbClr val="C9CFD6"/>
          </a:solidFill>
          <a:ln w="12700">
            <a:solidFill>
              <a:srgbClr val="C9CFD6"/>
            </a:solidFill>
            <a:prstDash val="solid"/>
          </a:ln>
        </p:spPr>
      </p:sp>
      <p:sp>
        <p:nvSpPr>
          <p:cNvPr id="21" name="Text 19"/>
          <p:cNvSpPr/>
          <p:nvPr/>
        </p:nvSpPr>
        <p:spPr>
          <a:xfrm>
            <a:off x="914400" y="2240280"/>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Live Dashboard</a:t>
            </a:r>
            <a:endParaRPr lang="en-US" sz="1000" dirty="0"/>
          </a:p>
        </p:txBody>
      </p:sp>
      <p:sp>
        <p:nvSpPr>
          <p:cNvPr id="22" name="Shape 20"/>
          <p:cNvSpPr/>
          <p:nvPr/>
        </p:nvSpPr>
        <p:spPr>
          <a:xfrm>
            <a:off x="713232" y="2715768"/>
            <a:ext cx="128016" cy="128016"/>
          </a:xfrm>
          <a:prstGeom prst="rect">
            <a:avLst/>
          </a:prstGeom>
          <a:solidFill>
            <a:srgbClr val="C9CFD6"/>
          </a:solidFill>
          <a:ln w="12700">
            <a:solidFill>
              <a:srgbClr val="C9CFD6"/>
            </a:solidFill>
            <a:prstDash val="solid"/>
          </a:ln>
        </p:spPr>
      </p:sp>
      <p:sp>
        <p:nvSpPr>
          <p:cNvPr id="23" name="Text 21"/>
          <p:cNvSpPr/>
          <p:nvPr/>
        </p:nvSpPr>
        <p:spPr>
          <a:xfrm>
            <a:off x="914400" y="2624328"/>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Transactions</a:t>
            </a:r>
            <a:endParaRPr lang="en-US" sz="1000" dirty="0"/>
          </a:p>
        </p:txBody>
      </p:sp>
      <p:sp>
        <p:nvSpPr>
          <p:cNvPr id="24" name="Shape 22"/>
          <p:cNvSpPr/>
          <p:nvPr/>
        </p:nvSpPr>
        <p:spPr>
          <a:xfrm>
            <a:off x="713232" y="3099816"/>
            <a:ext cx="128016" cy="128016"/>
          </a:xfrm>
          <a:prstGeom prst="rect">
            <a:avLst/>
          </a:prstGeom>
          <a:solidFill>
            <a:srgbClr val="C9CFD6"/>
          </a:solidFill>
          <a:ln w="12700">
            <a:solidFill>
              <a:srgbClr val="C9CFD6"/>
            </a:solidFill>
            <a:prstDash val="solid"/>
          </a:ln>
        </p:spPr>
      </p:sp>
      <p:sp>
        <p:nvSpPr>
          <p:cNvPr id="25" name="Text 23"/>
          <p:cNvSpPr/>
          <p:nvPr/>
        </p:nvSpPr>
        <p:spPr>
          <a:xfrm>
            <a:off x="914400" y="3008376"/>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Alerts</a:t>
            </a:r>
            <a:endParaRPr lang="en-US" sz="1000" dirty="0"/>
          </a:p>
        </p:txBody>
      </p:sp>
      <p:sp>
        <p:nvSpPr>
          <p:cNvPr id="26" name="Shape 24"/>
          <p:cNvSpPr/>
          <p:nvPr/>
        </p:nvSpPr>
        <p:spPr>
          <a:xfrm>
            <a:off x="713232" y="3483864"/>
            <a:ext cx="128016" cy="128016"/>
          </a:xfrm>
          <a:prstGeom prst="rect">
            <a:avLst/>
          </a:prstGeom>
          <a:solidFill>
            <a:srgbClr val="C9CFD6"/>
          </a:solidFill>
          <a:ln w="12700">
            <a:solidFill>
              <a:srgbClr val="C9CFD6"/>
            </a:solidFill>
            <a:prstDash val="solid"/>
          </a:ln>
        </p:spPr>
      </p:sp>
      <p:sp>
        <p:nvSpPr>
          <p:cNvPr id="27" name="Text 25"/>
          <p:cNvSpPr/>
          <p:nvPr/>
        </p:nvSpPr>
        <p:spPr>
          <a:xfrm>
            <a:off x="914400" y="3392424"/>
            <a:ext cx="960120" cy="310896"/>
          </a:xfrm>
          <a:prstGeom prst="rect">
            <a:avLst/>
          </a:prstGeom>
          <a:noFill/>
          <a:ln/>
        </p:spPr>
        <p:txBody>
          <a:bodyPr wrap="square" lIns="0" tIns="0" rIns="0" bIns="0" rtlCol="0" anchor="ctr"/>
          <a:lstStyle/>
          <a:p>
            <a:pPr marL="0" indent="0" algn="l">
              <a:buNone/>
            </a:pPr>
            <a:r>
              <a:rPr lang="en-US" sz="1000" dirty="0">
                <a:solidFill>
                  <a:srgbClr val="2B3440"/>
                </a:solidFill>
                <a:latin typeface="Calibri" pitchFamily="34" charset="0"/>
                <a:ea typeface="Calibri" pitchFamily="34" charset="-122"/>
                <a:cs typeface="Calibri" pitchFamily="34" charset="-120"/>
              </a:rPr>
              <a:t>Pipeline Health</a:t>
            </a:r>
            <a:endParaRPr lang="en-US" sz="1000" dirty="0"/>
          </a:p>
        </p:txBody>
      </p:sp>
      <p:sp>
        <p:nvSpPr>
          <p:cNvPr id="28" name="Shape 26"/>
          <p:cNvSpPr/>
          <p:nvPr/>
        </p:nvSpPr>
        <p:spPr>
          <a:xfrm>
            <a:off x="621792" y="3776472"/>
            <a:ext cx="1225296" cy="310896"/>
          </a:xfrm>
          <a:prstGeom prst="roundRect">
            <a:avLst>
              <a:gd name="adj" fmla="val 14706"/>
            </a:avLst>
          </a:prstGeom>
          <a:solidFill>
            <a:srgbClr val="0E9AA7"/>
          </a:solidFill>
          <a:ln w="12700">
            <a:solidFill>
              <a:srgbClr val="0E9AA7"/>
            </a:solidFill>
            <a:prstDash val="solid"/>
          </a:ln>
        </p:spPr>
      </p:sp>
      <p:sp>
        <p:nvSpPr>
          <p:cNvPr id="29" name="Text 27"/>
          <p:cNvSpPr/>
          <p:nvPr/>
        </p:nvSpPr>
        <p:spPr>
          <a:xfrm>
            <a:off x="731520" y="3776472"/>
            <a:ext cx="109728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Control Panel</a:t>
            </a:r>
            <a:endParaRPr lang="en-US" sz="1000" dirty="0"/>
          </a:p>
        </p:txBody>
      </p:sp>
      <p:sp>
        <p:nvSpPr>
          <p:cNvPr id="30" name="Text 28"/>
          <p:cNvSpPr/>
          <p:nvPr/>
        </p:nvSpPr>
        <p:spPr>
          <a:xfrm>
            <a:off x="685800" y="5897880"/>
            <a:ext cx="1188720" cy="228600"/>
          </a:xfrm>
          <a:prstGeom prst="rect">
            <a:avLst/>
          </a:prstGeom>
          <a:noFill/>
          <a:ln/>
        </p:spPr>
        <p:txBody>
          <a:bodyPr wrap="square" lIns="0" tIns="0" rIns="0" bIns="0" rtlCol="0" anchor="ctr"/>
          <a:lstStyle/>
          <a:p>
            <a:pPr marL="0" indent="0" algn="l">
              <a:buNone/>
            </a:pPr>
            <a:r>
              <a:rPr lang="en-US" sz="900" b="1" dirty="0">
                <a:solidFill>
                  <a:srgbClr val="2E9E5B"/>
                </a:solidFill>
                <a:latin typeface="Calibri" pitchFamily="34" charset="0"/>
                <a:ea typeface="Calibri" pitchFamily="34" charset="-122"/>
                <a:cs typeface="Calibri" pitchFamily="34" charset="-120"/>
              </a:rPr>
              <a:t>● Connected</a:t>
            </a:r>
            <a:endParaRPr lang="en-US" sz="900" dirty="0"/>
          </a:p>
        </p:txBody>
      </p:sp>
      <p:sp>
        <p:nvSpPr>
          <p:cNvPr id="31" name="Text 29"/>
          <p:cNvSpPr/>
          <p:nvPr/>
        </p:nvSpPr>
        <p:spPr>
          <a:xfrm>
            <a:off x="2057400" y="1755648"/>
            <a:ext cx="3657600" cy="310896"/>
          </a:xfrm>
          <a:prstGeom prst="rect">
            <a:avLst/>
          </a:prstGeom>
          <a:noFill/>
          <a:ln/>
        </p:spPr>
        <p:txBody>
          <a:bodyPr wrap="square" lIns="0" tIns="0" rIns="0" bIns="0" rtlCol="0" anchor="ctr"/>
          <a:lstStyle/>
          <a:p>
            <a:pPr marL="0" indent="0" algn="l">
              <a:buNone/>
            </a:pPr>
            <a:r>
              <a:rPr lang="en-US" sz="1400" b="1" dirty="0">
                <a:solidFill>
                  <a:srgbClr val="14213D"/>
                </a:solidFill>
                <a:latin typeface="Calibri" pitchFamily="34" charset="0"/>
                <a:ea typeface="Calibri" pitchFamily="34" charset="-122"/>
                <a:cs typeface="Calibri" pitchFamily="34" charset="-120"/>
              </a:rPr>
              <a:t>Demo Control Panel</a:t>
            </a:r>
            <a:endParaRPr lang="en-US" sz="1400" dirty="0"/>
          </a:p>
        </p:txBody>
      </p:sp>
      <p:sp>
        <p:nvSpPr>
          <p:cNvPr id="32" name="Shape 30"/>
          <p:cNvSpPr/>
          <p:nvPr/>
        </p:nvSpPr>
        <p:spPr>
          <a:xfrm>
            <a:off x="6903720" y="1783080"/>
            <a:ext cx="1463040" cy="246888"/>
          </a:xfrm>
          <a:prstGeom prst="roundRect">
            <a:avLst>
              <a:gd name="adj" fmla="val 29630"/>
            </a:avLst>
          </a:prstGeom>
          <a:solidFill>
            <a:srgbClr val="E5E8EC"/>
          </a:solidFill>
          <a:ln w="12700">
            <a:solidFill>
              <a:srgbClr val="E5E8EC"/>
            </a:solidFill>
            <a:prstDash val="solid"/>
          </a:ln>
        </p:spPr>
      </p:sp>
      <p:sp>
        <p:nvSpPr>
          <p:cNvPr id="33" name="Text 31"/>
          <p:cNvSpPr/>
          <p:nvPr/>
        </p:nvSpPr>
        <p:spPr>
          <a:xfrm>
            <a:off x="6903720" y="1783080"/>
            <a:ext cx="1463040" cy="246888"/>
          </a:xfrm>
          <a:prstGeom prst="rect">
            <a:avLst/>
          </a:prstGeom>
          <a:noFill/>
          <a:ln/>
        </p:spPr>
        <p:txBody>
          <a:bodyPr wrap="square" lIns="0" tIns="0" rIns="0" bIns="0" rtlCol="0" anchor="ctr"/>
          <a:lstStyle/>
          <a:p>
            <a:pPr marL="0" indent="0" algn="ctr">
              <a:buNone/>
            </a:pPr>
            <a:r>
              <a:rPr lang="en-US" sz="900" b="1" dirty="0">
                <a:solidFill>
                  <a:srgbClr val="2B3440"/>
                </a:solidFill>
                <a:latin typeface="Calibri" pitchFamily="34" charset="0"/>
                <a:ea typeface="Calibri" pitchFamily="34" charset="-122"/>
                <a:cs typeface="Calibri" pitchFamily="34" charset="-120"/>
              </a:rPr>
              <a:t>Environment: Local</a:t>
            </a:r>
            <a:endParaRPr lang="en-US" sz="900" dirty="0"/>
          </a:p>
        </p:txBody>
      </p:sp>
      <p:sp>
        <p:nvSpPr>
          <p:cNvPr id="34" name="Shape 32"/>
          <p:cNvSpPr/>
          <p:nvPr/>
        </p:nvSpPr>
        <p:spPr>
          <a:xfrm>
            <a:off x="2057400" y="2212848"/>
            <a:ext cx="2011680" cy="3200400"/>
          </a:xfrm>
          <a:prstGeom prst="rect">
            <a:avLst/>
          </a:prstGeom>
          <a:solidFill>
            <a:srgbClr val="FFFFFF"/>
          </a:solidFill>
          <a:ln w="9525">
            <a:solidFill>
              <a:srgbClr val="B0B7C0"/>
            </a:solidFill>
            <a:prstDash val="solid"/>
          </a:ln>
        </p:spPr>
      </p:sp>
      <p:sp>
        <p:nvSpPr>
          <p:cNvPr id="35" name="Text 33"/>
          <p:cNvSpPr/>
          <p:nvPr/>
        </p:nvSpPr>
        <p:spPr>
          <a:xfrm>
            <a:off x="2148840" y="2249424"/>
            <a:ext cx="1828800"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Event simulator</a:t>
            </a:r>
            <a:endParaRPr lang="en-US" sz="950" dirty="0"/>
          </a:p>
        </p:txBody>
      </p:sp>
      <p:sp>
        <p:nvSpPr>
          <p:cNvPr id="36" name="Text 34"/>
          <p:cNvSpPr/>
          <p:nvPr/>
        </p:nvSpPr>
        <p:spPr>
          <a:xfrm>
            <a:off x="2167128" y="2578608"/>
            <a:ext cx="731520" cy="237744"/>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Status</a:t>
            </a:r>
            <a:endParaRPr lang="en-US" sz="950" dirty="0"/>
          </a:p>
        </p:txBody>
      </p:sp>
      <p:sp>
        <p:nvSpPr>
          <p:cNvPr id="37" name="Shape 35"/>
          <p:cNvSpPr/>
          <p:nvPr/>
        </p:nvSpPr>
        <p:spPr>
          <a:xfrm>
            <a:off x="3246120" y="2596896"/>
            <a:ext cx="640080" cy="219456"/>
          </a:xfrm>
          <a:prstGeom prst="roundRect">
            <a:avLst>
              <a:gd name="adj" fmla="val 20833"/>
            </a:avLst>
          </a:prstGeom>
          <a:solidFill>
            <a:srgbClr val="0E9AA7"/>
          </a:solidFill>
          <a:ln w="12700">
            <a:solidFill>
              <a:srgbClr val="0E9AA7"/>
            </a:solidFill>
            <a:prstDash val="solid"/>
          </a:ln>
        </p:spPr>
      </p:sp>
      <p:sp>
        <p:nvSpPr>
          <p:cNvPr id="38" name="Shape 36"/>
          <p:cNvSpPr/>
          <p:nvPr/>
        </p:nvSpPr>
        <p:spPr>
          <a:xfrm>
            <a:off x="3685032" y="2615184"/>
            <a:ext cx="182880" cy="182880"/>
          </a:xfrm>
          <a:prstGeom prst="ellipse">
            <a:avLst/>
          </a:prstGeom>
          <a:solidFill>
            <a:srgbClr val="FFFFFF"/>
          </a:solidFill>
          <a:ln w="12700">
            <a:solidFill>
              <a:srgbClr val="FFFFFF"/>
            </a:solidFill>
            <a:prstDash val="solid"/>
          </a:ln>
        </p:spPr>
      </p:sp>
      <p:sp>
        <p:nvSpPr>
          <p:cNvPr id="39" name="Text 37"/>
          <p:cNvSpPr/>
          <p:nvPr/>
        </p:nvSpPr>
        <p:spPr>
          <a:xfrm>
            <a:off x="2167128" y="2944368"/>
            <a:ext cx="1828800" cy="228600"/>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Rate: 1 event / sec</a:t>
            </a:r>
            <a:endParaRPr lang="en-US" sz="950" dirty="0"/>
          </a:p>
        </p:txBody>
      </p:sp>
      <p:sp>
        <p:nvSpPr>
          <p:cNvPr id="40" name="Shape 38"/>
          <p:cNvSpPr/>
          <p:nvPr/>
        </p:nvSpPr>
        <p:spPr>
          <a:xfrm>
            <a:off x="2194560" y="3328416"/>
            <a:ext cx="1737360" cy="0"/>
          </a:xfrm>
          <a:prstGeom prst="line">
            <a:avLst/>
          </a:prstGeom>
          <a:noFill/>
          <a:ln w="38100">
            <a:solidFill>
              <a:srgbClr val="B0B7C0"/>
            </a:solidFill>
            <a:prstDash val="solid"/>
          </a:ln>
        </p:spPr>
      </p:sp>
      <p:sp>
        <p:nvSpPr>
          <p:cNvPr id="41" name="Shape 39"/>
          <p:cNvSpPr/>
          <p:nvPr/>
        </p:nvSpPr>
        <p:spPr>
          <a:xfrm>
            <a:off x="2194560" y="3328416"/>
            <a:ext cx="640080" cy="0"/>
          </a:xfrm>
          <a:prstGeom prst="line">
            <a:avLst/>
          </a:prstGeom>
          <a:noFill/>
          <a:ln w="38100">
            <a:solidFill>
              <a:srgbClr val="0E9AA7"/>
            </a:solidFill>
            <a:prstDash val="solid"/>
          </a:ln>
        </p:spPr>
      </p:sp>
      <p:sp>
        <p:nvSpPr>
          <p:cNvPr id="42" name="Shape 40"/>
          <p:cNvSpPr/>
          <p:nvPr/>
        </p:nvSpPr>
        <p:spPr>
          <a:xfrm>
            <a:off x="2752344" y="3236976"/>
            <a:ext cx="182880" cy="182880"/>
          </a:xfrm>
          <a:prstGeom prst="ellipse">
            <a:avLst/>
          </a:prstGeom>
          <a:solidFill>
            <a:srgbClr val="FFFFFF"/>
          </a:solidFill>
          <a:ln w="25400">
            <a:solidFill>
              <a:srgbClr val="0E9AA7"/>
            </a:solidFill>
            <a:prstDash val="solid"/>
          </a:ln>
        </p:spPr>
      </p:sp>
      <p:sp>
        <p:nvSpPr>
          <p:cNvPr id="43" name="Text 41"/>
          <p:cNvSpPr/>
          <p:nvPr/>
        </p:nvSpPr>
        <p:spPr>
          <a:xfrm>
            <a:off x="2167128" y="3538728"/>
            <a:ext cx="1371600" cy="228600"/>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Channels</a:t>
            </a:r>
            <a:endParaRPr lang="en-US" sz="950" dirty="0"/>
          </a:p>
        </p:txBody>
      </p:sp>
      <p:sp>
        <p:nvSpPr>
          <p:cNvPr id="44" name="Shape 42"/>
          <p:cNvSpPr/>
          <p:nvPr/>
        </p:nvSpPr>
        <p:spPr>
          <a:xfrm>
            <a:off x="2194560" y="3831336"/>
            <a:ext cx="155448" cy="155448"/>
          </a:xfrm>
          <a:prstGeom prst="rect">
            <a:avLst/>
          </a:prstGeom>
          <a:solidFill>
            <a:srgbClr val="0E9AA7"/>
          </a:solidFill>
          <a:ln w="12700">
            <a:solidFill>
              <a:srgbClr val="0E9AA7"/>
            </a:solidFill>
            <a:prstDash val="solid"/>
          </a:ln>
        </p:spPr>
      </p:sp>
      <p:sp>
        <p:nvSpPr>
          <p:cNvPr id="45" name="Text 43"/>
          <p:cNvSpPr/>
          <p:nvPr/>
        </p:nvSpPr>
        <p:spPr>
          <a:xfrm>
            <a:off x="2423160" y="3794760"/>
            <a:ext cx="1097280" cy="228600"/>
          </a:xfrm>
          <a:prstGeom prst="rect">
            <a:avLst/>
          </a:prstGeom>
          <a:noFill/>
          <a:ln/>
        </p:spPr>
        <p:txBody>
          <a:bodyPr wrap="square" lIns="0" tIns="0" rIns="0" bIns="0" rtlCol="0" anchor="ctr"/>
          <a:lstStyle/>
          <a:p>
            <a:pPr marL="0" indent="0" algn="l">
              <a:buNone/>
            </a:pPr>
            <a:r>
              <a:rPr lang="en-US" sz="950" dirty="0">
                <a:solidFill>
                  <a:srgbClr val="2B3440"/>
                </a:solidFill>
                <a:latin typeface="Calibri" pitchFamily="34" charset="0"/>
                <a:ea typeface="Calibri" pitchFamily="34" charset="-122"/>
                <a:cs typeface="Calibri" pitchFamily="34" charset="-120"/>
              </a:rPr>
              <a:t>ATM</a:t>
            </a:r>
            <a:endParaRPr lang="en-US" sz="950" dirty="0"/>
          </a:p>
        </p:txBody>
      </p:sp>
      <p:sp>
        <p:nvSpPr>
          <p:cNvPr id="46" name="Shape 44"/>
          <p:cNvSpPr/>
          <p:nvPr/>
        </p:nvSpPr>
        <p:spPr>
          <a:xfrm>
            <a:off x="2194560" y="4087368"/>
            <a:ext cx="155448" cy="155448"/>
          </a:xfrm>
          <a:prstGeom prst="rect">
            <a:avLst/>
          </a:prstGeom>
          <a:solidFill>
            <a:srgbClr val="0E9AA7"/>
          </a:solidFill>
          <a:ln w="12700">
            <a:solidFill>
              <a:srgbClr val="0E9AA7"/>
            </a:solidFill>
            <a:prstDash val="solid"/>
          </a:ln>
        </p:spPr>
      </p:sp>
      <p:sp>
        <p:nvSpPr>
          <p:cNvPr id="47" name="Text 45"/>
          <p:cNvSpPr/>
          <p:nvPr/>
        </p:nvSpPr>
        <p:spPr>
          <a:xfrm>
            <a:off x="2423160" y="4050792"/>
            <a:ext cx="1097280" cy="228600"/>
          </a:xfrm>
          <a:prstGeom prst="rect">
            <a:avLst/>
          </a:prstGeom>
          <a:noFill/>
          <a:ln/>
        </p:spPr>
        <p:txBody>
          <a:bodyPr wrap="square" lIns="0" tIns="0" rIns="0" bIns="0" rtlCol="0" anchor="ctr"/>
          <a:lstStyle/>
          <a:p>
            <a:pPr marL="0" indent="0" algn="l">
              <a:buNone/>
            </a:pPr>
            <a:r>
              <a:rPr lang="en-US" sz="950" dirty="0">
                <a:solidFill>
                  <a:srgbClr val="2B3440"/>
                </a:solidFill>
                <a:latin typeface="Calibri" pitchFamily="34" charset="0"/>
                <a:ea typeface="Calibri" pitchFamily="34" charset="-122"/>
                <a:cs typeface="Calibri" pitchFamily="34" charset="-120"/>
              </a:rPr>
              <a:t>Mobile</a:t>
            </a:r>
            <a:endParaRPr lang="en-US" sz="950" dirty="0"/>
          </a:p>
        </p:txBody>
      </p:sp>
      <p:sp>
        <p:nvSpPr>
          <p:cNvPr id="48" name="Shape 46"/>
          <p:cNvSpPr/>
          <p:nvPr/>
        </p:nvSpPr>
        <p:spPr>
          <a:xfrm>
            <a:off x="2194560" y="4343400"/>
            <a:ext cx="155448" cy="155448"/>
          </a:xfrm>
          <a:prstGeom prst="rect">
            <a:avLst/>
          </a:prstGeom>
          <a:solidFill>
            <a:srgbClr val="0E9AA7"/>
          </a:solidFill>
          <a:ln w="12700">
            <a:solidFill>
              <a:srgbClr val="0E9AA7"/>
            </a:solidFill>
            <a:prstDash val="solid"/>
          </a:ln>
        </p:spPr>
      </p:sp>
      <p:sp>
        <p:nvSpPr>
          <p:cNvPr id="49" name="Text 47"/>
          <p:cNvSpPr/>
          <p:nvPr/>
        </p:nvSpPr>
        <p:spPr>
          <a:xfrm>
            <a:off x="2423160" y="4306824"/>
            <a:ext cx="1097280" cy="228600"/>
          </a:xfrm>
          <a:prstGeom prst="rect">
            <a:avLst/>
          </a:prstGeom>
          <a:noFill/>
          <a:ln/>
        </p:spPr>
        <p:txBody>
          <a:bodyPr wrap="square" lIns="0" tIns="0" rIns="0" bIns="0" rtlCol="0" anchor="ctr"/>
          <a:lstStyle/>
          <a:p>
            <a:pPr marL="0" indent="0" algn="l">
              <a:buNone/>
            </a:pPr>
            <a:r>
              <a:rPr lang="en-US" sz="950" dirty="0">
                <a:solidFill>
                  <a:srgbClr val="2B3440"/>
                </a:solidFill>
                <a:latin typeface="Calibri" pitchFamily="34" charset="0"/>
                <a:ea typeface="Calibri" pitchFamily="34" charset="-122"/>
                <a:cs typeface="Calibri" pitchFamily="34" charset="-120"/>
              </a:rPr>
              <a:t>Web</a:t>
            </a:r>
            <a:endParaRPr lang="en-US" sz="950" dirty="0"/>
          </a:p>
        </p:txBody>
      </p:sp>
      <p:sp>
        <p:nvSpPr>
          <p:cNvPr id="50" name="Text 48"/>
          <p:cNvSpPr/>
          <p:nvPr/>
        </p:nvSpPr>
        <p:spPr>
          <a:xfrm>
            <a:off x="2167128" y="4590288"/>
            <a:ext cx="1645920" cy="201168"/>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Amount range (₹)</a:t>
            </a:r>
            <a:endParaRPr lang="en-US" sz="950" dirty="0"/>
          </a:p>
        </p:txBody>
      </p:sp>
      <p:sp>
        <p:nvSpPr>
          <p:cNvPr id="51" name="Shape 49"/>
          <p:cNvSpPr/>
          <p:nvPr/>
        </p:nvSpPr>
        <p:spPr>
          <a:xfrm>
            <a:off x="2167128" y="4818888"/>
            <a:ext cx="1792224" cy="256032"/>
          </a:xfrm>
          <a:prstGeom prst="roundRect">
            <a:avLst>
              <a:gd name="adj" fmla="val 17857"/>
            </a:avLst>
          </a:prstGeom>
          <a:solidFill>
            <a:srgbClr val="FFFFFF"/>
          </a:solidFill>
          <a:ln w="9525">
            <a:solidFill>
              <a:srgbClr val="A5ADB7"/>
            </a:solidFill>
            <a:prstDash val="solid"/>
          </a:ln>
        </p:spPr>
      </p:sp>
      <p:sp>
        <p:nvSpPr>
          <p:cNvPr id="52" name="Text 50"/>
          <p:cNvSpPr/>
          <p:nvPr/>
        </p:nvSpPr>
        <p:spPr>
          <a:xfrm>
            <a:off x="2240280" y="4818888"/>
            <a:ext cx="1645920" cy="256032"/>
          </a:xfrm>
          <a:prstGeom prst="rect">
            <a:avLst/>
          </a:prstGeom>
          <a:noFill/>
          <a:ln/>
        </p:spPr>
        <p:txBody>
          <a:bodyPr wrap="square" lIns="0" tIns="0" rIns="0" bIns="0" rtlCol="0" anchor="ctr"/>
          <a:lstStyle/>
          <a:p>
            <a:pPr marL="0" indent="0" algn="l">
              <a:buNone/>
            </a:pPr>
            <a:r>
              <a:rPr lang="en-US" sz="900" dirty="0">
                <a:solidFill>
                  <a:srgbClr val="9AA3AE"/>
                </a:solidFill>
                <a:latin typeface="Calibri" pitchFamily="34" charset="0"/>
                <a:ea typeface="Calibri" pitchFamily="34" charset="-122"/>
                <a:cs typeface="Calibri" pitchFamily="34" charset="-120"/>
              </a:rPr>
              <a:t>1,000 – 5,00,000</a:t>
            </a:r>
            <a:endParaRPr lang="en-US" sz="900" dirty="0"/>
          </a:p>
        </p:txBody>
      </p:sp>
      <p:sp>
        <p:nvSpPr>
          <p:cNvPr id="53" name="Shape 51"/>
          <p:cNvSpPr/>
          <p:nvPr/>
        </p:nvSpPr>
        <p:spPr>
          <a:xfrm>
            <a:off x="2167128" y="5111496"/>
            <a:ext cx="1792224" cy="246888"/>
          </a:xfrm>
          <a:prstGeom prst="roundRect">
            <a:avLst>
              <a:gd name="adj" fmla="val 18519"/>
            </a:avLst>
          </a:prstGeom>
          <a:solidFill>
            <a:srgbClr val="FFFFFF"/>
          </a:solidFill>
          <a:ln w="12700">
            <a:solidFill>
              <a:srgbClr val="8A94A0"/>
            </a:solidFill>
            <a:prstDash val="solid"/>
          </a:ln>
        </p:spPr>
      </p:sp>
      <p:sp>
        <p:nvSpPr>
          <p:cNvPr id="54" name="Text 52"/>
          <p:cNvSpPr/>
          <p:nvPr/>
        </p:nvSpPr>
        <p:spPr>
          <a:xfrm>
            <a:off x="2167128" y="5111496"/>
            <a:ext cx="1792224" cy="246888"/>
          </a:xfrm>
          <a:prstGeom prst="rect">
            <a:avLst/>
          </a:prstGeom>
          <a:noFill/>
          <a:ln/>
        </p:spPr>
        <p:txBody>
          <a:bodyPr wrap="square" lIns="0" tIns="0" rIns="0" bIns="0" rtlCol="0" anchor="ctr"/>
          <a:lstStyle/>
          <a:p>
            <a:pPr marL="0" indent="0" algn="ctr">
              <a:buNone/>
            </a:pPr>
            <a:r>
              <a:rPr lang="en-US" sz="950" b="1" dirty="0">
                <a:solidFill>
                  <a:srgbClr val="2B3440"/>
                </a:solidFill>
                <a:latin typeface="Calibri" pitchFamily="34" charset="0"/>
                <a:ea typeface="Calibri" pitchFamily="34" charset="-122"/>
                <a:cs typeface="Calibri" pitchFamily="34" charset="-120"/>
              </a:rPr>
              <a:t>Stop simulator</a:t>
            </a:r>
            <a:endParaRPr lang="en-US" sz="950" dirty="0"/>
          </a:p>
        </p:txBody>
      </p:sp>
      <p:sp>
        <p:nvSpPr>
          <p:cNvPr id="55" name="Shape 53"/>
          <p:cNvSpPr/>
          <p:nvPr/>
        </p:nvSpPr>
        <p:spPr>
          <a:xfrm>
            <a:off x="4206240" y="2212848"/>
            <a:ext cx="2286000" cy="3200400"/>
          </a:xfrm>
          <a:prstGeom prst="rect">
            <a:avLst/>
          </a:prstGeom>
          <a:solidFill>
            <a:srgbClr val="FFFFFF"/>
          </a:solidFill>
          <a:ln w="19050">
            <a:solidFill>
              <a:srgbClr val="F29F05"/>
            </a:solidFill>
            <a:prstDash val="solid"/>
          </a:ln>
        </p:spPr>
      </p:sp>
      <p:sp>
        <p:nvSpPr>
          <p:cNvPr id="56" name="Text 54"/>
          <p:cNvSpPr/>
          <p:nvPr/>
        </p:nvSpPr>
        <p:spPr>
          <a:xfrm>
            <a:off x="4297680" y="2249424"/>
            <a:ext cx="2103120"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Inject scenario</a:t>
            </a:r>
            <a:endParaRPr lang="en-US" sz="950" dirty="0"/>
          </a:p>
        </p:txBody>
      </p:sp>
      <p:sp>
        <p:nvSpPr>
          <p:cNvPr id="57" name="Text 55"/>
          <p:cNvSpPr/>
          <p:nvPr/>
        </p:nvSpPr>
        <p:spPr>
          <a:xfrm>
            <a:off x="4315968" y="2578608"/>
            <a:ext cx="1645920" cy="201168"/>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Scenario</a:t>
            </a:r>
            <a:endParaRPr lang="en-US" sz="950" dirty="0"/>
          </a:p>
        </p:txBody>
      </p:sp>
      <p:sp>
        <p:nvSpPr>
          <p:cNvPr id="58" name="Shape 56"/>
          <p:cNvSpPr/>
          <p:nvPr/>
        </p:nvSpPr>
        <p:spPr>
          <a:xfrm>
            <a:off x="4315968" y="2798064"/>
            <a:ext cx="2066544" cy="292608"/>
          </a:xfrm>
          <a:prstGeom prst="roundRect">
            <a:avLst>
              <a:gd name="adj" fmla="val 15625"/>
            </a:avLst>
          </a:prstGeom>
          <a:solidFill>
            <a:srgbClr val="FFFFFF"/>
          </a:solidFill>
          <a:ln w="9525">
            <a:solidFill>
              <a:srgbClr val="A5ADB7"/>
            </a:solidFill>
            <a:prstDash val="solid"/>
          </a:ln>
        </p:spPr>
      </p:sp>
      <p:sp>
        <p:nvSpPr>
          <p:cNvPr id="59" name="Text 57"/>
          <p:cNvSpPr/>
          <p:nvPr/>
        </p:nvSpPr>
        <p:spPr>
          <a:xfrm>
            <a:off x="4389120" y="2798064"/>
            <a:ext cx="1920240" cy="292608"/>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High-value transfer  ▾</a:t>
            </a:r>
            <a:endParaRPr lang="en-US" sz="900" dirty="0"/>
          </a:p>
        </p:txBody>
      </p:sp>
      <p:sp>
        <p:nvSpPr>
          <p:cNvPr id="60" name="Text 58"/>
          <p:cNvSpPr/>
          <p:nvPr/>
        </p:nvSpPr>
        <p:spPr>
          <a:xfrm>
            <a:off x="4315968" y="3218688"/>
            <a:ext cx="1645920" cy="201168"/>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Customer ID</a:t>
            </a:r>
            <a:endParaRPr lang="en-US" sz="950" dirty="0"/>
          </a:p>
        </p:txBody>
      </p:sp>
      <p:sp>
        <p:nvSpPr>
          <p:cNvPr id="61" name="Shape 59"/>
          <p:cNvSpPr/>
          <p:nvPr/>
        </p:nvSpPr>
        <p:spPr>
          <a:xfrm>
            <a:off x="4315968" y="3438144"/>
            <a:ext cx="2066544" cy="292608"/>
          </a:xfrm>
          <a:prstGeom prst="roundRect">
            <a:avLst>
              <a:gd name="adj" fmla="val 15625"/>
            </a:avLst>
          </a:prstGeom>
          <a:solidFill>
            <a:srgbClr val="FFFFFF"/>
          </a:solidFill>
          <a:ln w="9525">
            <a:solidFill>
              <a:srgbClr val="A5ADB7"/>
            </a:solidFill>
            <a:prstDash val="solid"/>
          </a:ln>
        </p:spPr>
      </p:sp>
      <p:sp>
        <p:nvSpPr>
          <p:cNvPr id="62" name="Text 60"/>
          <p:cNvSpPr/>
          <p:nvPr/>
        </p:nvSpPr>
        <p:spPr>
          <a:xfrm>
            <a:off x="4389120" y="3438144"/>
            <a:ext cx="1920240" cy="292608"/>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CUST-DEMO</a:t>
            </a:r>
            <a:endParaRPr lang="en-US" sz="900" dirty="0"/>
          </a:p>
        </p:txBody>
      </p:sp>
      <p:sp>
        <p:nvSpPr>
          <p:cNvPr id="63" name="Text 61"/>
          <p:cNvSpPr/>
          <p:nvPr/>
        </p:nvSpPr>
        <p:spPr>
          <a:xfrm>
            <a:off x="4315968" y="3858768"/>
            <a:ext cx="1645920" cy="201168"/>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Amount (₹)</a:t>
            </a:r>
            <a:endParaRPr lang="en-US" sz="950" dirty="0"/>
          </a:p>
        </p:txBody>
      </p:sp>
      <p:sp>
        <p:nvSpPr>
          <p:cNvPr id="64" name="Shape 62"/>
          <p:cNvSpPr/>
          <p:nvPr/>
        </p:nvSpPr>
        <p:spPr>
          <a:xfrm>
            <a:off x="4315968" y="4078224"/>
            <a:ext cx="2066544" cy="292608"/>
          </a:xfrm>
          <a:prstGeom prst="roundRect">
            <a:avLst>
              <a:gd name="adj" fmla="val 15625"/>
            </a:avLst>
          </a:prstGeom>
          <a:solidFill>
            <a:srgbClr val="FFFFFF"/>
          </a:solidFill>
          <a:ln w="9525">
            <a:solidFill>
              <a:srgbClr val="A5ADB7"/>
            </a:solidFill>
            <a:prstDash val="solid"/>
          </a:ln>
        </p:spPr>
      </p:sp>
      <p:sp>
        <p:nvSpPr>
          <p:cNvPr id="65" name="Text 63"/>
          <p:cNvSpPr/>
          <p:nvPr/>
        </p:nvSpPr>
        <p:spPr>
          <a:xfrm>
            <a:off x="4389120" y="4078224"/>
            <a:ext cx="1920240" cy="292608"/>
          </a:xfrm>
          <a:prstGeom prst="rect">
            <a:avLst/>
          </a:prstGeom>
          <a:noFill/>
          <a:ln/>
        </p:spPr>
        <p:txBody>
          <a:bodyPr wrap="square" lIns="0" tIns="0" rIns="0" bIns="0" rtlCol="0" anchor="ctr"/>
          <a:lstStyle/>
          <a:p>
            <a:pPr marL="0" indent="0" algn="l">
              <a:buNone/>
            </a:pPr>
            <a:r>
              <a:rPr lang="en-US" sz="900" dirty="0">
                <a:solidFill>
                  <a:srgbClr val="2B3440"/>
                </a:solidFill>
                <a:latin typeface="Calibri" pitchFamily="34" charset="0"/>
                <a:ea typeface="Calibri" pitchFamily="34" charset="-122"/>
                <a:cs typeface="Calibri" pitchFamily="34" charset="-120"/>
              </a:rPr>
              <a:t>4,50,000</a:t>
            </a:r>
            <a:endParaRPr lang="en-US" sz="900" dirty="0"/>
          </a:p>
        </p:txBody>
      </p:sp>
      <p:sp>
        <p:nvSpPr>
          <p:cNvPr id="66" name="Shape 64"/>
          <p:cNvSpPr/>
          <p:nvPr/>
        </p:nvSpPr>
        <p:spPr>
          <a:xfrm>
            <a:off x="4315968" y="4590288"/>
            <a:ext cx="2066544" cy="457200"/>
          </a:xfrm>
          <a:prstGeom prst="roundRect">
            <a:avLst>
              <a:gd name="adj" fmla="val 10000"/>
            </a:avLst>
          </a:prstGeom>
          <a:solidFill>
            <a:srgbClr val="0E9AA7"/>
          </a:solidFill>
          <a:ln w="12700">
            <a:solidFill>
              <a:srgbClr val="0E9AA7"/>
            </a:solidFill>
            <a:prstDash val="solid"/>
          </a:ln>
        </p:spPr>
      </p:sp>
      <p:sp>
        <p:nvSpPr>
          <p:cNvPr id="67" name="Text 65"/>
          <p:cNvSpPr/>
          <p:nvPr/>
        </p:nvSpPr>
        <p:spPr>
          <a:xfrm>
            <a:off x="4315968" y="4590288"/>
            <a:ext cx="2066544"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Inject event</a:t>
            </a:r>
            <a:endParaRPr lang="en-US" sz="1200" dirty="0"/>
          </a:p>
        </p:txBody>
      </p:sp>
      <p:sp>
        <p:nvSpPr>
          <p:cNvPr id="68" name="Text 66"/>
          <p:cNvSpPr/>
          <p:nvPr/>
        </p:nvSpPr>
        <p:spPr>
          <a:xfrm>
            <a:off x="4315968" y="5084064"/>
            <a:ext cx="2066544" cy="228600"/>
          </a:xfrm>
          <a:prstGeom prst="rect">
            <a:avLst/>
          </a:prstGeom>
          <a:noFill/>
          <a:ln/>
        </p:spPr>
        <p:txBody>
          <a:bodyPr wrap="square" lIns="0" tIns="0" rIns="0" bIns="0" rtlCol="0" anchor="ctr"/>
          <a:lstStyle/>
          <a:p>
            <a:pPr marL="0" indent="0" algn="l">
              <a:buNone/>
            </a:pPr>
            <a:r>
              <a:rPr lang="en-US" sz="850" i="1" dirty="0">
                <a:solidFill>
                  <a:srgbClr val="5B6675"/>
                </a:solidFill>
                <a:latin typeface="Calibri" pitchFamily="34" charset="0"/>
                <a:ea typeface="Calibri" pitchFamily="34" charset="-122"/>
                <a:cs typeface="Calibri" pitchFamily="34" charset="-120"/>
              </a:rPr>
              <a:t>Sends one event to transactions.raw</a:t>
            </a:r>
            <a:endParaRPr lang="en-US" sz="850" dirty="0"/>
          </a:p>
        </p:txBody>
      </p:sp>
      <p:sp>
        <p:nvSpPr>
          <p:cNvPr id="69" name="Shape 67"/>
          <p:cNvSpPr/>
          <p:nvPr/>
        </p:nvSpPr>
        <p:spPr>
          <a:xfrm>
            <a:off x="6611112" y="2212848"/>
            <a:ext cx="1755648" cy="3200400"/>
          </a:xfrm>
          <a:prstGeom prst="rect">
            <a:avLst/>
          </a:prstGeom>
          <a:solidFill>
            <a:srgbClr val="FFFFFF"/>
          </a:solidFill>
          <a:ln w="9525">
            <a:solidFill>
              <a:srgbClr val="B0B7C0"/>
            </a:solidFill>
            <a:prstDash val="solid"/>
          </a:ln>
        </p:spPr>
      </p:sp>
      <p:sp>
        <p:nvSpPr>
          <p:cNvPr id="70" name="Text 68"/>
          <p:cNvSpPr/>
          <p:nvPr/>
        </p:nvSpPr>
        <p:spPr>
          <a:xfrm>
            <a:off x="6702552" y="2249424"/>
            <a:ext cx="1572768" cy="237744"/>
          </a:xfrm>
          <a:prstGeom prst="rect">
            <a:avLst/>
          </a:prstGeom>
          <a:noFill/>
          <a:ln/>
        </p:spPr>
        <p:txBody>
          <a:bodyPr wrap="square" lIns="0" tIns="0" rIns="0" bIns="0" rtlCol="0" anchor="ctr"/>
          <a:lstStyle/>
          <a:p>
            <a:pPr marL="0" indent="0" algn="l">
              <a:buNone/>
            </a:pPr>
            <a:r>
              <a:rPr lang="en-US" sz="950" b="1" dirty="0">
                <a:solidFill>
                  <a:srgbClr val="14213D"/>
                </a:solidFill>
                <a:latin typeface="Calibri" pitchFamily="34" charset="0"/>
                <a:ea typeface="Calibri" pitchFamily="34" charset="-122"/>
                <a:cs typeface="Calibri" pitchFamily="34" charset="-120"/>
              </a:rPr>
              <a:t>Result trace</a:t>
            </a:r>
            <a:endParaRPr lang="en-US" sz="950" dirty="0"/>
          </a:p>
        </p:txBody>
      </p:sp>
      <p:sp>
        <p:nvSpPr>
          <p:cNvPr id="71" name="Shape 69"/>
          <p:cNvSpPr/>
          <p:nvPr/>
        </p:nvSpPr>
        <p:spPr>
          <a:xfrm>
            <a:off x="6739128" y="2624328"/>
            <a:ext cx="274320" cy="274320"/>
          </a:xfrm>
          <a:prstGeom prst="ellipse">
            <a:avLst/>
          </a:prstGeom>
          <a:solidFill>
            <a:srgbClr val="0E9AA7"/>
          </a:solidFill>
          <a:ln w="19050">
            <a:solidFill>
              <a:srgbClr val="0E9AA7"/>
            </a:solidFill>
            <a:prstDash val="solid"/>
          </a:ln>
        </p:spPr>
      </p:sp>
      <p:sp>
        <p:nvSpPr>
          <p:cNvPr id="72" name="Text 70"/>
          <p:cNvSpPr/>
          <p:nvPr/>
        </p:nvSpPr>
        <p:spPr>
          <a:xfrm>
            <a:off x="6739128" y="26243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3" name="Shape 71"/>
          <p:cNvSpPr/>
          <p:nvPr/>
        </p:nvSpPr>
        <p:spPr>
          <a:xfrm>
            <a:off x="6876288" y="2898648"/>
            <a:ext cx="0" cy="256032"/>
          </a:xfrm>
          <a:prstGeom prst="line">
            <a:avLst/>
          </a:prstGeom>
          <a:noFill/>
          <a:ln w="19050">
            <a:solidFill>
              <a:srgbClr val="0E9AA7"/>
            </a:solidFill>
            <a:prstDash val="solid"/>
          </a:ln>
        </p:spPr>
      </p:sp>
      <p:sp>
        <p:nvSpPr>
          <p:cNvPr id="74" name="Text 72"/>
          <p:cNvSpPr/>
          <p:nvPr/>
        </p:nvSpPr>
        <p:spPr>
          <a:xfrm>
            <a:off x="7114032" y="2624328"/>
            <a:ext cx="1161288" cy="274320"/>
          </a:xfrm>
          <a:prstGeom prst="rect">
            <a:avLst/>
          </a:prstGeom>
          <a:noFill/>
          <a:ln/>
        </p:spPr>
        <p:txBody>
          <a:bodyPr wrap="square" lIns="0" tIns="0" rIns="0" bIns="0" rtlCol="0" anchor="ctr"/>
          <a:lstStyle/>
          <a:p>
            <a:pPr marL="0" indent="0" algn="l">
              <a:buNone/>
            </a:pPr>
            <a:r>
              <a:rPr lang="en-US" sz="950" dirty="0">
                <a:solidFill>
                  <a:srgbClr val="2B3440"/>
                </a:solidFill>
                <a:latin typeface="Calibri" pitchFamily="34" charset="0"/>
                <a:ea typeface="Calibri" pitchFamily="34" charset="-122"/>
                <a:cs typeface="Calibri" pitchFamily="34" charset="-120"/>
              </a:rPr>
              <a:t>Sent</a:t>
            </a:r>
            <a:endParaRPr lang="en-US" sz="950" dirty="0"/>
          </a:p>
        </p:txBody>
      </p:sp>
      <p:sp>
        <p:nvSpPr>
          <p:cNvPr id="75" name="Shape 73"/>
          <p:cNvSpPr/>
          <p:nvPr/>
        </p:nvSpPr>
        <p:spPr>
          <a:xfrm>
            <a:off x="6739128" y="3154680"/>
            <a:ext cx="274320" cy="274320"/>
          </a:xfrm>
          <a:prstGeom prst="ellipse">
            <a:avLst/>
          </a:prstGeom>
          <a:solidFill>
            <a:srgbClr val="0E9AA7"/>
          </a:solidFill>
          <a:ln w="19050">
            <a:solidFill>
              <a:srgbClr val="0E9AA7"/>
            </a:solidFill>
            <a:prstDash val="solid"/>
          </a:ln>
        </p:spPr>
      </p:sp>
      <p:sp>
        <p:nvSpPr>
          <p:cNvPr id="76" name="Text 74"/>
          <p:cNvSpPr/>
          <p:nvPr/>
        </p:nvSpPr>
        <p:spPr>
          <a:xfrm>
            <a:off x="6739128" y="31546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7" name="Shape 75"/>
          <p:cNvSpPr/>
          <p:nvPr/>
        </p:nvSpPr>
        <p:spPr>
          <a:xfrm>
            <a:off x="6876288" y="3429000"/>
            <a:ext cx="0" cy="256032"/>
          </a:xfrm>
          <a:prstGeom prst="line">
            <a:avLst/>
          </a:prstGeom>
          <a:noFill/>
          <a:ln w="19050">
            <a:solidFill>
              <a:srgbClr val="0E9AA7"/>
            </a:solidFill>
            <a:prstDash val="solid"/>
          </a:ln>
        </p:spPr>
      </p:sp>
      <p:sp>
        <p:nvSpPr>
          <p:cNvPr id="78" name="Text 76"/>
          <p:cNvSpPr/>
          <p:nvPr/>
        </p:nvSpPr>
        <p:spPr>
          <a:xfrm>
            <a:off x="7114032" y="3154680"/>
            <a:ext cx="1161288" cy="274320"/>
          </a:xfrm>
          <a:prstGeom prst="rect">
            <a:avLst/>
          </a:prstGeom>
          <a:noFill/>
          <a:ln/>
        </p:spPr>
        <p:txBody>
          <a:bodyPr wrap="square" lIns="0" tIns="0" rIns="0" bIns="0" rtlCol="0" anchor="ctr"/>
          <a:lstStyle/>
          <a:p>
            <a:pPr marL="0" indent="0" algn="l">
              <a:buNone/>
            </a:pPr>
            <a:r>
              <a:rPr lang="en-US" sz="950" dirty="0">
                <a:solidFill>
                  <a:srgbClr val="2B3440"/>
                </a:solidFill>
                <a:latin typeface="Calibri" pitchFamily="34" charset="0"/>
                <a:ea typeface="Calibri" pitchFamily="34" charset="-122"/>
                <a:cs typeface="Calibri" pitchFamily="34" charset="-120"/>
              </a:rPr>
              <a:t>In transactions.raw</a:t>
            </a:r>
            <a:endParaRPr lang="en-US" sz="950" dirty="0"/>
          </a:p>
        </p:txBody>
      </p:sp>
      <p:sp>
        <p:nvSpPr>
          <p:cNvPr id="79" name="Shape 77"/>
          <p:cNvSpPr/>
          <p:nvPr/>
        </p:nvSpPr>
        <p:spPr>
          <a:xfrm>
            <a:off x="6739128" y="3685032"/>
            <a:ext cx="274320" cy="274320"/>
          </a:xfrm>
          <a:prstGeom prst="ellipse">
            <a:avLst/>
          </a:prstGeom>
          <a:solidFill>
            <a:srgbClr val="0E9AA7"/>
          </a:solidFill>
          <a:ln w="19050">
            <a:solidFill>
              <a:srgbClr val="0E9AA7"/>
            </a:solidFill>
            <a:prstDash val="solid"/>
          </a:ln>
        </p:spPr>
      </p:sp>
      <p:sp>
        <p:nvSpPr>
          <p:cNvPr id="80" name="Text 78"/>
          <p:cNvSpPr/>
          <p:nvPr/>
        </p:nvSpPr>
        <p:spPr>
          <a:xfrm>
            <a:off x="6739128" y="368503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81" name="Shape 79"/>
          <p:cNvSpPr/>
          <p:nvPr/>
        </p:nvSpPr>
        <p:spPr>
          <a:xfrm>
            <a:off x="6876288" y="3959352"/>
            <a:ext cx="0" cy="256032"/>
          </a:xfrm>
          <a:prstGeom prst="line">
            <a:avLst/>
          </a:prstGeom>
          <a:noFill/>
          <a:ln w="19050">
            <a:solidFill>
              <a:srgbClr val="0E9AA7"/>
            </a:solidFill>
            <a:prstDash val="solid"/>
          </a:ln>
        </p:spPr>
      </p:sp>
      <p:sp>
        <p:nvSpPr>
          <p:cNvPr id="82" name="Text 80"/>
          <p:cNvSpPr/>
          <p:nvPr/>
        </p:nvSpPr>
        <p:spPr>
          <a:xfrm>
            <a:off x="7114032" y="3685032"/>
            <a:ext cx="1161288" cy="274320"/>
          </a:xfrm>
          <a:prstGeom prst="rect">
            <a:avLst/>
          </a:prstGeom>
          <a:noFill/>
          <a:ln/>
        </p:spPr>
        <p:txBody>
          <a:bodyPr wrap="square" lIns="0" tIns="0" rIns="0" bIns="0" rtlCol="0" anchor="ctr"/>
          <a:lstStyle/>
          <a:p>
            <a:pPr marL="0" indent="0" algn="l">
              <a:buNone/>
            </a:pPr>
            <a:r>
              <a:rPr lang="en-US" sz="950" dirty="0">
                <a:solidFill>
                  <a:srgbClr val="2B3440"/>
                </a:solidFill>
                <a:latin typeface="Calibri" pitchFamily="34" charset="0"/>
                <a:ea typeface="Calibri" pitchFamily="34" charset="-122"/>
                <a:cs typeface="Calibri" pitchFamily="34" charset="-120"/>
              </a:rPr>
              <a:t>Processed by Streams</a:t>
            </a:r>
            <a:endParaRPr lang="en-US" sz="950" dirty="0"/>
          </a:p>
        </p:txBody>
      </p:sp>
      <p:sp>
        <p:nvSpPr>
          <p:cNvPr id="83" name="Shape 81"/>
          <p:cNvSpPr/>
          <p:nvPr/>
        </p:nvSpPr>
        <p:spPr>
          <a:xfrm>
            <a:off x="6739128" y="4215384"/>
            <a:ext cx="274320" cy="274320"/>
          </a:xfrm>
          <a:prstGeom prst="ellipse">
            <a:avLst/>
          </a:prstGeom>
          <a:solidFill>
            <a:srgbClr val="0E9AA7"/>
          </a:solidFill>
          <a:ln w="19050">
            <a:solidFill>
              <a:srgbClr val="0E9AA7"/>
            </a:solidFill>
            <a:prstDash val="solid"/>
          </a:ln>
        </p:spPr>
      </p:sp>
      <p:sp>
        <p:nvSpPr>
          <p:cNvPr id="84" name="Text 82"/>
          <p:cNvSpPr/>
          <p:nvPr/>
        </p:nvSpPr>
        <p:spPr>
          <a:xfrm>
            <a:off x="6739128" y="421538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85" name="Shape 83"/>
          <p:cNvSpPr/>
          <p:nvPr/>
        </p:nvSpPr>
        <p:spPr>
          <a:xfrm>
            <a:off x="6876288" y="4489704"/>
            <a:ext cx="0" cy="256032"/>
          </a:xfrm>
          <a:prstGeom prst="line">
            <a:avLst/>
          </a:prstGeom>
          <a:noFill/>
          <a:ln w="19050">
            <a:solidFill>
              <a:srgbClr val="0E9AA7"/>
            </a:solidFill>
            <a:prstDash val="solid"/>
          </a:ln>
        </p:spPr>
      </p:sp>
      <p:sp>
        <p:nvSpPr>
          <p:cNvPr id="86" name="Text 84"/>
          <p:cNvSpPr/>
          <p:nvPr/>
        </p:nvSpPr>
        <p:spPr>
          <a:xfrm>
            <a:off x="7114032" y="4215384"/>
            <a:ext cx="1161288" cy="274320"/>
          </a:xfrm>
          <a:prstGeom prst="rect">
            <a:avLst/>
          </a:prstGeom>
          <a:noFill/>
          <a:ln/>
        </p:spPr>
        <p:txBody>
          <a:bodyPr wrap="square" lIns="0" tIns="0" rIns="0" bIns="0" rtlCol="0" anchor="ctr"/>
          <a:lstStyle/>
          <a:p>
            <a:pPr marL="0" indent="0" algn="l">
              <a:buNone/>
            </a:pPr>
            <a:r>
              <a:rPr lang="en-US" sz="950" b="1" dirty="0">
                <a:solidFill>
                  <a:srgbClr val="2B3440"/>
                </a:solidFill>
                <a:latin typeface="Calibri" pitchFamily="34" charset="0"/>
                <a:ea typeface="Calibri" pitchFamily="34" charset="-122"/>
                <a:cs typeface="Calibri" pitchFamily="34" charset="-120"/>
              </a:rPr>
              <a:t>Alert raised</a:t>
            </a:r>
            <a:endParaRPr lang="en-US" sz="950" dirty="0"/>
          </a:p>
        </p:txBody>
      </p:sp>
      <p:sp>
        <p:nvSpPr>
          <p:cNvPr id="87" name="Shape 85"/>
          <p:cNvSpPr/>
          <p:nvPr/>
        </p:nvSpPr>
        <p:spPr>
          <a:xfrm>
            <a:off x="6739128" y="4745736"/>
            <a:ext cx="274320" cy="274320"/>
          </a:xfrm>
          <a:prstGeom prst="ellipse">
            <a:avLst/>
          </a:prstGeom>
          <a:solidFill>
            <a:srgbClr val="FFFFFF"/>
          </a:solidFill>
          <a:ln w="19050">
            <a:solidFill>
              <a:srgbClr val="0E9AA7"/>
            </a:solidFill>
            <a:prstDash val="solid"/>
          </a:ln>
        </p:spPr>
      </p:sp>
      <p:sp>
        <p:nvSpPr>
          <p:cNvPr id="88" name="Text 86"/>
          <p:cNvSpPr/>
          <p:nvPr/>
        </p:nvSpPr>
        <p:spPr>
          <a:xfrm>
            <a:off x="6739128" y="4745736"/>
            <a:ext cx="274320" cy="274320"/>
          </a:xfrm>
          <a:prstGeom prst="rect">
            <a:avLst/>
          </a:prstGeom>
          <a:noFill/>
          <a:ln/>
        </p:spPr>
        <p:txBody>
          <a:bodyPr wrap="square" lIns="0" tIns="0" rIns="0" bIns="0" rtlCol="0" anchor="ctr"/>
          <a:lstStyle/>
          <a:p>
            <a:pPr marL="0" indent="0" algn="ctr">
              <a:buNone/>
            </a:pPr>
            <a:r>
              <a:rPr lang="en-US" sz="1000" b="1" dirty="0">
                <a:solidFill>
                  <a:srgbClr val="0E9AA7"/>
                </a:solidFill>
                <a:latin typeface="Calibri" pitchFamily="34" charset="0"/>
                <a:ea typeface="Calibri" pitchFamily="34" charset="-122"/>
                <a:cs typeface="Calibri" pitchFamily="34" charset="-120"/>
              </a:rPr>
              <a:t>…</a:t>
            </a:r>
            <a:endParaRPr lang="en-US" sz="1000" dirty="0"/>
          </a:p>
        </p:txBody>
      </p:sp>
      <p:sp>
        <p:nvSpPr>
          <p:cNvPr id="89" name="Text 87"/>
          <p:cNvSpPr/>
          <p:nvPr/>
        </p:nvSpPr>
        <p:spPr>
          <a:xfrm>
            <a:off x="7114032" y="4745736"/>
            <a:ext cx="1161288" cy="274320"/>
          </a:xfrm>
          <a:prstGeom prst="rect">
            <a:avLst/>
          </a:prstGeom>
          <a:noFill/>
          <a:ln/>
        </p:spPr>
        <p:txBody>
          <a:bodyPr wrap="square" lIns="0" tIns="0" rIns="0" bIns="0" rtlCol="0" anchor="ctr"/>
          <a:lstStyle/>
          <a:p>
            <a:pPr marL="0" indent="0" algn="l">
              <a:buNone/>
            </a:pPr>
            <a:r>
              <a:rPr lang="en-US" sz="950" dirty="0">
                <a:solidFill>
                  <a:srgbClr val="2B3440"/>
                </a:solidFill>
                <a:latin typeface="Calibri" pitchFamily="34" charset="0"/>
                <a:ea typeface="Calibri" pitchFamily="34" charset="-122"/>
                <a:cs typeface="Calibri" pitchFamily="34" charset="-120"/>
              </a:rPr>
              <a:t>Shown on dashboard</a:t>
            </a:r>
            <a:endParaRPr lang="en-US" sz="950" dirty="0"/>
          </a:p>
        </p:txBody>
      </p:sp>
      <p:sp>
        <p:nvSpPr>
          <p:cNvPr id="90" name="Shape 88"/>
          <p:cNvSpPr/>
          <p:nvPr/>
        </p:nvSpPr>
        <p:spPr>
          <a:xfrm>
            <a:off x="2057400" y="5532120"/>
            <a:ext cx="6309360" cy="640080"/>
          </a:xfrm>
          <a:prstGeom prst="rect">
            <a:avLst/>
          </a:prstGeom>
          <a:solidFill>
            <a:srgbClr val="F7F8FA"/>
          </a:solidFill>
          <a:ln w="9525">
            <a:solidFill>
              <a:srgbClr val="B0B7C0"/>
            </a:solidFill>
            <a:prstDash val="solid"/>
          </a:ln>
        </p:spPr>
      </p:sp>
      <p:sp>
        <p:nvSpPr>
          <p:cNvPr id="91" name="Shape 89"/>
          <p:cNvSpPr/>
          <p:nvPr/>
        </p:nvSpPr>
        <p:spPr>
          <a:xfrm>
            <a:off x="2194560" y="5687568"/>
            <a:ext cx="1463040" cy="329184"/>
          </a:xfrm>
          <a:prstGeom prst="roundRect">
            <a:avLst>
              <a:gd name="adj" fmla="val 13889"/>
            </a:avLst>
          </a:prstGeom>
          <a:solidFill>
            <a:srgbClr val="FFFFFF"/>
          </a:solidFill>
          <a:ln w="12700">
            <a:solidFill>
              <a:srgbClr val="D1495B"/>
            </a:solidFill>
            <a:prstDash val="solid"/>
          </a:ln>
        </p:spPr>
      </p:sp>
      <p:sp>
        <p:nvSpPr>
          <p:cNvPr id="92" name="Text 90"/>
          <p:cNvSpPr/>
          <p:nvPr/>
        </p:nvSpPr>
        <p:spPr>
          <a:xfrm>
            <a:off x="2194560" y="5687568"/>
            <a:ext cx="1463040" cy="329184"/>
          </a:xfrm>
          <a:prstGeom prst="rect">
            <a:avLst/>
          </a:prstGeom>
          <a:noFill/>
          <a:ln/>
        </p:spPr>
        <p:txBody>
          <a:bodyPr wrap="square" lIns="0" tIns="0" rIns="0" bIns="0" rtlCol="0" anchor="ctr"/>
          <a:lstStyle/>
          <a:p>
            <a:pPr marL="0" indent="0" algn="ctr">
              <a:buNone/>
            </a:pPr>
            <a:r>
              <a:rPr lang="en-US" sz="950" b="1" dirty="0">
                <a:solidFill>
                  <a:srgbClr val="D1495B"/>
                </a:solidFill>
                <a:latin typeface="Calibri" pitchFamily="34" charset="0"/>
                <a:ea typeface="Calibri" pitchFamily="34" charset="-122"/>
                <a:cs typeface="Calibri" pitchFamily="34" charset="-120"/>
              </a:rPr>
              <a:t>Reset demo data</a:t>
            </a:r>
            <a:endParaRPr lang="en-US" sz="950" dirty="0"/>
          </a:p>
        </p:txBody>
      </p:sp>
      <p:sp>
        <p:nvSpPr>
          <p:cNvPr id="93" name="Text 91"/>
          <p:cNvSpPr/>
          <p:nvPr/>
        </p:nvSpPr>
        <p:spPr>
          <a:xfrm>
            <a:off x="3840480" y="5532120"/>
            <a:ext cx="4389120" cy="640080"/>
          </a:xfrm>
          <a:prstGeom prst="rect">
            <a:avLst/>
          </a:prstGeom>
          <a:noFill/>
          <a:ln/>
        </p:spPr>
        <p:txBody>
          <a:bodyPr wrap="square" lIns="0" tIns="0" rIns="0" bIns="0" rtlCol="0" anchor="ctr"/>
          <a:lstStyle/>
          <a:p>
            <a:pPr marL="0" indent="0" algn="l">
              <a:buNone/>
            </a:pPr>
            <a:r>
              <a:rPr lang="en-US" sz="950" dirty="0">
                <a:solidFill>
                  <a:srgbClr val="5B6675"/>
                </a:solidFill>
                <a:latin typeface="Calibri" pitchFamily="34" charset="0"/>
                <a:ea typeface="Calibri" pitchFamily="34" charset="-122"/>
                <a:cs typeface="Calibri" pitchFamily="34" charset="-120"/>
              </a:rPr>
              <a:t>Clears transactions and alerts, and resets topic offsets for a clean re-run of the demo.</a:t>
            </a:r>
            <a:endParaRPr lang="en-US" sz="950" dirty="0"/>
          </a:p>
        </p:txBody>
      </p:sp>
      <p:sp>
        <p:nvSpPr>
          <p:cNvPr id="94" name="Shape 92"/>
          <p:cNvSpPr/>
          <p:nvPr/>
        </p:nvSpPr>
        <p:spPr>
          <a:xfrm>
            <a:off x="1883664" y="2139696"/>
            <a:ext cx="246888" cy="246888"/>
          </a:xfrm>
          <a:prstGeom prst="ellipse">
            <a:avLst/>
          </a:prstGeom>
          <a:solidFill>
            <a:srgbClr val="D1495B"/>
          </a:solidFill>
          <a:ln w="15875">
            <a:solidFill>
              <a:srgbClr val="FFFFFF"/>
            </a:solidFill>
            <a:prstDash val="solid"/>
          </a:ln>
        </p:spPr>
      </p:sp>
      <p:sp>
        <p:nvSpPr>
          <p:cNvPr id="95" name="Text 93"/>
          <p:cNvSpPr/>
          <p:nvPr/>
        </p:nvSpPr>
        <p:spPr>
          <a:xfrm>
            <a:off x="1883664" y="213969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6" name="Shape 94"/>
          <p:cNvSpPr/>
          <p:nvPr/>
        </p:nvSpPr>
        <p:spPr>
          <a:xfrm>
            <a:off x="4032504" y="2139696"/>
            <a:ext cx="246888" cy="246888"/>
          </a:xfrm>
          <a:prstGeom prst="ellipse">
            <a:avLst/>
          </a:prstGeom>
          <a:solidFill>
            <a:srgbClr val="D1495B"/>
          </a:solidFill>
          <a:ln w="15875">
            <a:solidFill>
              <a:srgbClr val="FFFFFF"/>
            </a:solidFill>
            <a:prstDash val="solid"/>
          </a:ln>
        </p:spPr>
      </p:sp>
      <p:sp>
        <p:nvSpPr>
          <p:cNvPr id="97" name="Text 95"/>
          <p:cNvSpPr/>
          <p:nvPr/>
        </p:nvSpPr>
        <p:spPr>
          <a:xfrm>
            <a:off x="4032504" y="213969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8" name="Shape 96"/>
          <p:cNvSpPr/>
          <p:nvPr/>
        </p:nvSpPr>
        <p:spPr>
          <a:xfrm>
            <a:off x="6355080" y="4498848"/>
            <a:ext cx="246888" cy="246888"/>
          </a:xfrm>
          <a:prstGeom prst="ellipse">
            <a:avLst/>
          </a:prstGeom>
          <a:solidFill>
            <a:srgbClr val="D1495B"/>
          </a:solidFill>
          <a:ln w="15875">
            <a:solidFill>
              <a:srgbClr val="FFFFFF"/>
            </a:solidFill>
            <a:prstDash val="solid"/>
          </a:ln>
        </p:spPr>
      </p:sp>
      <p:sp>
        <p:nvSpPr>
          <p:cNvPr id="99" name="Text 97"/>
          <p:cNvSpPr/>
          <p:nvPr/>
        </p:nvSpPr>
        <p:spPr>
          <a:xfrm>
            <a:off x="6355080" y="449884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00" name="Shape 98"/>
          <p:cNvSpPr/>
          <p:nvPr/>
        </p:nvSpPr>
        <p:spPr>
          <a:xfrm>
            <a:off x="6437376" y="2139696"/>
            <a:ext cx="246888" cy="246888"/>
          </a:xfrm>
          <a:prstGeom prst="ellipse">
            <a:avLst/>
          </a:prstGeom>
          <a:solidFill>
            <a:srgbClr val="D1495B"/>
          </a:solidFill>
          <a:ln w="15875">
            <a:solidFill>
              <a:srgbClr val="FFFFFF"/>
            </a:solidFill>
            <a:prstDash val="solid"/>
          </a:ln>
        </p:spPr>
      </p:sp>
      <p:sp>
        <p:nvSpPr>
          <p:cNvPr id="101" name="Text 99"/>
          <p:cNvSpPr/>
          <p:nvPr/>
        </p:nvSpPr>
        <p:spPr>
          <a:xfrm>
            <a:off x="6437376" y="213969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02" name="Shape 100"/>
          <p:cNvSpPr/>
          <p:nvPr/>
        </p:nvSpPr>
        <p:spPr>
          <a:xfrm>
            <a:off x="1883664" y="5458968"/>
            <a:ext cx="246888" cy="246888"/>
          </a:xfrm>
          <a:prstGeom prst="ellipse">
            <a:avLst/>
          </a:prstGeom>
          <a:solidFill>
            <a:srgbClr val="D1495B"/>
          </a:solidFill>
          <a:ln w="15875">
            <a:solidFill>
              <a:srgbClr val="FFFFFF"/>
            </a:solidFill>
            <a:prstDash val="solid"/>
          </a:ln>
        </p:spPr>
      </p:sp>
      <p:sp>
        <p:nvSpPr>
          <p:cNvPr id="103" name="Text 101"/>
          <p:cNvSpPr/>
          <p:nvPr/>
        </p:nvSpPr>
        <p:spPr>
          <a:xfrm>
            <a:off x="1883664" y="545896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04" name="Shape 102"/>
          <p:cNvSpPr/>
          <p:nvPr/>
        </p:nvSpPr>
        <p:spPr>
          <a:xfrm>
            <a:off x="8778240" y="1371600"/>
            <a:ext cx="2862072" cy="4892040"/>
          </a:xfrm>
          <a:prstGeom prst="rect">
            <a:avLst/>
          </a:prstGeom>
          <a:solidFill>
            <a:srgbClr val="FFFFFF"/>
          </a:solidFill>
          <a:ln w="9525">
            <a:solidFill>
              <a:srgbClr val="D0D6DD"/>
            </a:solidFill>
            <a:prstDash val="solid"/>
          </a:ln>
          <a:effectLst>
            <a:outerShdw blurRad="76200" dist="25400" dir="8100000" algn="bl" rotWithShape="0">
              <a:srgbClr val="000000">
                <a:alpha val="10000"/>
              </a:srgbClr>
            </a:outerShdw>
          </a:effectLst>
        </p:spPr>
      </p:sp>
      <p:sp>
        <p:nvSpPr>
          <p:cNvPr id="105" name="Text 103"/>
          <p:cNvSpPr/>
          <p:nvPr/>
        </p:nvSpPr>
        <p:spPr>
          <a:xfrm>
            <a:off x="8961120" y="1481328"/>
            <a:ext cx="2496312" cy="274320"/>
          </a:xfrm>
          <a:prstGeom prst="rect">
            <a:avLst/>
          </a:prstGeom>
          <a:noFill/>
          <a:ln/>
        </p:spPr>
        <p:txBody>
          <a:bodyPr wrap="square" lIns="0" tIns="0" rIns="0" bIns="0" rtlCol="0" anchor="ctr"/>
          <a:lstStyle/>
          <a:p>
            <a:pPr marL="0" indent="0" algn="l">
              <a:buNone/>
            </a:pPr>
            <a:r>
              <a:rPr lang="en-US" sz="1100" b="1" kern="0" spc="200" dirty="0">
                <a:solidFill>
                  <a:srgbClr val="0E9AA7"/>
                </a:solidFill>
                <a:latin typeface="Calibri" pitchFamily="34" charset="0"/>
                <a:ea typeface="Calibri" pitchFamily="34" charset="-122"/>
                <a:cs typeface="Calibri" pitchFamily="34" charset="-120"/>
              </a:rPr>
              <a:t>ANNOTATIONS</a:t>
            </a:r>
            <a:endParaRPr lang="en-US" sz="1100" dirty="0"/>
          </a:p>
        </p:txBody>
      </p:sp>
      <p:sp>
        <p:nvSpPr>
          <p:cNvPr id="106" name="Shape 104"/>
          <p:cNvSpPr/>
          <p:nvPr/>
        </p:nvSpPr>
        <p:spPr>
          <a:xfrm>
            <a:off x="8942832" y="1892808"/>
            <a:ext cx="246888" cy="246888"/>
          </a:xfrm>
          <a:prstGeom prst="ellipse">
            <a:avLst/>
          </a:prstGeom>
          <a:solidFill>
            <a:srgbClr val="D1495B"/>
          </a:solidFill>
          <a:ln w="15875">
            <a:solidFill>
              <a:srgbClr val="FFFFFF"/>
            </a:solidFill>
            <a:prstDash val="solid"/>
          </a:ln>
        </p:spPr>
      </p:sp>
      <p:sp>
        <p:nvSpPr>
          <p:cNvPr id="107" name="Text 105"/>
          <p:cNvSpPr/>
          <p:nvPr/>
        </p:nvSpPr>
        <p:spPr>
          <a:xfrm>
            <a:off x="8942832" y="1892808"/>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8" name="Text 106"/>
          <p:cNvSpPr/>
          <p:nvPr/>
        </p:nvSpPr>
        <p:spPr>
          <a:xfrm>
            <a:off x="9308592" y="1874520"/>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Event simulator</a:t>
            </a:r>
            <a:endParaRPr lang="en-US" sz="1150" dirty="0"/>
          </a:p>
        </p:txBody>
      </p:sp>
      <p:sp>
        <p:nvSpPr>
          <p:cNvPr id="109" name="Text 107"/>
          <p:cNvSpPr/>
          <p:nvPr/>
        </p:nvSpPr>
        <p:spPr>
          <a:xfrm>
            <a:off x="9308592" y="2121408"/>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Start/stop, rate, channel mix and amount range. POST /api/simulator/start and /stop.</a:t>
            </a:r>
            <a:endParaRPr lang="en-US" sz="1000" dirty="0"/>
          </a:p>
        </p:txBody>
      </p:sp>
      <p:sp>
        <p:nvSpPr>
          <p:cNvPr id="110" name="Shape 108"/>
          <p:cNvSpPr/>
          <p:nvPr/>
        </p:nvSpPr>
        <p:spPr>
          <a:xfrm>
            <a:off x="8942832" y="2770632"/>
            <a:ext cx="246888" cy="246888"/>
          </a:xfrm>
          <a:prstGeom prst="ellipse">
            <a:avLst/>
          </a:prstGeom>
          <a:solidFill>
            <a:srgbClr val="D1495B"/>
          </a:solidFill>
          <a:ln w="15875">
            <a:solidFill>
              <a:srgbClr val="FFFFFF"/>
            </a:solidFill>
            <a:prstDash val="solid"/>
          </a:ln>
        </p:spPr>
      </p:sp>
      <p:sp>
        <p:nvSpPr>
          <p:cNvPr id="111" name="Text 109"/>
          <p:cNvSpPr/>
          <p:nvPr/>
        </p:nvSpPr>
        <p:spPr>
          <a:xfrm>
            <a:off x="8942832" y="2770632"/>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2" name="Text 110"/>
          <p:cNvSpPr/>
          <p:nvPr/>
        </p:nvSpPr>
        <p:spPr>
          <a:xfrm>
            <a:off x="9308592" y="2752344"/>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Inject scenario</a:t>
            </a:r>
            <a:endParaRPr lang="en-US" sz="1150" dirty="0"/>
          </a:p>
        </p:txBody>
      </p:sp>
      <p:sp>
        <p:nvSpPr>
          <p:cNvPr id="113" name="Text 111"/>
          <p:cNvSpPr/>
          <p:nvPr/>
        </p:nvSpPr>
        <p:spPr>
          <a:xfrm>
            <a:off x="9308592" y="2999232"/>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Presets for the demo: high-value transfer, rapid small transfers (window total), foreign beneficiary.</a:t>
            </a:r>
            <a:endParaRPr lang="en-US" sz="1000" dirty="0"/>
          </a:p>
        </p:txBody>
      </p:sp>
      <p:sp>
        <p:nvSpPr>
          <p:cNvPr id="114" name="Shape 112"/>
          <p:cNvSpPr/>
          <p:nvPr/>
        </p:nvSpPr>
        <p:spPr>
          <a:xfrm>
            <a:off x="8942832" y="3648456"/>
            <a:ext cx="246888" cy="246888"/>
          </a:xfrm>
          <a:prstGeom prst="ellipse">
            <a:avLst/>
          </a:prstGeom>
          <a:solidFill>
            <a:srgbClr val="D1495B"/>
          </a:solidFill>
          <a:ln w="15875">
            <a:solidFill>
              <a:srgbClr val="FFFFFF"/>
            </a:solidFill>
            <a:prstDash val="solid"/>
          </a:ln>
        </p:spPr>
      </p:sp>
      <p:sp>
        <p:nvSpPr>
          <p:cNvPr id="115" name="Text 113"/>
          <p:cNvSpPr/>
          <p:nvPr/>
        </p:nvSpPr>
        <p:spPr>
          <a:xfrm>
            <a:off x="8942832" y="3648456"/>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6" name="Text 114"/>
          <p:cNvSpPr/>
          <p:nvPr/>
        </p:nvSpPr>
        <p:spPr>
          <a:xfrm>
            <a:off x="9308592" y="3630168"/>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Inject event button</a:t>
            </a:r>
            <a:endParaRPr lang="en-US" sz="1150" dirty="0"/>
          </a:p>
        </p:txBody>
      </p:sp>
      <p:sp>
        <p:nvSpPr>
          <p:cNvPr id="117" name="Text 115"/>
          <p:cNvSpPr/>
          <p:nvPr/>
        </p:nvSpPr>
        <p:spPr>
          <a:xfrm>
            <a:off x="9308592" y="3877056"/>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The key demo action. Publishes one event to transactions.raw via POST /api/simulator/inject.</a:t>
            </a:r>
            <a:endParaRPr lang="en-US" sz="1000" dirty="0"/>
          </a:p>
        </p:txBody>
      </p:sp>
      <p:sp>
        <p:nvSpPr>
          <p:cNvPr id="118" name="Shape 116"/>
          <p:cNvSpPr/>
          <p:nvPr/>
        </p:nvSpPr>
        <p:spPr>
          <a:xfrm>
            <a:off x="8942832" y="4526280"/>
            <a:ext cx="246888" cy="246888"/>
          </a:xfrm>
          <a:prstGeom prst="ellipse">
            <a:avLst/>
          </a:prstGeom>
          <a:solidFill>
            <a:srgbClr val="D1495B"/>
          </a:solidFill>
          <a:ln w="15875">
            <a:solidFill>
              <a:srgbClr val="FFFFFF"/>
            </a:solidFill>
            <a:prstDash val="solid"/>
          </a:ln>
        </p:spPr>
      </p:sp>
      <p:sp>
        <p:nvSpPr>
          <p:cNvPr id="119" name="Text 117"/>
          <p:cNvSpPr/>
          <p:nvPr/>
        </p:nvSpPr>
        <p:spPr>
          <a:xfrm>
            <a:off x="8942832" y="4526280"/>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20" name="Text 118"/>
          <p:cNvSpPr/>
          <p:nvPr/>
        </p:nvSpPr>
        <p:spPr>
          <a:xfrm>
            <a:off x="9308592" y="4507992"/>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Result trace</a:t>
            </a:r>
            <a:endParaRPr lang="en-US" sz="1150" dirty="0"/>
          </a:p>
        </p:txBody>
      </p:sp>
      <p:sp>
        <p:nvSpPr>
          <p:cNvPr id="121" name="Text 119"/>
          <p:cNvSpPr/>
          <p:nvPr/>
        </p:nvSpPr>
        <p:spPr>
          <a:xfrm>
            <a:off x="9308592" y="4754880"/>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Ticks off each stage as the event moves through, showing the flow end to end.</a:t>
            </a:r>
            <a:endParaRPr lang="en-US" sz="1000" dirty="0"/>
          </a:p>
        </p:txBody>
      </p:sp>
      <p:sp>
        <p:nvSpPr>
          <p:cNvPr id="122" name="Shape 120"/>
          <p:cNvSpPr/>
          <p:nvPr/>
        </p:nvSpPr>
        <p:spPr>
          <a:xfrm>
            <a:off x="8942832" y="5404104"/>
            <a:ext cx="246888" cy="246888"/>
          </a:xfrm>
          <a:prstGeom prst="ellipse">
            <a:avLst/>
          </a:prstGeom>
          <a:solidFill>
            <a:srgbClr val="D1495B"/>
          </a:solidFill>
          <a:ln w="15875">
            <a:solidFill>
              <a:srgbClr val="FFFFFF"/>
            </a:solidFill>
            <a:prstDash val="solid"/>
          </a:ln>
        </p:spPr>
      </p:sp>
      <p:sp>
        <p:nvSpPr>
          <p:cNvPr id="123" name="Text 121"/>
          <p:cNvSpPr/>
          <p:nvPr/>
        </p:nvSpPr>
        <p:spPr>
          <a:xfrm>
            <a:off x="8942832" y="5404104"/>
            <a:ext cx="246888"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24" name="Text 122"/>
          <p:cNvSpPr/>
          <p:nvPr/>
        </p:nvSpPr>
        <p:spPr>
          <a:xfrm>
            <a:off x="9308592" y="5385816"/>
            <a:ext cx="2176272" cy="237744"/>
          </a:xfrm>
          <a:prstGeom prst="rect">
            <a:avLst/>
          </a:prstGeom>
          <a:noFill/>
          <a:ln/>
        </p:spPr>
        <p:txBody>
          <a:bodyPr wrap="square" lIns="0" tIns="0" rIns="0" bIns="0" rtlCol="0" anchor="ctr"/>
          <a:lstStyle/>
          <a:p>
            <a:pPr marL="0" indent="0" algn="l">
              <a:buNone/>
            </a:pPr>
            <a:r>
              <a:rPr lang="en-US" sz="1150" b="1" dirty="0">
                <a:solidFill>
                  <a:srgbClr val="14213D"/>
                </a:solidFill>
                <a:latin typeface="Calibri" pitchFamily="34" charset="0"/>
                <a:ea typeface="Calibri" pitchFamily="34" charset="-122"/>
                <a:cs typeface="Calibri" pitchFamily="34" charset="-120"/>
              </a:rPr>
              <a:t>Reset demo data</a:t>
            </a:r>
            <a:endParaRPr lang="en-US" sz="1150" dirty="0"/>
          </a:p>
        </p:txBody>
      </p:sp>
      <p:sp>
        <p:nvSpPr>
          <p:cNvPr id="125" name="Text 123"/>
          <p:cNvSpPr/>
          <p:nvPr/>
        </p:nvSpPr>
        <p:spPr>
          <a:xfrm>
            <a:off x="9308592" y="5632704"/>
            <a:ext cx="2176272" cy="585216"/>
          </a:xfrm>
          <a:prstGeom prst="rect">
            <a:avLst/>
          </a:prstGeom>
          <a:noFill/>
          <a:ln/>
        </p:spPr>
        <p:txBody>
          <a:bodyPr wrap="square" lIns="0" tIns="0" rIns="0" bIns="0" rtlCol="0" anchor="t"/>
          <a:lstStyle/>
          <a:p>
            <a:pPr marL="0" indent="0" algn="l">
              <a:buNone/>
            </a:pPr>
            <a:r>
              <a:rPr lang="en-US" sz="1000" dirty="0">
                <a:solidFill>
                  <a:srgbClr val="5B6675"/>
                </a:solidFill>
                <a:latin typeface="Calibri" pitchFamily="34" charset="0"/>
                <a:ea typeface="Calibri" pitchFamily="34" charset="-122"/>
                <a:cs typeface="Calibri" pitchFamily="34" charset="-120"/>
              </a:rPr>
              <a:t>Gets a clean state before each run. Requires confirmation.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A7"/>
          </a:solidFill>
          <a:ln w="12700">
            <a:solidFill>
              <a:srgbClr val="0E9AA7"/>
            </a:solidFill>
            <a:prstDash val="solid"/>
          </a:ln>
        </p:spPr>
      </p:sp>
      <p:sp>
        <p:nvSpPr>
          <p:cNvPr id="3" name="Text 1"/>
          <p:cNvSpPr/>
          <p:nvPr/>
        </p:nvSpPr>
        <p:spPr>
          <a:xfrm>
            <a:off x="548640" y="320040"/>
            <a:ext cx="10332720" cy="475488"/>
          </a:xfrm>
          <a:prstGeom prst="rect">
            <a:avLst/>
          </a:prstGeom>
          <a:noFill/>
          <a:ln/>
        </p:spPr>
        <p:txBody>
          <a:bodyPr wrap="square" lIns="0" tIns="0" rIns="0" bIns="0" rtlCol="0" anchor="ctr"/>
          <a:lstStyle/>
          <a:p>
            <a:pPr marL="0" indent="0" algn="l">
              <a:buNone/>
            </a:pPr>
            <a:r>
              <a:rPr lang="en-US" sz="2800" b="1" dirty="0">
                <a:solidFill>
                  <a:srgbClr val="14213D"/>
                </a:solidFill>
                <a:latin typeface="Calibri" pitchFamily="34" charset="0"/>
                <a:ea typeface="Calibri" pitchFamily="34" charset="-122"/>
                <a:cs typeface="Calibri" pitchFamily="34" charset="-120"/>
              </a:rPr>
              <a:t>Wireframe-to-Build Mapping</a:t>
            </a:r>
            <a:endParaRPr lang="en-US" sz="2800" dirty="0"/>
          </a:p>
        </p:txBody>
      </p:sp>
      <p:sp>
        <p:nvSpPr>
          <p:cNvPr id="4" name="Text 2"/>
          <p:cNvSpPr/>
          <p:nvPr/>
        </p:nvSpPr>
        <p:spPr>
          <a:xfrm>
            <a:off x="548640" y="841248"/>
            <a:ext cx="10789920" cy="365760"/>
          </a:xfrm>
          <a:prstGeom prst="rect">
            <a:avLst/>
          </a:prstGeom>
          <a:noFill/>
          <a:ln/>
        </p:spPr>
        <p:txBody>
          <a:bodyPr wrap="square" lIns="0" tIns="0" rIns="0" bIns="0" rtlCol="0" anchor="ctr"/>
          <a:lstStyle/>
          <a:p>
            <a:pPr marL="0" indent="0" algn="l">
              <a:buNone/>
            </a:pPr>
            <a:r>
              <a:rPr lang="en-US" sz="1400" dirty="0">
                <a:solidFill>
                  <a:srgbClr val="5B6675"/>
                </a:solidFill>
                <a:latin typeface="Calibri" pitchFamily="34" charset="0"/>
                <a:ea typeface="Calibri" pitchFamily="34" charset="-122"/>
                <a:cs typeface="Calibri" pitchFamily="34" charset="-120"/>
              </a:rPr>
              <a:t>What each screen needs from the backend, and a suggested build order</a:t>
            </a:r>
            <a:endParaRPr lang="en-US" sz="1400" dirty="0"/>
          </a:p>
        </p:txBody>
      </p:sp>
      <p:sp>
        <p:nvSpPr>
          <p:cNvPr id="5" name="Text 3"/>
          <p:cNvSpPr/>
          <p:nvPr/>
        </p:nvSpPr>
        <p:spPr>
          <a:xfrm>
            <a:off x="548640" y="6446520"/>
            <a:ext cx="6400800" cy="256032"/>
          </a:xfrm>
          <a:prstGeom prst="rect">
            <a:avLst/>
          </a:prstGeom>
          <a:noFill/>
          <a:ln/>
        </p:spPr>
        <p:txBody>
          <a:bodyPr wrap="square" lIns="0" tIns="0" rIns="0" bIns="0" rtlCol="0" anchor="ctr"/>
          <a:lstStyle/>
          <a:p>
            <a:pPr marL="0" indent="0" algn="l">
              <a:buNone/>
            </a:pPr>
            <a:r>
              <a:rPr lang="en-US" sz="1000" dirty="0">
                <a:solidFill>
                  <a:srgbClr val="5B6675"/>
                </a:solidFill>
                <a:latin typeface="Calibri" pitchFamily="34" charset="0"/>
                <a:ea typeface="Calibri" pitchFamily="34" charset="-122"/>
                <a:cs typeface="Calibri" pitchFamily="34" charset="-120"/>
              </a:rPr>
              <a:t>Prototype Wireframes  |  Kafka Streams Real-Time Ingestion</a:t>
            </a:r>
            <a:endParaRPr lang="en-US" sz="1000" dirty="0"/>
          </a:p>
        </p:txBody>
      </p:sp>
      <p:sp>
        <p:nvSpPr>
          <p:cNvPr id="6" name="Text 4"/>
          <p:cNvSpPr/>
          <p:nvPr/>
        </p:nvSpPr>
        <p:spPr>
          <a:xfrm>
            <a:off x="11155680" y="6446520"/>
            <a:ext cx="548640" cy="256032"/>
          </a:xfrm>
          <a:prstGeom prst="rect">
            <a:avLst/>
          </a:prstGeom>
          <a:noFill/>
          <a:ln/>
        </p:spPr>
        <p:txBody>
          <a:bodyPr wrap="square" lIns="0" tIns="0" rIns="0" bIns="0" rtlCol="0" anchor="ctr"/>
          <a:lstStyle/>
          <a:p>
            <a:pPr marL="0" indent="0" algn="r">
              <a:buNone/>
            </a:pPr>
            <a:r>
              <a:rPr lang="en-US" sz="1000" dirty="0">
                <a:solidFill>
                  <a:srgbClr val="5B6675"/>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977640"/>
        </p:xfrm>
        <a:graphic>
          <a:graphicData uri="http://schemas.openxmlformats.org/drawingml/2006/table">
            <a:tbl>
              <a:tblPr/>
              <a:tblGrid>
                <a:gridCol w="19202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411480">
                <a:tc>
                  <a:txBody>
                    <a:bodyPr/>
                    <a:lstStyle/>
                    <a:p>
                      <a:pPr marL="0" indent="0">
                        <a:buNone/>
                      </a:pPr>
                      <a:r>
                        <a:rPr lang="en-US" sz="1250" b="1" dirty="0">
                          <a:solidFill>
                            <a:srgbClr val="FFFFFF"/>
                          </a:solidFill>
                        </a:rPr>
                        <a:t>Screen</a:t>
                      </a:r>
                      <a:endParaRPr lang="en-US" sz="1250" dirty="0"/>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rPr>
                        <a:t>Key components</a:t>
                      </a:r>
                      <a:endParaRPr lang="en-US" sz="1250" dirty="0"/>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rPr>
                        <a:t>Proposed API</a:t>
                      </a:r>
                      <a:endParaRPr lang="en-US" sz="1250" dirty="0"/>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rPr>
                        <a:t>Data source</a:t>
                      </a:r>
                      <a:endParaRPr lang="en-US" sz="1250" dirty="0"/>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rPr>
                        <a:t>Build order</a:t>
                      </a:r>
                      <a:endParaRPr lang="en-US" sz="1250" dirty="0"/>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713232">
                <a:tc>
                  <a:txBody>
                    <a:bodyPr/>
                    <a:lstStyle/>
                    <a:p>
                      <a:pPr marL="0" indent="0">
                        <a:buNone/>
                      </a:pPr>
                      <a:r>
                        <a:rPr lang="en-US" sz="1200" b="1" dirty="0">
                          <a:solidFill>
                            <a:srgbClr val="14213D"/>
                          </a:solidFill>
                          <a:latin typeface="Calibri" pitchFamily="34" charset="0"/>
                          <a:ea typeface="Calibri" pitchFamily="34" charset="-122"/>
                          <a:cs typeface="Calibri" pitchFamily="34" charset="-120"/>
                        </a:rPr>
                        <a:t>S1  Live Dashboard</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alibri" pitchFamily="34" charset="0"/>
                          <a:ea typeface="Calibri" pitchFamily="34" charset="-122"/>
                          <a:cs typeface="Calibri" pitchFamily="34" charset="-120"/>
                        </a:rPr>
                        <a:t>KPI tiles, throughput chart, live feed, alert panel</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GET /api/stream (SSE)</a:t>
                      </a:r>
                      <a:endParaRPr lang="en-US" sz="1200" dirty="0">
                        <a:latin typeface="Consolas" charset="0"/>
                        <a:ea typeface="Consolas" charset="0"/>
                        <a:cs typeface="Consolas" charset="0"/>
                      </a:endParaRPr>
                    </a:p>
                    <a:p>
                      <a:pPr marL="0" indent="0">
                        <a:buNone/>
                      </a:pPr>
                      <a:r>
                        <a:rPr lang="en-US" sz="1200" dirty="0">
                          <a:solidFill>
                            <a:srgbClr val="2B3440"/>
                          </a:solidFill>
                          <a:latin typeface="Consolas" pitchFamily="34" charset="0"/>
                          <a:ea typeface="Consolas" pitchFamily="34" charset="-122"/>
                          <a:cs typeface="Consolas" pitchFamily="34" charset="-120"/>
                        </a:rPr>
                        <a:t>GET /api/metrics</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transactions.processed</a:t>
                      </a:r>
                      <a:endParaRPr lang="en-US" sz="1200" dirty="0">
                        <a:latin typeface="Consolas" charset="0"/>
                        <a:ea typeface="Consolas" charset="0"/>
                        <a:cs typeface="Consolas" charset="0"/>
                      </a:endParaRPr>
                    </a:p>
                    <a:p>
                      <a:pPr marL="0" indent="0">
                        <a:buNone/>
                      </a:pPr>
                      <a:r>
                        <a:rPr lang="en-US" sz="1200" dirty="0">
                          <a:solidFill>
                            <a:srgbClr val="2B3440"/>
                          </a:solidFill>
                          <a:latin typeface="Consolas" pitchFamily="34" charset="0"/>
                          <a:ea typeface="Consolas" pitchFamily="34" charset="-122"/>
                          <a:cs typeface="Consolas" pitchFamily="34" charset="-120"/>
                        </a:rPr>
                        <a:t>alerts.high-risk</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b="1" dirty="0">
                          <a:solidFill>
                            <a:srgbClr val="2B3440"/>
                          </a:solidFill>
                          <a:latin typeface="Calibri" pitchFamily="34" charset="0"/>
                          <a:ea typeface="Calibri" pitchFamily="34" charset="-122"/>
                          <a:cs typeface="Calibri" pitchFamily="34" charset="-120"/>
                        </a:rPr>
                        <a:t>1 | Must</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200" b="1" dirty="0">
                          <a:solidFill>
                            <a:srgbClr val="14213D"/>
                          </a:solidFill>
                          <a:latin typeface="Calibri" pitchFamily="34" charset="0"/>
                          <a:ea typeface="Calibri" pitchFamily="34" charset="-122"/>
                          <a:cs typeface="Calibri" pitchFamily="34" charset="-120"/>
                        </a:rPr>
                        <a:t>S3  Alerts + drawer</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dirty="0">
                          <a:solidFill>
                            <a:srgbClr val="2B3440"/>
                          </a:solidFill>
                          <a:latin typeface="Calibri" pitchFamily="34" charset="0"/>
                          <a:ea typeface="Calibri" pitchFamily="34" charset="-122"/>
                          <a:cs typeface="Calibri" pitchFamily="34" charset="-120"/>
                        </a:rPr>
                        <a:t>Queue, status tabs, detail drawer, actions</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GET /api/alerts</a:t>
                      </a:r>
                      <a:endParaRPr lang="en-US" sz="1200" dirty="0">
                        <a:latin typeface="Consolas" charset="0"/>
                        <a:ea typeface="Consolas" charset="0"/>
                        <a:cs typeface="Consolas" charset="0"/>
                      </a:endParaRPr>
                    </a:p>
                    <a:p>
                      <a:pPr marL="0" indent="0">
                        <a:buNone/>
                      </a:pPr>
                      <a:r>
                        <a:rPr lang="en-US" sz="1200" dirty="0">
                          <a:solidFill>
                            <a:srgbClr val="2B3440"/>
                          </a:solidFill>
                          <a:latin typeface="Consolas" pitchFamily="34" charset="0"/>
                          <a:ea typeface="Consolas" pitchFamily="34" charset="-122"/>
                          <a:cs typeface="Consolas" pitchFamily="34" charset="-120"/>
                        </a:rPr>
                        <a:t>PATCH /api/alerts/{id}</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PostgreSQL fraud_alerts</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b="1" dirty="0">
                          <a:solidFill>
                            <a:srgbClr val="2B3440"/>
                          </a:solidFill>
                          <a:latin typeface="Calibri" pitchFamily="34" charset="0"/>
                          <a:ea typeface="Calibri" pitchFamily="34" charset="-122"/>
                          <a:cs typeface="Calibri" pitchFamily="34" charset="-120"/>
                        </a:rPr>
                        <a:t>1 | Must</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713232">
                <a:tc>
                  <a:txBody>
                    <a:bodyPr/>
                    <a:lstStyle/>
                    <a:p>
                      <a:pPr marL="0" indent="0">
                        <a:buNone/>
                      </a:pPr>
                      <a:r>
                        <a:rPr lang="en-US" sz="1200" b="1" dirty="0">
                          <a:solidFill>
                            <a:srgbClr val="14213D"/>
                          </a:solidFill>
                          <a:latin typeface="Calibri" pitchFamily="34" charset="0"/>
                          <a:ea typeface="Calibri" pitchFamily="34" charset="-122"/>
                          <a:cs typeface="Calibri" pitchFamily="34" charset="-120"/>
                        </a:rPr>
                        <a:t>S5  Control Panel</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alibri" pitchFamily="34" charset="0"/>
                          <a:ea typeface="Calibri" pitchFamily="34" charset="-122"/>
                          <a:cs typeface="Calibri" pitchFamily="34" charset="-120"/>
                        </a:rPr>
                        <a:t>Simulator controls, injection, result trace</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POST /api/simulator/start | stop | inject</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transactions.raw</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b="1" dirty="0">
                          <a:solidFill>
                            <a:srgbClr val="2B3440"/>
                          </a:solidFill>
                          <a:latin typeface="Calibri" pitchFamily="34" charset="0"/>
                          <a:ea typeface="Calibri" pitchFamily="34" charset="-122"/>
                          <a:cs typeface="Calibri" pitchFamily="34" charset="-120"/>
                        </a:rPr>
                        <a:t>2 | Should</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200" b="1" dirty="0">
                          <a:solidFill>
                            <a:srgbClr val="14213D"/>
                          </a:solidFill>
                          <a:latin typeface="Calibri" pitchFamily="34" charset="0"/>
                          <a:ea typeface="Calibri" pitchFamily="34" charset="-122"/>
                          <a:cs typeface="Calibri" pitchFamily="34" charset="-120"/>
                        </a:rPr>
                        <a:t>S2  Transactions</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dirty="0">
                          <a:solidFill>
                            <a:srgbClr val="2B3440"/>
                          </a:solidFill>
                          <a:latin typeface="Calibri" pitchFamily="34" charset="0"/>
                          <a:ea typeface="Calibri" pitchFamily="34" charset="-122"/>
                          <a:cs typeface="Calibri" pitchFamily="34" charset="-120"/>
                        </a:rPr>
                        <a:t>Filter bar, paged table, CSV export</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GET /api/transactions</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PostgreSQL transactions</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tc>
                  <a:txBody>
                    <a:bodyPr/>
                    <a:lstStyle/>
                    <a:p>
                      <a:pPr marL="0" indent="0">
                        <a:buNone/>
                      </a:pPr>
                      <a:r>
                        <a:rPr lang="en-US" sz="1200" b="1" dirty="0">
                          <a:solidFill>
                            <a:srgbClr val="2B3440"/>
                          </a:solidFill>
                          <a:latin typeface="Calibri" pitchFamily="34" charset="0"/>
                          <a:ea typeface="Calibri" pitchFamily="34" charset="-122"/>
                          <a:cs typeface="Calibri" pitchFamily="34" charset="-120"/>
                        </a:rPr>
                        <a:t>2 | Should</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713232">
                <a:tc>
                  <a:txBody>
                    <a:bodyPr/>
                    <a:lstStyle/>
                    <a:p>
                      <a:pPr marL="0" indent="0">
                        <a:buNone/>
                      </a:pPr>
                      <a:r>
                        <a:rPr lang="en-US" sz="1200" b="1" dirty="0">
                          <a:solidFill>
                            <a:srgbClr val="14213D"/>
                          </a:solidFill>
                          <a:latin typeface="Calibri" pitchFamily="34" charset="0"/>
                          <a:ea typeface="Calibri" pitchFamily="34" charset="-122"/>
                          <a:cs typeface="Calibri" pitchFamily="34" charset="-120"/>
                        </a:rPr>
                        <a:t>S4  Pipeline Health</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alibri" pitchFamily="34" charset="0"/>
                          <a:ea typeface="Calibri" pitchFamily="34" charset="-122"/>
                          <a:cs typeface="Calibri" pitchFamily="34" charset="-120"/>
                        </a:rPr>
                        <a:t>Stage strip, topics table, lag chart</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GET /api/pipeline/health</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dirty="0">
                          <a:solidFill>
                            <a:srgbClr val="2B3440"/>
                          </a:solidFill>
                          <a:latin typeface="Consolas" pitchFamily="34" charset="0"/>
                          <a:ea typeface="Consolas" pitchFamily="34" charset="-122"/>
                          <a:cs typeface="Consolas" pitchFamily="34" charset="-120"/>
                        </a:rPr>
                        <a:t>Kafka admin API, Streams state</a:t>
                      </a:r>
                      <a:endParaRPr lang="en-US" sz="1200" dirty="0">
                        <a:latin typeface="Consolas" charset="0"/>
                        <a:ea typeface="Consolas" charset="0"/>
                        <a:cs typeface="Consolas"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tc>
                  <a:txBody>
                    <a:bodyPr/>
                    <a:lstStyle/>
                    <a:p>
                      <a:pPr marL="0" indent="0">
                        <a:buNone/>
                      </a:pPr>
                      <a:r>
                        <a:rPr lang="en-US" sz="1200" b="1" dirty="0">
                          <a:solidFill>
                            <a:srgbClr val="2B3440"/>
                          </a:solidFill>
                          <a:latin typeface="Calibri" pitchFamily="34" charset="0"/>
                          <a:ea typeface="Calibri" pitchFamily="34" charset="-122"/>
                          <a:cs typeface="Calibri" pitchFamily="34" charset="-120"/>
                        </a:rPr>
                        <a:t>3 | Could</a:t>
                      </a:r>
                      <a:endParaRPr lang="en-US" sz="1200" dirty="0">
                        <a:latin typeface="Calibri" charset="0"/>
                        <a:ea typeface="Calibri" charset="0"/>
                        <a:cs typeface="Calibri" charset="0"/>
                      </a:endParaRPr>
                    </a:p>
                  </a:txBody>
                  <a:tcPr marL="73152" marR="73152" marT="73152" marB="73152" anchor="ctr">
                    <a:lnL w="6350" cap="flat" cmpd="sng" algn="ctr">
                      <a:solidFill>
                        <a:srgbClr val="D3D9E0"/>
                      </a:solidFill>
                      <a:prstDash val="solid"/>
                      <a:round/>
                      <a:headEnd type="none" w="med" len="med"/>
                      <a:tailEnd type="none" w="med" len="med"/>
                    </a:lnL>
                    <a:lnR w="6350" cap="flat" cmpd="sng" algn="ctr">
                      <a:solidFill>
                        <a:srgbClr val="D3D9E0"/>
                      </a:solidFill>
                      <a:prstDash val="solid"/>
                      <a:round/>
                      <a:headEnd type="none" w="med" len="med"/>
                      <a:tailEnd type="none" w="med" len="med"/>
                    </a:lnR>
                    <a:lnT w="6350" cap="flat" cmpd="sng" algn="ctr">
                      <a:solidFill>
                        <a:srgbClr val="D3D9E0"/>
                      </a:solidFill>
                      <a:prstDash val="solid"/>
                      <a:round/>
                      <a:headEnd type="none" w="med" len="med"/>
                      <a:tailEnd type="none" w="med" len="med"/>
                    </a:lnT>
                    <a:lnB w="6350" cap="flat" cmpd="sng" algn="ctr">
                      <a:solidFill>
                        <a:srgbClr val="D3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548640" y="5577840"/>
            <a:ext cx="5394960" cy="685800"/>
          </a:xfrm>
          <a:prstGeom prst="rect">
            <a:avLst/>
          </a:prstGeom>
          <a:solidFill>
            <a:srgbClr val="E3F4F5"/>
          </a:solidFill>
          <a:ln w="9525">
            <a:solidFill>
              <a:srgbClr val="0E9AA7"/>
            </a:solidFill>
            <a:prstDash val="solid"/>
          </a:ln>
        </p:spPr>
      </p:sp>
      <p:sp>
        <p:nvSpPr>
          <p:cNvPr id="7" name="Text 6"/>
          <p:cNvSpPr/>
          <p:nvPr/>
        </p:nvSpPr>
        <p:spPr>
          <a:xfrm>
            <a:off x="731520" y="5577840"/>
            <a:ext cx="5074920" cy="685800"/>
          </a:xfrm>
          <a:prstGeom prst="rect">
            <a:avLst/>
          </a:prstGeom>
          <a:noFill/>
          <a:ln/>
        </p:spPr>
        <p:txBody>
          <a:bodyPr wrap="square" lIns="0" tIns="0" rIns="0" bIns="0" rtlCol="0" anchor="ctr"/>
          <a:lstStyle/>
          <a:p>
            <a:pPr marL="0" indent="0" algn="l">
              <a:buNone/>
            </a:pPr>
            <a:r>
              <a:rPr lang="en-US" sz="1200" dirty="0">
                <a:solidFill>
                  <a:srgbClr val="14213D"/>
                </a:solidFill>
                <a:latin typeface="Calibri" pitchFamily="34" charset="0"/>
                <a:ea typeface="Calibri" pitchFamily="34" charset="-122"/>
                <a:cs typeface="Calibri" pitchFamily="34" charset="-120"/>
              </a:rPr>
              <a:t>Shared foundation: a single SSE connection from FastAPI feeds S1, S3 and S4, so the UI never polls the database.</a:t>
            </a:r>
            <a:endParaRPr lang="en-US" sz="1200" dirty="0"/>
          </a:p>
        </p:txBody>
      </p:sp>
      <p:sp>
        <p:nvSpPr>
          <p:cNvPr id="10" name="Shape 7"/>
          <p:cNvSpPr/>
          <p:nvPr/>
        </p:nvSpPr>
        <p:spPr>
          <a:xfrm>
            <a:off x="6217920" y="5577840"/>
            <a:ext cx="5394960" cy="685800"/>
          </a:xfrm>
          <a:prstGeom prst="rect">
            <a:avLst/>
          </a:prstGeom>
          <a:solidFill>
            <a:srgbClr val="FDF0D5"/>
          </a:solidFill>
          <a:ln w="9525">
            <a:solidFill>
              <a:srgbClr val="F29F05"/>
            </a:solidFill>
            <a:prstDash val="solid"/>
          </a:ln>
        </p:spPr>
      </p:sp>
      <p:sp>
        <p:nvSpPr>
          <p:cNvPr id="11" name="Text 8"/>
          <p:cNvSpPr/>
          <p:nvPr/>
        </p:nvSpPr>
        <p:spPr>
          <a:xfrm>
            <a:off x="6400800" y="5577840"/>
            <a:ext cx="5074920" cy="685800"/>
          </a:xfrm>
          <a:prstGeom prst="rect">
            <a:avLst/>
          </a:prstGeom>
          <a:noFill/>
          <a:ln/>
        </p:spPr>
        <p:txBody>
          <a:bodyPr wrap="square" lIns="0" tIns="0" rIns="0" bIns="0" rtlCol="0" anchor="ctr"/>
          <a:lstStyle/>
          <a:p>
            <a:pPr marL="0" indent="0" algn="l">
              <a:buNone/>
            </a:pPr>
            <a:r>
              <a:rPr lang="en-US" sz="1200" dirty="0">
                <a:solidFill>
                  <a:srgbClr val="6B4500"/>
                </a:solidFill>
                <a:latin typeface="Calibri" pitchFamily="34" charset="0"/>
                <a:ea typeface="Calibri" pitchFamily="34" charset="-122"/>
                <a:cs typeface="Calibri" pitchFamily="34" charset="-120"/>
              </a:rPr>
              <a:t>API paths and the build order are suggestions for this prototype; adapt to your FastAPI conventions.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aabfc0d-38d5-4801-9e82-1226fde31efa}" enabled="1" method="Privileged" siteId="{404b1967-6507-45ab-8a6d-7374a3f478be}" contentBits="0"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Prototype Wireframes - Real-Time Transaction Monitoring</dc:title>
  <dc:subject>PptxGenJS Presentation</dc:subject>
  <dc:creator>AMEENUDEEN M</dc:creator>
  <cp:lastModifiedBy>AMEENUDEEN M</cp:lastModifiedBy>
  <cp:revision>2</cp:revision>
  <dcterms:created xsi:type="dcterms:W3CDTF">2026-10-16T06:53:52Z</dcterms:created>
  <dcterms:modified xsi:type="dcterms:W3CDTF">2026-10-16T06:59:05Z</dcterms:modified>
</cp:coreProperties>
</file>
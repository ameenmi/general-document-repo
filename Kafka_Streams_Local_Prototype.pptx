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42C71-AA23-499E-A31A-9A62EC619710}" type="datetimeFigureOut"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A81D8-E19E-4B6B-8AAA-E009FAD6AFD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0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how real-time data ingestion and stream processing work end to end on a single laptop.
Key message: this is a lightweight, runnable prototype. It proves the pattern (Producer → Kafka → Kafka Streams → Store → UI) without the overhead of a cloud or Kubernetes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demo is built around a banking scenario the audience already understands: transaction monitoring.
• Emphasise that Kafka Streams does processing (filter, enrich, aggregate, evaluate), not just transport.
• Everything runs locally in Docker, so the demo is portable and repeatable.
• Close by pointing to the 'wow' moment: injecting a suspicious transaction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Python simulator publishes JSON payment events to the transactions.raw topic.
• The Kafka Streams application validates, filters, enriches, aggregates and applies risk rules.
• Results go to two output topics: transactions.processed and alerts.high-risk.
• A consumer stores both in PostgreSQL; FastAPI pushes updates to a React dashboard over SSE or WebSocket.
• Kafka UI is used during the demo to show topics, messages and consumer offsets.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Docker Desktop hosts Kafka, Kafka UI and PostgreSQL; a single docker compose command brings the environment up.
• Kafka runs in KRaft mode, so ZooKeeper is not needed for a new prototype.
• Kafka Streams is a Java library, so the processor is a Spring Boot / Java app; simulator and API are Python.
• Explicitly park Kubernetes, Schema Registry, Flink/Spark and cloud for later iterations.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transactions.raw holds events exactly as produced, which proves ingestion.
• transactions.processed holds validated and enriched events.
• alerts.high-risk holds only events that triggered a rule; this is what the dashboard highlights.
• Keying messages by customer_id keeps per-customer ordering and enables correct windowed aggregation.
• Generate one event every 0.5–2 seconds so the audience can follow the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through the five stages: validate, filter, enrich, aggregate, evaluate risk.
• The simple filter shows routing; the windowed aggregation is what proves real stream processing.
• Example: three moderate transactions from one customer within five minutes add up to ₹2.2 lakh and trigger an alert, even though no single transaction would.
• This mirrors per-customer cumulative tracking in the CTR target architecture.
• Stress that the thresholds are demo rules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 single screen is enough for Iteration 1.
• KPI tiles show volume, alert count and processing rate.
• The live feed shows each transaction as it is processed; flagged rows are highlighted.
• The alert panel is where the injected suspicious transaction appears.
• FastAPI pushes updates via Server-Sent Events or WebSocket, so no refresh is needed.
• Figures shown are illustrative mock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Open Kafka UI; explain the three topics and that Kafka ingests continuously.
Step 2: Run python producer.py; transactions begin streaming.
Step 3: Open transactions.raw and show JSON events arriving live.
Step 4: Start the Kafka Streams app; show events flowing to transactions.processed.
Step 5: Run generate_high_risk_transaction.py with a ₹4,50,000 transaction for CUST-DEMO. Follow it through raw topic → Streams rule → alerts.high-risk → PostgreSQL → dashboard. Pause here; this is the key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Each local component maps to an enterprise equivalent, so the demo is a faithful miniature of the target pattern.
• The local demo intentionally does not reproduce a full cloud implementation (for example, Kafka to Pub/Sub / Dataflow on GCP); it demonstrates the core pattern.
• Next iterations can introduce schema governance, heavier stream engines, container orchestration or cloud-native services as the client platform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E9AA7"/>
                </a:solidFill>
              </a:rPr>
              <a:t>PROTOTYPE DEMONSTRATION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Ingestion with Apache Kafka Streams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9D3E3"/>
                </a:solidFill>
              </a:rPr>
              <a:t>Building a runnable local-machine prototype for real-time transaction monitoring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1261872" cy="411480"/>
          </a:xfrm>
          <a:prstGeom prst="roundRect">
            <a:avLst>
              <a:gd name="adj" fmla="val 17778"/>
            </a:avLst>
          </a:prstGeom>
          <a:solidFill>
            <a:srgbClr val="22325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57200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Producer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0552" y="4777740"/>
            <a:ext cx="27432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50592" y="4572000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22325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45720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Kafka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56432" y="4777740"/>
            <a:ext cx="27432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76472" y="4572000"/>
            <a:ext cx="1764792" cy="411480"/>
          </a:xfrm>
          <a:prstGeom prst="roundRect">
            <a:avLst>
              <a:gd name="adj" fmla="val 17778"/>
            </a:avLst>
          </a:prstGeom>
          <a:solidFill>
            <a:srgbClr val="22325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4572000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Kafka Streams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86984" y="4777740"/>
            <a:ext cx="27432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07024" y="457200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22325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15784" y="4777740"/>
            <a:ext cx="27432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35824" y="4572000"/>
            <a:ext cx="1362456" cy="411480"/>
          </a:xfrm>
          <a:prstGeom prst="roundRect">
            <a:avLst>
              <a:gd name="adj" fmla="val 17778"/>
            </a:avLst>
          </a:prstGeom>
          <a:solidFill>
            <a:srgbClr val="22325A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35824" y="457200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Dashboard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0" y="128016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70000"/>
            </a:srgbClr>
          </a:solidFill>
          <a:ln w="12700">
            <a:solidFill>
              <a:srgbClr val="0E9AA7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45168" y="128016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70000"/>
            </a:srgbClr>
          </a:solidFill>
          <a:ln w="12700">
            <a:solidFill>
              <a:srgbClr val="0E9AA7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12096" y="128016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70000"/>
            </a:srgbClr>
          </a:solidFill>
          <a:ln w="12700">
            <a:solidFill>
              <a:srgbClr val="0E9AA7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79024" y="128016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70000"/>
            </a:srgbClr>
          </a:solidFill>
          <a:ln w="12700">
            <a:solidFill>
              <a:srgbClr val="0E9AA7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45952" y="128016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70000"/>
            </a:srgbClr>
          </a:solidFill>
          <a:ln w="12700">
            <a:solidFill>
              <a:srgbClr val="0E9AA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19385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60000"/>
            </a:srgbClr>
          </a:solidFill>
          <a:ln w="12700">
            <a:solidFill>
              <a:srgbClr val="0E9AA7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45168" y="19385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60000"/>
            </a:srgbClr>
          </a:solidFill>
          <a:ln w="12700">
            <a:solidFill>
              <a:srgbClr val="0E9AA7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12096" y="19385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60000"/>
            </a:srgbClr>
          </a:solidFill>
          <a:ln w="12700">
            <a:solidFill>
              <a:srgbClr val="0E9AA7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79024" y="19385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60000"/>
            </a:srgbClr>
          </a:solidFill>
          <a:ln w="12700">
            <a:solidFill>
              <a:srgbClr val="0E9AA7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045952" y="19385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60000"/>
            </a:srgbClr>
          </a:solidFill>
          <a:ln w="12700">
            <a:solidFill>
              <a:srgbClr val="0E9AA7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0" y="25968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50000"/>
            </a:srgbClr>
          </a:solidFill>
          <a:ln w="12700">
            <a:solidFill>
              <a:srgbClr val="0E9AA7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45168" y="25968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50000"/>
            </a:srgbClr>
          </a:solidFill>
          <a:ln w="12700">
            <a:solidFill>
              <a:srgbClr val="0E9AA7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12096" y="25968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50000"/>
            </a:srgbClr>
          </a:solidFill>
          <a:ln w="12700">
            <a:solidFill>
              <a:srgbClr val="0E9AA7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79024" y="25968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045952" y="25968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50000"/>
            </a:srgbClr>
          </a:solidFill>
          <a:ln w="12700">
            <a:solidFill>
              <a:srgbClr val="0E9AA7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0" y="32552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45168" y="32552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12096" y="32552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79024" y="32552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045952" y="325526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40000"/>
            </a:srgbClr>
          </a:solidFill>
          <a:ln w="12700">
            <a:solidFill>
              <a:srgbClr val="0E9AA7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78240" y="39136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30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345168" y="39136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30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12096" y="39136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30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79024" y="39136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30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45952" y="391363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30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45168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912096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79024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045952" y="457200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778240" y="5303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0BC"/>
                </a:solidFill>
              </a:rPr>
              <a:t>Event stream with a detected high-risk event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Objective and Demo 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transactions being ingested, processed and turned into alerts, not just messages in a console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</a:rPr>
              <a:t>Kafka Streams Real-Time Ingestion | Local Prototype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937760" cy="4526280"/>
          </a:xfrm>
          <a:prstGeom prst="rect">
            <a:avLst/>
          </a:prstGeom>
          <a:solidFill>
            <a:srgbClr val="14213D"/>
          </a:solidFill>
          <a:ln w="9525">
            <a:solidFill>
              <a:srgbClr val="14213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</a:rPr>
              <a:t>DEMO SCENARIO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Real-Time Transaction Monitoring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3EE"/>
                </a:solidFill>
              </a:rPr>
              <a:t>Simulated ATM, mobile and web payment events stream into Kafka continuously.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3EE"/>
                </a:solidFill>
              </a:rPr>
              <a:t>Kafka Streams validates, enriches, aggregates and evaluates risk on the fly.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DCE3EE"/>
                </a:solidFill>
              </a:rPr>
              <a:t>High-risk events are routed to an alert topic, persisted and displayed live.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5074920"/>
            <a:ext cx="4297680" cy="731520"/>
          </a:xfrm>
          <a:prstGeom prst="rect">
            <a:avLst/>
          </a:prstGeom>
          <a:solidFill>
            <a:srgbClr val="22325A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507492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</a:rPr>
              <a:t>“Wow” moment: inject a suspicious transaction and watch the alert appear on the dashboard in seconds.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0" y="1554480"/>
            <a:ext cx="5760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737360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858" y="1878178"/>
            <a:ext cx="358445" cy="35844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58000" y="1673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Real-time ingestion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0" y="2029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Events processed as they arrive instead of waiting for a scheduled batch.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852160" y="2715768"/>
            <a:ext cx="5760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2898648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858" y="3039466"/>
            <a:ext cx="358445" cy="35844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580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True stream processing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858000" y="3191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Filtering, enrichment and windowed aggregation, not only message queuing.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852160" y="3877056"/>
            <a:ext cx="5760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35040" y="4059936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5858" y="4200754"/>
            <a:ext cx="358445" cy="35844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58000" y="3995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Runs on one laptop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858000" y="435254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Docker-based Kafka and PostgreSQL; no cloud or Kubernetes needed.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852160" y="5038344"/>
            <a:ext cx="576072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35040" y="5221224"/>
            <a:ext cx="640080" cy="6400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5858" y="5362042"/>
            <a:ext cx="358445" cy="35844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58000" y="51572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</a:rPr>
              <a:t>Maps to the target architecture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6858000" y="5513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The same pattern scales to the enterprise data and streaming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Prototype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running entirely on a local machine with Docker Desktop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</a:rPr>
              <a:t>Kafka Streams Real-Time Ingestion | Local Prototype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64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AFC3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9AA7"/>
                </a:solidFill>
              </a:rPr>
              <a:t>LOCAL MACHINE  |  DOCKER DESKTOP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1920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103120"/>
            <a:ext cx="1920240" cy="7315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35608" y="2331720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379" y="2464491"/>
            <a:ext cx="337962" cy="3379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</a:rPr>
              <a:t>Transaction Simulator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2296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Python producer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JSON payment events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734056" y="2994660"/>
            <a:ext cx="201168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971800" y="2103120"/>
            <a:ext cx="1920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971800" y="2103120"/>
            <a:ext cx="192024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30168" y="2331720"/>
            <a:ext cx="603504" cy="60350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939" y="2464491"/>
            <a:ext cx="337962" cy="33796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1752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</a:rPr>
              <a:t>Apache Kafka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301752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Topic: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transactions.raw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4928616" y="2994660"/>
            <a:ext cx="201168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5166360" y="2103120"/>
            <a:ext cx="1920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166360" y="2103120"/>
            <a:ext cx="192024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824728" y="2331720"/>
            <a:ext cx="603504" cy="603504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7499" y="2464491"/>
            <a:ext cx="337962" cy="3379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1208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</a:rPr>
              <a:t>Kafka Streams App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521208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Validate • Filter • Enrich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Aggregate • Risk rules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123176" y="2994660"/>
            <a:ext cx="201168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7360920" y="2103120"/>
            <a:ext cx="1920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360920" y="2103120"/>
            <a:ext cx="1920240" cy="7315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019288" y="2331720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059" y="2464491"/>
            <a:ext cx="337962" cy="33796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06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</a:rPr>
              <a:t>PostgreSQL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740664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transactions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fraud_alerts</a:t>
            </a:r>
            <a:endParaRPr lang="en-US" sz="1150" dirty="0"/>
          </a:p>
        </p:txBody>
      </p:sp>
      <p:sp>
        <p:nvSpPr>
          <p:cNvPr id="36" name="Shape 30"/>
          <p:cNvSpPr/>
          <p:nvPr/>
        </p:nvSpPr>
        <p:spPr>
          <a:xfrm>
            <a:off x="9317736" y="2994660"/>
            <a:ext cx="201168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9555480" y="2103120"/>
            <a:ext cx="19202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555480" y="2103120"/>
            <a:ext cx="1920240" cy="7315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0213848" y="2331720"/>
            <a:ext cx="603504" cy="603504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619" y="2464491"/>
            <a:ext cx="337962" cy="33796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012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</a:rPr>
              <a:t>FastAPI + React</a:t>
            </a:r>
            <a:endParaRPr lang="en-US" sz="1450" dirty="0"/>
          </a:p>
        </p:txBody>
      </p:sp>
      <p:sp>
        <p:nvSpPr>
          <p:cNvPr id="42" name="Text 35"/>
          <p:cNvSpPr/>
          <p:nvPr/>
        </p:nvSpPr>
        <p:spPr>
          <a:xfrm>
            <a:off x="9601200" y="33649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Live dashboard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675"/>
                </a:solidFill>
              </a:rPr>
              <a:t>(SSE / WebSocket)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6126480" y="3922776"/>
            <a:ext cx="0" cy="384048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4937760" y="4343400"/>
            <a:ext cx="1783080" cy="502920"/>
          </a:xfrm>
          <a:prstGeom prst="roundRect">
            <a:avLst>
              <a:gd name="adj" fmla="val 10909"/>
            </a:avLst>
          </a:prstGeom>
          <a:solidFill>
            <a:srgbClr val="E3F4F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4937760" y="43434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13D"/>
                </a:solidFill>
              </a:rPr>
              <a:t>transactions.processed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685800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DF0D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85800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00"/>
                </a:solidFill>
              </a:rPr>
              <a:t>alerts.high-risk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4937760" y="4910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675"/>
                </a:solidFill>
              </a:rPr>
              <a:t>Output topics, consumed into PostgreSQL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3063240" y="4343400"/>
            <a:ext cx="1600200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AFC3CC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3063240" y="4343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213D"/>
                </a:solidFill>
              </a:rPr>
              <a:t>Kafka UI: topics, offsets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3863340" y="3922776"/>
            <a:ext cx="0" cy="384048"/>
          </a:xfrm>
          <a:prstGeom prst="line">
            <a:avLst/>
          </a:prstGeom>
          <a:noFill/>
          <a:ln w="25400">
            <a:solidFill>
              <a:srgbClr val="AFC3CC"/>
            </a:solidFill>
            <a:prstDash val="solid"/>
            <a:tailEnd type="triangle"/>
          </a:ln>
        </p:spPr>
      </p:sp>
      <p:sp>
        <p:nvSpPr>
          <p:cNvPr id="52" name="Shape 4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Design principle: one visible event path from source to screen, so every processing step can be shown live.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and Local Environment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deliberately lean for Iteration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</a:rPr>
              <a:t>Kafka Streams Real-Time Ingestion | Local Prototype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680960" cy="402031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 in the demo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Local endpoint</a:t>
                      </a:r>
                      <a:endParaRPr lang="en-US" sz="13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transaction simulator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a payment event every 0.5–2 seconds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CLI script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 (KRaft mode)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Durable event log; no separate ZooKeeper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localhost:9092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topics, partitions, messages, consumer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localhost:8080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processing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Streams (Java / Spring Boot)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Validation, enrichment, windowed aggregation, risk rules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Standalone app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store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Persists processed transactions and alerts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localhost:5432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+ SSE / WebSocket push to the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localhost:8000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transaction monitoring dashboard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localhost:3000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1508760"/>
            <a:ext cx="306324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49640" y="1508760"/>
            <a:ext cx="73152" cy="2057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78240" y="2011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kafka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kafka-ui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postgres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One command: docker compose up -d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549640" y="3749040"/>
            <a:ext cx="3063240" cy="2240280"/>
          </a:xfrm>
          <a:prstGeom prst="rect">
            <a:avLst/>
          </a:prstGeom>
          <a:solidFill>
            <a:srgbClr val="FDF0D5"/>
          </a:solidFill>
          <a:ln w="9525">
            <a:solidFill>
              <a:srgbClr val="F29F0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778240" y="3858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00"/>
                </a:solidFill>
              </a:rPr>
              <a:t>Not in Iteration 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778240" y="42062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Kubernetes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Schema Registry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Flink / Spark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Cloud deployment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778240" y="5394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A5A00"/>
                </a:solidFill>
              </a:rPr>
              <a:t>These add weight without strengthening the core message.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 Design and Event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topics make the movement of data visible at every stage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</a:rPr>
              <a:t>Kafka Streams Real-Time Ingestion | Local Prototype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120640" cy="1005840"/>
          </a:xfrm>
          <a:prstGeom prst="rect">
            <a:avLst/>
          </a:prstGeom>
          <a:solidFill>
            <a:srgbClr val="E3F4F5"/>
          </a:solidFill>
          <a:ln w="9525">
            <a:solidFill>
              <a:srgbClr val="0E9AA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00200"/>
            <a:ext cx="9144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transactions.raw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1305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Inbound events from the simulator, exactly as produced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2633472"/>
            <a:ext cx="0" cy="301752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2971800"/>
            <a:ext cx="5120640" cy="1005840"/>
          </a:xfrm>
          <a:prstGeom prst="rect">
            <a:avLst/>
          </a:prstGeom>
          <a:solidFill>
            <a:srgbClr val="E3F4F5"/>
          </a:solidFill>
          <a:ln w="9525">
            <a:solidFill>
              <a:srgbClr val="0E9AA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91440" cy="10058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08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transactions.processed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3502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Validated and enriched transactions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08960" y="4005072"/>
            <a:ext cx="0" cy="301752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343400"/>
            <a:ext cx="5120640" cy="1005840"/>
          </a:xfrm>
          <a:prstGeom prst="rect">
            <a:avLst/>
          </a:prstGeom>
          <a:solidFill>
            <a:srgbClr val="FDF0D5"/>
          </a:solidFill>
          <a:ln w="9525">
            <a:solidFill>
              <a:srgbClr val="F29F0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343400"/>
            <a:ext cx="91440" cy="1005840"/>
          </a:xfrm>
          <a:prstGeom prst="rect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5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alerts.high-risk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48737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Events that triggered a risk 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4612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</a:rPr>
              <a:t>Kafka Streams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600200"/>
            <a:ext cx="5577840" cy="4206240"/>
          </a:xfrm>
          <a:prstGeom prst="rect">
            <a:avLst/>
          </a:prstGeom>
          <a:solidFill>
            <a:srgbClr val="1E1E2E"/>
          </a:solidFill>
          <a:ln w="9525">
            <a:solidFill>
              <a:srgbClr val="1E1E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17190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</a:rPr>
              <a:t>Sample event: transactions.raw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10312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"transaction_id": "TXN-100042",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"customer_id": "CUS-00921",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"account_id": "ACC-77281",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"channel": "MOBILE",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"transaction_type": "TRANSFER",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"amount": 185000,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"currency": "INR",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"country": "IN",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"beneficiary_country": "IN",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"timestamp": "2026-10-16T12:01:15"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5166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AEB8C6"/>
                </a:solidFill>
              </a:rPr>
              <a:t>Message key = customer_id, so all events for a customer land on the same partition for aggregation.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Streams Processing Logic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Demonstrating stream processing, not just message transport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</a:rPr>
              <a:t>Kafka Streams Real-Time Ingestion | Local Prototype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011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19072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1829714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1737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D3DD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152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Validate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Reject malformed or zero-value events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578608" y="2354580"/>
            <a:ext cx="210312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807208" y="1554480"/>
            <a:ext cx="2011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90088" y="1719072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730" y="1829714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133088" y="1737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D3DD"/>
                </a:solidFill>
              </a:rPr>
              <a:t>02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2990088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Filter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90088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Route only relevant events onward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837176" y="2354580"/>
            <a:ext cx="210312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5065776" y="1554480"/>
            <a:ext cx="2011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248656" y="1719072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9298" y="1829714"/>
            <a:ext cx="281635" cy="28163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91656" y="1737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D3DD"/>
                </a:solidFill>
              </a:rPr>
              <a:t>03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5248656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Enrich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248656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Add customer and channel context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095744" y="2354580"/>
            <a:ext cx="210312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324344" y="1554480"/>
            <a:ext cx="2011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507224" y="1719072"/>
            <a:ext cx="502920" cy="50292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7866" y="1829714"/>
            <a:ext cx="281635" cy="28163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650224" y="1737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D3DD"/>
                </a:solidFill>
              </a:rPr>
              <a:t>04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7507224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Aggregate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7507224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Rolling 5-minute window per customer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9354312" y="2354580"/>
            <a:ext cx="210312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9582912" y="1554480"/>
            <a:ext cx="20116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9765792" y="1719072"/>
            <a:ext cx="502920" cy="50292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6434" y="1829714"/>
            <a:ext cx="281635" cy="28163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908792" y="1737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C9D3DD"/>
                </a:solidFill>
              </a:rPr>
              <a:t>05</a:t>
            </a:r>
            <a:endParaRPr lang="en-US" sz="2000" dirty="0"/>
          </a:p>
        </p:txBody>
      </p:sp>
      <p:sp>
        <p:nvSpPr>
          <p:cNvPr id="39" name="Text 32"/>
          <p:cNvSpPr/>
          <p:nvPr/>
        </p:nvSpPr>
        <p:spPr>
          <a:xfrm>
            <a:off x="9765792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Evaluate risk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9765792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Apply rules and publish alerts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548640" y="3429000"/>
            <a:ext cx="6035040" cy="2697480"/>
          </a:xfrm>
          <a:prstGeom prst="rect">
            <a:avLst/>
          </a:prstGeom>
          <a:solidFill>
            <a:srgbClr val="1E1E2E"/>
          </a:solidFill>
          <a:ln w="9525">
            <a:solidFill>
              <a:srgbClr val="1E1E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35"/>
          <p:cNvSpPr/>
          <p:nvPr/>
        </p:nvSpPr>
        <p:spPr>
          <a:xfrm>
            <a:off x="77724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AA7"/>
                </a:solidFill>
              </a:rPr>
              <a:t>Topology (simplified)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777240" y="3840480"/>
            <a:ext cx="5715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KStream&lt;String, Transaction&gt; txns = builder.stream("transactions.raw");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KStream&lt;String, Transaction&gt; valid 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txns.filter((k, t) -&gt; t.getAmount() &gt; 0);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valid.to("transactions.processed");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valid.groupBy((k, t) -&gt; t.getCustomerId())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.windowedBy(TimeWindows.ofSizeWithNoGrace(Duration.ofMinutes(5)))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.aggregate(...);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valid.filter((k, t) -&gt; t.getAmount() &gt;= 200000)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.to("alerts.high-risk");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6858000" y="3429000"/>
            <a:ext cx="47548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7086600" y="35387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Windowed aggregation: customer CUST-101</a:t>
            </a:r>
            <a:endParaRPr lang="en-US" sz="1350" dirty="0"/>
          </a:p>
        </p:txBody>
      </p:sp>
      <p:sp>
        <p:nvSpPr>
          <p:cNvPr id="46" name="Text 39"/>
          <p:cNvSpPr/>
          <p:nvPr/>
        </p:nvSpPr>
        <p:spPr>
          <a:xfrm>
            <a:off x="7086600" y="3977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12:01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7680960" y="4023360"/>
            <a:ext cx="1126156" cy="23774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852836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₹45,000</a:t>
            </a:r>
            <a:endParaRPr lang="en-US" sz="1150" dirty="0"/>
          </a:p>
        </p:txBody>
      </p:sp>
      <p:sp>
        <p:nvSpPr>
          <p:cNvPr id="49" name="Text 42"/>
          <p:cNvSpPr/>
          <p:nvPr/>
        </p:nvSpPr>
        <p:spPr>
          <a:xfrm>
            <a:off x="7086600" y="44165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12:02</a:t>
            </a:r>
            <a:endParaRPr lang="en-US" sz="1150" dirty="0"/>
          </a:p>
        </p:txBody>
      </p:sp>
      <p:sp>
        <p:nvSpPr>
          <p:cNvPr id="50" name="Shape 43"/>
          <p:cNvSpPr/>
          <p:nvPr/>
        </p:nvSpPr>
        <p:spPr>
          <a:xfrm>
            <a:off x="7680960" y="4462272"/>
            <a:ext cx="2002055" cy="23774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9728735" y="44165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₹80,000</a:t>
            </a:r>
            <a:endParaRPr lang="en-US" sz="1150" dirty="0"/>
          </a:p>
        </p:txBody>
      </p:sp>
      <p:sp>
        <p:nvSpPr>
          <p:cNvPr id="52" name="Text 45"/>
          <p:cNvSpPr/>
          <p:nvPr/>
        </p:nvSpPr>
        <p:spPr>
          <a:xfrm>
            <a:off x="7086600" y="485546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5"/>
                </a:solidFill>
              </a:rPr>
              <a:t>12:03</a:t>
            </a:r>
            <a:endParaRPr lang="en-US" sz="1150" dirty="0"/>
          </a:p>
        </p:txBody>
      </p:sp>
      <p:sp>
        <p:nvSpPr>
          <p:cNvPr id="53" name="Shape 46"/>
          <p:cNvSpPr/>
          <p:nvPr/>
        </p:nvSpPr>
        <p:spPr>
          <a:xfrm>
            <a:off x="7680960" y="4901184"/>
            <a:ext cx="2377440" cy="23774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10104120" y="48554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₹95,000</a:t>
            </a:r>
            <a:endParaRPr lang="en-US" sz="1150" dirty="0"/>
          </a:p>
        </p:txBody>
      </p:sp>
      <p:sp>
        <p:nvSpPr>
          <p:cNvPr id="55" name="Shape 48"/>
          <p:cNvSpPr/>
          <p:nvPr/>
        </p:nvSpPr>
        <p:spPr>
          <a:xfrm>
            <a:off x="7086600" y="5330952"/>
            <a:ext cx="429768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7086600" y="5394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</a:rPr>
              <a:t>Window total ₹2,20,000  </a:t>
            </a:r>
            <a:r>
              <a:rPr lang="en-US" sz="1400" b="1" dirty="0">
                <a:solidFill>
                  <a:srgbClr val="B87800"/>
                </a:solidFill>
              </a:rPr>
              <a:t>→ alert event</a:t>
            </a:r>
            <a:endParaRPr lang="en-US" sz="1400" dirty="0"/>
          </a:p>
        </p:txBody>
      </p:sp>
      <p:sp>
        <p:nvSpPr>
          <p:cNvPr id="57" name="Text 50"/>
          <p:cNvSpPr/>
          <p:nvPr/>
        </p:nvSpPr>
        <p:spPr>
          <a:xfrm>
            <a:off x="7086600" y="5742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675"/>
                </a:solidFill>
              </a:rPr>
              <a:t>Threshold values are illustrative prototype rules, not regulatory thresholds.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updated via Server-Sent Events or WebSocket; no browser refresh required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</a:rPr>
              <a:t>Kafka Streams Real-Time Ingestion | Local Prototype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78638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CDD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08760"/>
            <a:ext cx="7863840" cy="36576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627632"/>
            <a:ext cx="128016" cy="128016"/>
          </a:xfrm>
          <a:prstGeom prst="ellipse">
            <a:avLst/>
          </a:prstGeom>
          <a:solidFill>
            <a:srgbClr val="F25F5C"/>
          </a:solidFill>
          <a:ln w="12700">
            <a:solidFill>
              <a:srgbClr val="F25F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27632"/>
            <a:ext cx="128016" cy="128016"/>
          </a:xfrm>
          <a:prstGeom prst="ellips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1627632"/>
            <a:ext cx="128016" cy="128016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Real-Time Transaction Monitor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057400"/>
            <a:ext cx="233172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</a:rPr>
              <a:t>1,248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</a:rPr>
              <a:t>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2057400"/>
            <a:ext cx="233172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87800"/>
                </a:solidFill>
              </a:rPr>
              <a:t>37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290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</a:rPr>
              <a:t>Alerts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2057400"/>
            <a:ext cx="233172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9AA7"/>
                </a:solidFill>
              </a:rPr>
              <a:t>12/sec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675"/>
                </a:solidFill>
              </a:rPr>
              <a:t>Processing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B6675"/>
                </a:solidFill>
              </a:rPr>
              <a:t>LIVE TRANSACTIONS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3383280"/>
            <a:ext cx="4206240" cy="329184"/>
          </a:xfrm>
          <a:prstGeom prst="rect">
            <a:avLst/>
          </a:prstGeom>
          <a:solidFill>
            <a:srgbClr val="F7F9FB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383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</a:rPr>
              <a:t>C101    </a:t>
            </a:r>
            <a:r>
              <a:rPr lang="en-US" sz="1150" dirty="0">
                <a:solidFill>
                  <a:srgbClr val="1F2937"/>
                </a:solidFill>
              </a:rPr>
              <a:t>₹25K    </a:t>
            </a:r>
            <a:r>
              <a:rPr lang="en-US" sz="1150" dirty="0">
                <a:solidFill>
                  <a:srgbClr val="5B6675"/>
                </a:solidFill>
              </a:rPr>
              <a:t>MOBILE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23360" y="33832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9E5B"/>
                </a:solidFill>
              </a:rPr>
              <a:t>OK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3767328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7673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</a:rPr>
              <a:t>C104    </a:t>
            </a:r>
            <a:r>
              <a:rPr lang="en-US" sz="1150" dirty="0">
                <a:solidFill>
                  <a:srgbClr val="1F2937"/>
                </a:solidFill>
              </a:rPr>
              <a:t>₹18K    </a:t>
            </a:r>
            <a:r>
              <a:rPr lang="en-US" sz="1150" dirty="0">
                <a:solidFill>
                  <a:srgbClr val="5B6675"/>
                </a:solidFill>
              </a:rPr>
              <a:t>ATM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023360" y="3767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9E5B"/>
                </a:solidFill>
              </a:rPr>
              <a:t>OK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4151376"/>
            <a:ext cx="4206240" cy="329184"/>
          </a:xfrm>
          <a:prstGeom prst="rect">
            <a:avLst/>
          </a:prstGeom>
          <a:solidFill>
            <a:srgbClr val="FDF0D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15137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</a:rPr>
              <a:t>C177    </a:t>
            </a:r>
            <a:r>
              <a:rPr lang="en-US" sz="1150" dirty="0">
                <a:solidFill>
                  <a:srgbClr val="1F2937"/>
                </a:solidFill>
              </a:rPr>
              <a:t>₹350K    </a:t>
            </a:r>
            <a:r>
              <a:rPr lang="en-US" sz="1150" dirty="0">
                <a:solidFill>
                  <a:srgbClr val="5B6675"/>
                </a:solidFill>
              </a:rPr>
              <a:t>WEB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023360" y="41513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7800"/>
                </a:solidFill>
              </a:rPr>
              <a:t>FLAGGED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" y="4535424"/>
            <a:ext cx="42062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5354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</a:rPr>
              <a:t>C133    </a:t>
            </a:r>
            <a:r>
              <a:rPr lang="en-US" sz="1150" dirty="0">
                <a:solidFill>
                  <a:srgbClr val="1F2937"/>
                </a:solidFill>
              </a:rPr>
              <a:t>₹42K    </a:t>
            </a:r>
            <a:r>
              <a:rPr lang="en-US" sz="1150" dirty="0">
                <a:solidFill>
                  <a:srgbClr val="5B6675"/>
                </a:solidFill>
              </a:rPr>
              <a:t>MOBILE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23360" y="453542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E9E5B"/>
                </a:solidFill>
              </a:rPr>
              <a:t>OK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5B6675"/>
                </a:solidFill>
              </a:rPr>
              <a:t>HIGH-RISK ALERTS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212080" y="3383280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3383280"/>
            <a:ext cx="73152" cy="566928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9496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C177  ₹350K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D1495B"/>
                </a:solidFill>
              </a:rPr>
              <a:t>HIGH_VALUE  |  NEW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212080" y="4069080"/>
            <a:ext cx="2971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4069080"/>
            <a:ext cx="73152" cy="566928"/>
          </a:xfrm>
          <a:prstGeom prst="rect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4069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13D"/>
                </a:solidFill>
              </a:rPr>
              <a:t>C201  ₹280K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D1495B"/>
                </a:solidFill>
              </a:rPr>
              <a:t>HIGH_VALUE  |  NEW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77240" y="5074920"/>
            <a:ext cx="7406640" cy="868680"/>
          </a:xfrm>
          <a:prstGeom prst="rect">
            <a:avLst/>
          </a:prstGeom>
          <a:solidFill>
            <a:srgbClr val="F4F6F9"/>
          </a:solidFill>
          <a:ln w="12700">
            <a:solidFill>
              <a:srgbClr val="E1E6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120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B6675"/>
                </a:solidFill>
              </a:rPr>
              <a:t>PIPELINE STATUS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14400" y="541324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4132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084832" y="5605272"/>
            <a:ext cx="256032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377440" y="541324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54132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RAW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47872" y="5605272"/>
            <a:ext cx="256032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840480" y="541324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54132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10912" y="5605272"/>
            <a:ext cx="256032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303520" y="541324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03520" y="54132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ALERT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73952" y="5605272"/>
            <a:ext cx="256032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766560" y="5413248"/>
            <a:ext cx="1143000" cy="384048"/>
          </a:xfrm>
          <a:prstGeom prst="roundRect">
            <a:avLst>
              <a:gd name="adj" fmla="val 14286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54132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732520" y="160020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221" y="1720901"/>
            <a:ext cx="307238" cy="307238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94183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Live KPIs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9418320" y="189280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</a:rPr>
              <a:t>Volume, alert count and throughput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8732520" y="278892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6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221" y="2909621"/>
            <a:ext cx="307238" cy="307238"/>
          </a:xfrm>
          <a:prstGeom prst="rect">
            <a:avLst/>
          </a:prstGeom>
        </p:spPr>
      </p:pic>
      <p:sp>
        <p:nvSpPr>
          <p:cNvPr id="64" name="Text 60"/>
          <p:cNvSpPr/>
          <p:nvPr/>
        </p:nvSpPr>
        <p:spPr>
          <a:xfrm>
            <a:off x="94183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Streaming feed</a:t>
            </a:r>
            <a:endParaRPr lang="en-US" sz="1500" dirty="0"/>
          </a:p>
        </p:txBody>
      </p:sp>
      <p:sp>
        <p:nvSpPr>
          <p:cNvPr id="65" name="Text 61"/>
          <p:cNvSpPr/>
          <p:nvPr/>
        </p:nvSpPr>
        <p:spPr>
          <a:xfrm>
            <a:off x="9418320" y="30815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</a:rPr>
              <a:t>Each transaction appears as it is processed</a:t>
            </a:r>
            <a:endParaRPr lang="en-US" sz="1200" dirty="0"/>
          </a:p>
        </p:txBody>
      </p:sp>
      <p:sp>
        <p:nvSpPr>
          <p:cNvPr id="66" name="Shape 62"/>
          <p:cNvSpPr/>
          <p:nvPr/>
        </p:nvSpPr>
        <p:spPr>
          <a:xfrm>
            <a:off x="8732520" y="3977640"/>
            <a:ext cx="548640" cy="548640"/>
          </a:xfrm>
          <a:prstGeom prst="ellipse">
            <a:avLst/>
          </a:prstGeom>
          <a:solidFill>
            <a:srgbClr val="F29F05"/>
          </a:solidFill>
          <a:ln w="12700">
            <a:solidFill>
              <a:srgbClr val="F29F05"/>
            </a:solidFill>
            <a:prstDash val="solid"/>
          </a:ln>
        </p:spPr>
      </p:sp>
      <p:pic>
        <p:nvPicPr>
          <p:cNvPr id="6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3221" y="4098341"/>
            <a:ext cx="307238" cy="307238"/>
          </a:xfrm>
          <a:prstGeom prst="rect">
            <a:avLst/>
          </a:prstGeom>
        </p:spPr>
      </p:pic>
      <p:sp>
        <p:nvSpPr>
          <p:cNvPr id="68" name="Text 63"/>
          <p:cNvSpPr/>
          <p:nvPr/>
        </p:nvSpPr>
        <p:spPr>
          <a:xfrm>
            <a:off x="941832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Alert panel</a:t>
            </a:r>
            <a:endParaRPr lang="en-US" sz="1500" dirty="0"/>
          </a:p>
        </p:txBody>
      </p:sp>
      <p:sp>
        <p:nvSpPr>
          <p:cNvPr id="69" name="Text 64"/>
          <p:cNvSpPr/>
          <p:nvPr/>
        </p:nvSpPr>
        <p:spPr>
          <a:xfrm>
            <a:off x="9418320" y="42702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</a:rPr>
              <a:t>High-risk events surface within seconds</a:t>
            </a:r>
            <a:endParaRPr lang="en-US" sz="1200" dirty="0"/>
          </a:p>
        </p:txBody>
      </p:sp>
      <p:sp>
        <p:nvSpPr>
          <p:cNvPr id="70" name="Shape 65"/>
          <p:cNvSpPr/>
          <p:nvPr/>
        </p:nvSpPr>
        <p:spPr>
          <a:xfrm>
            <a:off x="8732520" y="5166360"/>
            <a:ext cx="548640" cy="54864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pic>
        <p:nvPicPr>
          <p:cNvPr id="7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221" y="5287061"/>
            <a:ext cx="307238" cy="307238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9418320" y="5120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Push updates</a:t>
            </a:r>
            <a:endParaRPr lang="en-US" sz="1500" dirty="0"/>
          </a:p>
        </p:txBody>
      </p:sp>
      <p:sp>
        <p:nvSpPr>
          <p:cNvPr id="73" name="Text 67"/>
          <p:cNvSpPr/>
          <p:nvPr/>
        </p:nvSpPr>
        <p:spPr>
          <a:xfrm>
            <a:off x="9418320" y="5458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675"/>
                </a:solidFill>
              </a:rPr>
              <a:t>SSE / WebSocket from FastAPI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Storyline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about ten minutes, ending with a live alert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</a:rPr>
              <a:t>Kafka Streams Real-Time Ingestion | Local Prototype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1783080"/>
            <a:ext cx="0" cy="4251960"/>
          </a:xfrm>
          <a:prstGeom prst="line">
            <a:avLst/>
          </a:prstGeom>
          <a:noFill/>
          <a:ln w="25400">
            <a:solidFill>
              <a:srgbClr val="C5CD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18488"/>
            <a:ext cx="548640" cy="54864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08760" y="1508760"/>
            <a:ext cx="10104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9164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Show Kafka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15087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Open Kafka UI and show the three topics.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43800" y="15087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</a:rPr>
              <a:t>Kafka receives events continuously, not in scheduled batches.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12680" y="169164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12680" y="1691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Kafka UI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560320"/>
            <a:ext cx="548640" cy="54864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08760" y="2450592"/>
            <a:ext cx="10104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91640" y="24505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Start the producer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069080" y="24505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Run the transaction simulator.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43800" y="245059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</a:rPr>
              <a:t>Transactions begin flowing every second.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12680" y="2633472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2633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producer.py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502152"/>
            <a:ext cx="548640" cy="54864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08760" y="3392424"/>
            <a:ext cx="10104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691640" y="339242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Inspect raw topic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069080" y="339242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Open transactions.raw and show JSON events arriving.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543800" y="339242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</a:rPr>
              <a:t>Ingestion is live and observable.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12680" y="3575304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12680" y="357530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transactions.raw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" y="4443984"/>
            <a:ext cx="548640" cy="548640"/>
          </a:xfrm>
          <a:prstGeom prst="ellipse">
            <a:avLst/>
          </a:prstGeom>
          <a:solidFill>
            <a:srgbClr val="0E9AA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08760" y="4334256"/>
            <a:ext cx="101041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691640" y="433425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Start Kafka Streams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069080" y="433425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Launch the processor and show events moving to processed.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543800" y="433425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</a:rPr>
              <a:t>Validate → enrich → aggregate → evaluate.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012680" y="4517136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12680" y="45171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Streams app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" y="5385816"/>
            <a:ext cx="548640" cy="548640"/>
          </a:xfrm>
          <a:prstGeom prst="ellipse">
            <a:avLst/>
          </a:prstGeom>
          <a:solidFill>
            <a:srgbClr val="F29F0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385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08760" y="5276088"/>
            <a:ext cx="10104120" cy="777240"/>
          </a:xfrm>
          <a:prstGeom prst="rect">
            <a:avLst/>
          </a:prstGeom>
          <a:solidFill>
            <a:srgbClr val="FFF8EA"/>
          </a:solidFill>
          <a:ln w="9525">
            <a:solidFill>
              <a:srgbClr val="F29F0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691640" y="527608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</a:rPr>
              <a:t>Inject a suspicious event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4069080" y="527608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Send a ₹4,50,000 transaction for CUST-DEMO.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543800" y="5276088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675"/>
                </a:solidFill>
              </a:rPr>
              <a:t>Alert appears in topic, database and dashboard.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012680" y="5458968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12680" y="545896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generate_high_risk_transaction.py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 Prototype to Enterprise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production-grade components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675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75"/>
                </a:solidFill>
              </a:rPr>
              <a:t>Kafka Streams Real-Time Ingestion | Local Prototype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E9AA7"/>
                </a:solidFill>
              </a:rPr>
              <a:t>LOCAL 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463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213D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291840" cy="621792"/>
          </a:xfrm>
          <a:prstGeom prst="rect">
            <a:avLst/>
          </a:prstGeom>
          <a:solidFill>
            <a:srgbClr val="E3F4F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Transaction simulator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931920" y="2185416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874520"/>
            <a:ext cx="3291840" cy="6217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87452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Source systems (ATM, mobile, core banking)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679192"/>
            <a:ext cx="3291840" cy="621792"/>
          </a:xfrm>
          <a:prstGeom prst="rect">
            <a:avLst/>
          </a:prstGeom>
          <a:solidFill>
            <a:srgbClr val="E3F4F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791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Kafka (Docker)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931920" y="2990088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72000" y="2679192"/>
            <a:ext cx="3291840" cy="6217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67919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Enterprise Kafka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483864"/>
            <a:ext cx="3291840" cy="621792"/>
          </a:xfrm>
          <a:prstGeom prst="rect">
            <a:avLst/>
          </a:prstGeom>
          <a:solidFill>
            <a:srgbClr val="E3F4F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8386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Kafka Streams app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931920" y="3794760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3483864"/>
            <a:ext cx="3291840" cy="6217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48386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Enterprise stream processing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288536"/>
            <a:ext cx="3291840" cy="621792"/>
          </a:xfrm>
          <a:prstGeom prst="rect">
            <a:avLst/>
          </a:prstGeom>
          <a:solidFill>
            <a:srgbClr val="E3F4F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8853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PostgreSQL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931920" y="4599432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0" y="4288536"/>
            <a:ext cx="3291840" cy="6217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28853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Enterprise data platform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093208"/>
            <a:ext cx="3291840" cy="621792"/>
          </a:xfrm>
          <a:prstGeom prst="rect">
            <a:avLst/>
          </a:prstGeom>
          <a:solidFill>
            <a:srgbClr val="E3F4F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9320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</a:rPr>
              <a:t>React dashboard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931920" y="5404104"/>
            <a:ext cx="548640" cy="0"/>
          </a:xfrm>
          <a:prstGeom prst="line">
            <a:avLst/>
          </a:prstGeom>
          <a:noFill/>
          <a:ln w="25400">
            <a:solidFill>
              <a:srgbClr val="5B667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572000" y="5093208"/>
            <a:ext cx="3291840" cy="621792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509320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Business applications and AI agents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29600" y="1463040"/>
            <a:ext cx="33832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0" y="1463040"/>
            <a:ext cx="3383280" cy="5029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Takeaways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12480" y="2103120"/>
            <a:ext cx="30632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Proves real-time ingestion and processing end to end on a single laptop.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Separates the architecture principle from platform choices.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</a:rPr>
              <a:t>Later iterations can add Schema Registry, Flink / Spark, Kubernetes or cloud services such as Pub/Sub and Dataflow where the target platform requires them.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4213D"/>
                </a:solidFill>
              </a:rPr>
              <a:t>A small, runnable prototype that still tells the full architecture story.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aabfc0d-38d5-4801-9e82-1226fde31efa}" enabled="1" method="Privileged" siteId="{404b1967-6507-45ab-8a6d-7374a3f478b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Data Ingestion with Apache Kafka Streams – Local Prototype</dc:title>
  <dc:subject>PptxGenJS Presentation</dc:subject>
  <dc:creator>AMEENUDEEN M</dc:creator>
  <cp:lastModifiedBy>AMEENUDEEN M</cp:lastModifiedBy>
  <cp:revision>2</cp:revision>
  <dcterms:created xsi:type="dcterms:W3CDTF">2026-10-16T06:40:35Z</dcterms:created>
  <dcterms:modified xsi:type="dcterms:W3CDTF">2026-10-16T06:41:29Z</dcterms:modified>
</cp:coreProperties>
</file>